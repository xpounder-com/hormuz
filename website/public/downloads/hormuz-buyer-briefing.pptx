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d1f90941cc43b7" /><Relationship Type="http://schemas.openxmlformats.org/officeDocument/2006/relationships/extended-properties" Target="/docProps/app.xml" Id="R666166666fef4902" /><Relationship Type="http://schemas.openxmlformats.org/officeDocument/2006/relationships/officeDocument" Target="/ppt/presentation.xml" Id="R7f5c1631eb6943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b551453de4614"/>
  </p:sldMasterIdLst>
  <p:notesMasterIdLst>
    <p:notesMasterId xmlns:r="http://schemas.openxmlformats.org/officeDocument/2006/relationships" r:id="Rfb432294a35849e3"/>
  </p:notesMasterIdLst>
  <p:sldIdLst>
    <p:sldId xmlns:r="http://schemas.openxmlformats.org/officeDocument/2006/relationships" id="256" r:id="Ra89383a574244837"/>
    <p:sldId xmlns:r="http://schemas.openxmlformats.org/officeDocument/2006/relationships" id="257" r:id="R1d7682dd1d4c44b5"/>
    <p:sldId xmlns:r="http://schemas.openxmlformats.org/officeDocument/2006/relationships" id="258" r:id="Ra4a5327ca9a7441e"/>
    <p:sldId xmlns:r="http://schemas.openxmlformats.org/officeDocument/2006/relationships" id="259" r:id="Rcf252375537846a7"/>
    <p:sldId xmlns:r="http://schemas.openxmlformats.org/officeDocument/2006/relationships" id="260" r:id="Rde6433771f5e4de5"/>
    <p:sldId xmlns:r="http://schemas.openxmlformats.org/officeDocument/2006/relationships" id="261" r:id="Reef1a9399e4c4b64"/>
    <p:sldId xmlns:r="http://schemas.openxmlformats.org/officeDocument/2006/relationships" id="262" r:id="R33c01fe3bcc944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4a20636e524f4b" /><Relationship Type="http://schemas.openxmlformats.org/officeDocument/2006/relationships/slideMaster" Target="/ppt/slideMasters/slideMaster1.xml" Id="R9d8b551453de4614" /><Relationship Type="http://schemas.openxmlformats.org/officeDocument/2006/relationships/notesMaster" Target="/ppt/notesMasters/notesMaster1.xml" Id="Rfb432294a35849e3" /><Relationship Type="http://schemas.openxmlformats.org/officeDocument/2006/relationships/presProps" Target="/ppt/presProps.xml" Id="Rcf52c5cde94b44e7" /><Relationship Type="http://schemas.openxmlformats.org/officeDocument/2006/relationships/tableStyles" Target="/ppt/tableStyles.xml" Id="R2986a1676f1a47e8" /><Relationship Type="http://schemas.openxmlformats.org/officeDocument/2006/relationships/slide" Target="/ppt/slides/slide1.xml" Id="Ra89383a574244837" /><Relationship Type="http://schemas.openxmlformats.org/officeDocument/2006/relationships/slide" Target="/ppt/slides/slide2.xml" Id="R1d7682dd1d4c44b5" /><Relationship Type="http://schemas.openxmlformats.org/officeDocument/2006/relationships/slide" Target="/ppt/slides/slide3.xml" Id="Ra4a5327ca9a7441e" /><Relationship Type="http://schemas.openxmlformats.org/officeDocument/2006/relationships/slide" Target="/ppt/slides/slide4.xml" Id="Rcf252375537846a7" /><Relationship Type="http://schemas.openxmlformats.org/officeDocument/2006/relationships/slide" Target="/ppt/slides/slide5.xml" Id="Rde6433771f5e4de5" /><Relationship Type="http://schemas.openxmlformats.org/officeDocument/2006/relationships/slide" Target="/ppt/slides/slide6.xml" Id="Reef1a9399e4c4b64" /><Relationship Type="http://schemas.openxmlformats.org/officeDocument/2006/relationships/slide" Target="/ppt/slides/slide7.xml" Id="R33c01fe3bcc9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83fa88038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ef0a4fa904cf1" /><Relationship Type="http://schemas.openxmlformats.org/officeDocument/2006/relationships/notesMaster" Target="/ppt/notesMasters/notesMaster1.xml" Id="R51854b063663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7e6212fa404f2b" /><Relationship Type="http://schemas.openxmlformats.org/officeDocument/2006/relationships/notesMaster" Target="/ppt/notesMasters/notesMaster1.xml" Id="R0f092ed77d37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f52a8bc6f4034" /><Relationship Type="http://schemas.openxmlformats.org/officeDocument/2006/relationships/notesMaster" Target="/ppt/notesMasters/notesMaster1.xml" Id="Rc4eb69619c6949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cc411041948f2" /><Relationship Type="http://schemas.openxmlformats.org/officeDocument/2006/relationships/notesMaster" Target="/ppt/notesMasters/notesMaster1.xml" Id="Rad82f871f375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8a015cf2b74111" /><Relationship Type="http://schemas.openxmlformats.org/officeDocument/2006/relationships/notesMaster" Target="/ppt/notesMasters/notesMaster1.xml" Id="R2d7c6fc944014e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4d7e92603414e" /><Relationship Type="http://schemas.openxmlformats.org/officeDocument/2006/relationships/notesMaster" Target="/ppt/notesMasters/notesMaster1.xml" Id="Ra58785f0d7eb44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ac6513db440b3" /><Relationship Type="http://schemas.openxmlformats.org/officeDocument/2006/relationships/notesMaster" Target="/ppt/notesMasters/notesMaster1.xml" Id="R766663ada184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https://github.com/Xpounder-com/hormuz/blob/main/marketing/OFFER.md</a:t>
            </a:r>
          </a:p>
          <a:p xmlns:a="http://schemas.openxmlformats.org/drawingml/2006/main">
            <a:r>
              <a:t>https://github.com/Xpounder-com/hormuz/blob/main/LICENSE</a:t>
            </a:r>
          </a:p>
          <a:p xmlns:a="http://schemas.openxmlformats.org/drawingml/2006/main">
            <a:r>
              <a:t>https://github.com/Xpounder-com/hormuz/blob/main/docs/CLIENTS.md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https://github.com/Xpounder-com/hormuz/blob/main/docs/ARCHITECTURE.md</a:t>
            </a:r>
          </a:p>
          <a:p xmlns:a="http://schemas.openxmlformats.org/drawingml/2006/main">
            <a:r>
              <a:t>https://github.com/Xpounder-com/hormuz/blob/main/docs/CLIENTS.md</a:t>
            </a:r>
          </a:p>
          <a:p xmlns:a="http://schemas.openxmlformats.org/drawingml/2006/main">
            <a:r>
              <a:t>https://github.com/Xpounder-com/hormuz/blob/main/docs/AUDIT.md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https://usehormuz.github.io/demo/</a:t>
            </a:r>
          </a:p>
          <a:p xmlns:a="http://schemas.openxmlformats.org/drawingml/2006/main">
            <a:r>
              <a:t>https://github.com/Xpounder-com/hormuz/blob/main/hormuz/demo.py</a:t>
            </a:r>
          </a:p>
          <a:p xmlns:a="http://schemas.openxmlformats.org/drawingml/2006/main">
            <a:r>
              <a:t>https://github.com/Xpounder-com/hormuz/blob/main/website/public/demo/gateway.json</a:t>
            </a:r>
          </a:p>
          <a:p xmlns:a="http://schemas.openxmlformats.org/drawingml/2006/main">
            <a:r>
              <a:t>https://github.com/Xpounder-com/hormuz/blob/main/website/public/demo/synthetic-evidence.jsonl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https://github.com/Xpounder-com/hormuz/blob/main/website/lib/pricing.json</a:t>
            </a:r>
          </a:p>
          <a:p xmlns:a="http://schemas.openxmlformats.org/drawingml/2006/main">
            <a:r>
              <a:t>https://github.com/Xpounder-com/hormuz/blob/main/marketing/OFFER.md</a:t>
            </a:r>
          </a:p>
          <a:p xmlns:a="http://schemas.openxmlformats.org/drawingml/2006/main">
            <a:r>
              <a:t>https://github.com/Xpounder-com/hormuz/blob/main/marketing/COMMERCIAL_SETUP.md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https://github.com/Xpounder-com/hormuz/blob/main/SUPPORT.md</a:t>
            </a:r>
          </a:p>
          <a:p xmlns:a="http://schemas.openxmlformats.org/drawingml/2006/main">
            <a:r>
              <a:t>https://github.com/Xpounder-com/hormuz/blob/main/docs/OIDC.md</a:t>
            </a:r>
          </a:p>
          <a:p xmlns:a="http://schemas.openxmlformats.org/drawingml/2006/main">
            <a:r>
              <a:t>https://github.com/Xpounder-com/hormuz/blob/main/docs/SECRET_CONTROLS.md</a:t>
            </a:r>
          </a:p>
          <a:p xmlns:a="http://schemas.openxmlformats.org/drawingml/2006/main">
            <a:r>
              <a:t>https://github.com/Xpounder-com/hormuz/blob/main/docs/USAGE.md</a:t>
            </a:r>
          </a:p>
          <a:p xmlns:a="http://schemas.openxmlformats.org/drawingml/2006/main">
            <a:r>
              <a:t>https://github.com/Xpounder-com/hormuz/blob/main/marketing/TRUST.md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https://github.com/Xpounder-com/hormuz/blob/main/marketing/PILOT.md</a:t>
            </a:r>
          </a:p>
          <a:p xmlns:a="http://schemas.openxmlformats.org/drawingml/2006/main">
            <a:r>
              <a:t>https://github.com/Xpounder-com/hormuz/blob/main/website/lib/pricing.json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https://usehormuz.github.io/enterprise/#reserve</a:t>
            </a:r>
          </a:p>
          <a:p xmlns:a="http://schemas.openxmlformats.org/drawingml/2006/main">
            <a:r>
              <a:t>https://github.com/Xpounder-com/hormuz/blob/main/marketing/COMMERCIAL_SETUP.md</a:t>
            </a:r>
          </a:p>
          <a:p xmlns:a="http://schemas.openxmlformats.org/drawingml/2006/main">
            <a:r>
              <a:t>https://github.com/Xpounder-com/hormuz/blob/main/website/lib/pricing.json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public v1 source contracts and synthetic evidence. No customer outcome, certification, SLA, validated demand, or future software availability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03349dfc1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20fceb7a1471d" /><Relationship Type="http://schemas.openxmlformats.org/officeDocument/2006/relationships/slideLayout" Target="/ppt/slideLayouts/slideLayout1.xml" Id="R3633d7eddbca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33d7eddbca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5f44e09ea44be" /><Relationship Type="http://schemas.openxmlformats.org/officeDocument/2006/relationships/image" Target="/ppt/media/image.png" Id="R2b1604f096db464c" /><Relationship Type="http://schemas.openxmlformats.org/officeDocument/2006/relationships/image" Target="/ppt/media/image.svg" Id="Rc31bddc81fdf4465" /><Relationship Type="http://schemas.openxmlformats.org/officeDocument/2006/relationships/notesSlide" Target="/ppt/notesSlides/notesSlide1.xml" Id="R758657a530f6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8ae34f9a41af" /><Relationship Type="http://schemas.openxmlformats.org/officeDocument/2006/relationships/image" Target="/ppt/media/image2.png" Id="R8cf5ac2e5ab7462a" /><Relationship Type="http://schemas.openxmlformats.org/officeDocument/2006/relationships/image" Target="/ppt/media/image2.svg" Id="R85cee0072b134a91" /><Relationship Type="http://schemas.openxmlformats.org/officeDocument/2006/relationships/notesSlide" Target="/ppt/notesSlides/notesSlide2.xml" Id="R9cc911eca0ae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609ed5d99413b" /><Relationship Type="http://schemas.openxmlformats.org/officeDocument/2006/relationships/image" Target="/ppt/media/image3.png" Id="Re29f70b0c8cb4304" /><Relationship Type="http://schemas.openxmlformats.org/officeDocument/2006/relationships/image" Target="/ppt/media/image3.svg" Id="R6f011f1af3ac41c8" /><Relationship Type="http://schemas.openxmlformats.org/officeDocument/2006/relationships/notesSlide" Target="/ppt/notesSlides/notesSlide3.xml" Id="R7f65c3da8f69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157ce7e542c5" /><Relationship Type="http://schemas.openxmlformats.org/officeDocument/2006/relationships/image" Target="/ppt/media/image4.png" Id="R36844f3582984606" /><Relationship Type="http://schemas.openxmlformats.org/officeDocument/2006/relationships/image" Target="/ppt/media/image4.svg" Id="R4891b3a7529d41e2" /><Relationship Type="http://schemas.openxmlformats.org/officeDocument/2006/relationships/notesSlide" Target="/ppt/notesSlides/notesSlide4.xml" Id="R8afe6c6bc729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20cc5179d4526" /><Relationship Type="http://schemas.openxmlformats.org/officeDocument/2006/relationships/image" Target="/ppt/media/image5.png" Id="Rb148cf538de143a3" /><Relationship Type="http://schemas.openxmlformats.org/officeDocument/2006/relationships/image" Target="/ppt/media/image5.svg" Id="R389a2b07050a4dc9" /><Relationship Type="http://schemas.openxmlformats.org/officeDocument/2006/relationships/notesSlide" Target="/ppt/notesSlides/notesSlide5.xml" Id="R199f510f9e2e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24e1becc84586" /><Relationship Type="http://schemas.openxmlformats.org/officeDocument/2006/relationships/image" Target="/ppt/media/image6.png" Id="R4869ca28a76a40f1" /><Relationship Type="http://schemas.openxmlformats.org/officeDocument/2006/relationships/image" Target="/ppt/media/image6.svg" Id="R5b68083fa1364ee2" /><Relationship Type="http://schemas.openxmlformats.org/officeDocument/2006/relationships/notesSlide" Target="/ppt/notesSlides/notesSlide6.xml" Id="R19ada3f44d28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3aee78d94824" /><Relationship Type="http://schemas.openxmlformats.org/officeDocument/2006/relationships/image" Target="/ppt/media/image7.png" Id="Rfcb3bb2dd6ee46f6" /><Relationship Type="http://schemas.openxmlformats.org/officeDocument/2006/relationships/image" Target="/ppt/media/image7.svg" Id="R86b83bca80e24779" /><Relationship Type="http://schemas.openxmlformats.org/officeDocument/2006/relationships/notesSlide" Target="/ppt/notesSlides/notesSlide7.xml" Id="Rc41594e6640e48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3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604f096db464c">
            <a:extLst>
              <a:ext uri="{96DAC541-7B7A-43D3-8B79-37D633B846F1}">
                <asvg:svgBlip xmlns:asvg="http://schemas.microsoft.com/office/drawing/2016/SVG/main" r:embed="Rc31bddc81fdf44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BAF72DA-7C5C-49DA-8CD7-3FB04DF1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SOFTWARE + CLOUD + APPLIANCES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030553D-E85D-4BD3-8419-74ECAAE1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B476390-9896-4BFF-B1A6-64429A8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2906077-E814-4121-88D4-2CC4E6D8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585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AFBF6"/>
                </a:solidFill>
                <a:latin typeface="Arial"/>
                <a:ea typeface="Arial"/>
                <a:cs typeface="Arial"/>
              </a:rPr>
              <a:t>Give your team AI.</a:t>
            </a:r>
          </a:p>
          <a:p xmlns:a="http://schemas.openxmlformats.org/drawingml/2006/main">
            <a:pPr>
              <a:defRPr sz="5700" b="1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AFBF6"/>
                </a:solidFill>
                <a:latin typeface="Arial"/>
                <a:ea typeface="Arial"/>
                <a:cs typeface="Arial"/>
              </a:rPr>
              <a:t>Keep control.</a:t>
            </a:r>
          </a:p>
        </p:txBody>
      </p:sp>
      <p:sp>
        <p:nvSpPr>
          <p:cNvPr id="6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2ACAFDEE-0975-4DB8-AECB-598B86A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Self-hosted policy, budgets, secret controls,</a:t>
            </a:r>
          </a:p>
          <a:p xmlns:a="http://schemas.openxmlformats.org/drawingml/2006/main">
            <a:pPr>
              <a:defRPr sz="2325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and metadata-only evidence for Codex and Claude Code.</a:t>
            </a:r>
          </a:p>
        </p:txBody>
      </p:sp>
      <p:sp>
        <p:nvSpPr>
          <p:cNvPr id="7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BFC6A7D8-4B11-4482-A919-15151B4B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Apache-2.0 core  •  v1.3.0 source release</a:t>
            </a:r>
          </a:p>
        </p:txBody>
      </p:sp>
    </p:spTree>
    <p:extLst>
      <p:ext uri="{BB962C8B-B14F-4D97-AF65-F5344CB8AC3E}">
        <p14:creationId xmlns:p14="http://schemas.microsoft.com/office/powerpoint/2010/main" val="1336214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5ac2e5ab7462a">
            <a:extLst>
              <a:ext uri="{96DAC541-7B7A-43D3-8B79-37D633B846F1}">
                <asvg:svgBlip xmlns:asvg="http://schemas.microsoft.com/office/drawing/2016/SVG/main" r:embed="R85cee0072b134a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2D7D4C-789B-432B-A412-76386C82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THE CONTROL POINT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5A8CCC8-C11E-4059-8B4B-2F20CD6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Put policy in the model-request path.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6A1010-B591-4BEC-8741-51390898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E9BE64-2091-4099-8F54-4306D856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6" name="arrow-one">
            <a:extLst xmlns:a="http://schemas.openxmlformats.org/drawingml/2006/main">
              <a:ext uri="{FF2B5EF4-FFF2-40B4-BE49-F238E27FC236}">
                <a16:creationId xmlns:a16="http://schemas.microsoft.com/office/drawing/2014/main" id="{3255F5A9-9F1C-4CA3-B027-98A397F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6227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316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two">
            <a:extLst xmlns:a="http://schemas.openxmlformats.org/drawingml/2006/main">
              <a:ext uri="{FF2B5EF4-FFF2-40B4-BE49-F238E27FC236}">
                <a16:creationId xmlns:a16="http://schemas.microsoft.com/office/drawing/2014/main" id="{C0848233-8744-45EF-B230-ED7BF466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962275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31684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EMPLOYEE CLIENT">
            <a:extLst xmlns:a="http://schemas.openxmlformats.org/drawingml/2006/main">
              <a:ext uri="{FF2B5EF4-FFF2-40B4-BE49-F238E27FC236}">
                <a16:creationId xmlns:a16="http://schemas.microsoft.com/office/drawing/2014/main" id="{143D5425-A84E-429A-881C-8AEEFC7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2857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6"/>
          </a:solidFill>
          <a:ln xmlns:a="http://schemas.openxmlformats.org/drawingml/2006/main" w="9525">
            <a:solidFill>
              <a:srgbClr val="D4DBCC"/>
            </a:solidFill>
            <a:prstDash val="solid"/>
          </a:ln>
        </p:spPr>
      </p:sp>
      <p:sp>
        <p:nvSpPr>
          <p:cNvPr id="9" name="EMPLOYEE CLIENT-title">
            <a:extLst xmlns:a="http://schemas.openxmlformats.org/drawingml/2006/main">
              <a:ext uri="{FF2B5EF4-FFF2-40B4-BE49-F238E27FC236}">
                <a16:creationId xmlns:a16="http://schemas.microsoft.com/office/drawing/2014/main" id="{96E7A7BB-86EE-4F42-81BC-7BB57FC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EMPLOYEE CLIENT</a:t>
            </a:r>
          </a:p>
        </p:txBody>
      </p:sp>
      <p:sp>
        <p:nvSpPr>
          <p:cNvPr id="10" name="EMPLOYEE CLIENT-body">
            <a:extLst xmlns:a="http://schemas.openxmlformats.org/drawingml/2006/main">
              <a:ext uri="{FF2B5EF4-FFF2-40B4-BE49-F238E27FC236}">
                <a16:creationId xmlns:a16="http://schemas.microsoft.com/office/drawing/2014/main" id="{D4C671DC-9ACB-4674-88F2-81CA0028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Codex / Claude Code</a:t>
            </a:r>
          </a:p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Unique Hormuz identity</a:t>
            </a:r>
          </a:p>
        </p:txBody>
      </p:sp>
      <p:sp>
        <p:nvSpPr>
          <p:cNvPr id="11" name="HORMUZ">
            <a:extLst xmlns:a="http://schemas.openxmlformats.org/drawingml/2006/main">
              <a:ext uri="{FF2B5EF4-FFF2-40B4-BE49-F238E27FC236}">
                <a16:creationId xmlns:a16="http://schemas.microsoft.com/office/drawing/2014/main" id="{1C8DCF97-256F-46C5-AEE2-A069848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00325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6"/>
          </a:solidFill>
          <a:ln xmlns:a="http://schemas.openxmlformats.org/drawingml/2006/main" w="9525">
            <a:solidFill>
              <a:srgbClr val="D4DBCC"/>
            </a:solidFill>
            <a:prstDash val="solid"/>
          </a:ln>
        </p:spPr>
      </p:sp>
      <p:sp>
        <p:nvSpPr>
          <p:cNvPr id="12" name="HORMUZ-title">
            <a:extLst xmlns:a="http://schemas.openxmlformats.org/drawingml/2006/main">
              <a:ext uri="{FF2B5EF4-FFF2-40B4-BE49-F238E27FC236}">
                <a16:creationId xmlns:a16="http://schemas.microsoft.com/office/drawing/2014/main" id="{AF61436A-7E37-49FF-B783-FFF5D40B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HORMUZ</a:t>
            </a:r>
          </a:p>
        </p:txBody>
      </p:sp>
      <p:sp>
        <p:nvSpPr>
          <p:cNvPr id="13" name="HORMUZ-body">
            <a:extLst xmlns:a="http://schemas.openxmlformats.org/drawingml/2006/main">
              <a:ext uri="{FF2B5EF4-FFF2-40B4-BE49-F238E27FC236}">
                <a16:creationId xmlns:a16="http://schemas.microsoft.com/office/drawing/2014/main" id="{CA2E0EAF-0E82-441B-8672-9FA87E5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Identity + policy + secrets</a:t>
            </a:r>
          </a:p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Budget before egress</a:t>
            </a:r>
          </a:p>
        </p:txBody>
      </p:sp>
      <p:sp>
        <p:nvSpPr>
          <p:cNvPr id="14" name="MODEL PROVIDER">
            <a:extLst xmlns:a="http://schemas.openxmlformats.org/drawingml/2006/main">
              <a:ext uri="{FF2B5EF4-FFF2-40B4-BE49-F238E27FC236}">
                <a16:creationId xmlns:a16="http://schemas.microsoft.com/office/drawing/2014/main" id="{461C7B4D-9468-41B8-8CEB-F7AB515B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0325"/>
            <a:ext cx="3086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6"/>
          </a:solidFill>
          <a:ln xmlns:a="http://schemas.openxmlformats.org/drawingml/2006/main" w="9525">
            <a:solidFill>
              <a:srgbClr val="D4DBCC"/>
            </a:solidFill>
            <a:prstDash val="solid"/>
          </a:ln>
        </p:spPr>
      </p:sp>
      <p:sp>
        <p:nvSpPr>
          <p:cNvPr id="15" name="MODEL PROVIDER-title">
            <a:extLst xmlns:a="http://schemas.openxmlformats.org/drawingml/2006/main">
              <a:ext uri="{FF2B5EF4-FFF2-40B4-BE49-F238E27FC236}">
                <a16:creationId xmlns:a16="http://schemas.microsoft.com/office/drawing/2014/main" id="{C0B21399-6C45-4BE9-AEAE-D03522B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MODEL PROVIDER</a:t>
            </a:r>
          </a:p>
        </p:txBody>
      </p:sp>
      <p:sp>
        <p:nvSpPr>
          <p:cNvPr id="16" name="MODEL PROVIDER-body">
            <a:extLst xmlns:a="http://schemas.openxmlformats.org/drawingml/2006/main">
              <a:ext uri="{FF2B5EF4-FFF2-40B4-BE49-F238E27FC236}">
                <a16:creationId xmlns:a16="http://schemas.microsoft.com/office/drawing/2014/main" id="{7E8BD9A1-2043-4EEC-8766-3B4E566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270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Company account</a:t>
            </a:r>
          </a:p>
          <a:p xmlns:a="http://schemas.openxmlformats.org/drawingml/2006/main">
            <a:pPr>
              <a:defRPr sz="18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Server-side provider key</a:t>
            </a:r>
          </a:p>
        </p:txBody>
      </p:sp>
      <p:sp>
        <p:nvSpPr>
          <p:cNvPr id="17" name="metadata">
            <a:extLst xmlns:a="http://schemas.openxmlformats.org/drawingml/2006/main">
              <a:ext uri="{FF2B5EF4-FFF2-40B4-BE49-F238E27FC236}">
                <a16:creationId xmlns:a16="http://schemas.microsoft.com/office/drawing/2014/main" id="{7BE333DD-9768-41A0-A0C0-8A403DA8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Retain the control record, not the conversation.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691339B6-0141-46B9-BFEE-E5083DF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Allowed content still reaches the provider. Bypassed requests and client-side shell, MCP, Git, or browser activity are outside Hormuz’s coverage.</a:t>
            </a:r>
          </a:p>
        </p:txBody>
      </p:sp>
    </p:spTree>
    <p:extLst>
      <p:ext uri="{BB962C8B-B14F-4D97-AF65-F5344CB8AC3E}">
        <p14:creationId xmlns:p14="http://schemas.microsoft.com/office/powerpoint/2010/main" val="215840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3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f70b0c8cb4304">
            <a:extLst>
              <a:ext uri="{96DAC541-7B7A-43D3-8B79-37D633B846F1}">
                <asvg:svgBlip xmlns:asvg="http://schemas.microsoft.com/office/drawing/2016/SVG/main" r:embed="R6f011f1af3ac41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99F7332-BC21-4340-B6A0-FEE7CD1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INSPECT THE PROOF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1CD874A-BD8E-4CA6-ACA7-1E8830A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BF6"/>
                </a:solidFill>
                <a:latin typeface="Arial"/>
                <a:ea typeface="Arial"/>
                <a:cs typeface="Arial"/>
              </a:rPr>
              <a:t>A real demo. Synthetic inputs.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59E15E-5F27-4CC5-BCC1-785BBDA5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BEF16C-8D98-4C29-B8CD-2BEB40A6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6" name="zero">
            <a:extLst xmlns:a="http://schemas.openxmlformats.org/drawingml/2006/main">
              <a:ext uri="{FF2B5EF4-FFF2-40B4-BE49-F238E27FC236}">
                <a16:creationId xmlns:a16="http://schemas.microsoft.com/office/drawing/2014/main" id="{A2F6B9AB-5D76-449C-986B-545B00E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95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0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zero-label">
            <a:extLst xmlns:a="http://schemas.openxmlformats.org/drawingml/2006/main">
              <a:ext uri="{FF2B5EF4-FFF2-40B4-BE49-F238E27FC236}">
                <a16:creationId xmlns:a16="http://schemas.microsoft.com/office/drawing/2014/main" id="{29669A02-9183-4CD3-9711-4679BE6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BF6"/>
                </a:solidFill>
                <a:latin typeface="Arial"/>
                <a:ea typeface="Arial"/>
                <a:cs typeface="Arial"/>
              </a:rPr>
              <a:t>external provider calls</a:t>
            </a:r>
          </a:p>
        </p:txBody>
      </p:sp>
      <p:sp>
        <p:nvSpPr>
          <p:cNvPr id="8" name="checks">
            <a:extLst xmlns:a="http://schemas.openxmlformats.org/drawingml/2006/main">
              <a:ext uri="{FF2B5EF4-FFF2-40B4-BE49-F238E27FC236}">
                <a16:creationId xmlns:a16="http://schemas.microsoft.com/office/drawing/2014/main" id="{601C64A2-C764-4D78-BEF9-0B7C20E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33650"/>
            <a:ext cx="67056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Allow an approved request</a:t>
            </a:r>
          </a:p>
          <a:p xmlns:a="http://schemas.openxmlformats.org/drawingml/2006/main">
            <a:pPr>
              <a:defRPr sz="2325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Reroute and cap an unapproved model</a:t>
            </a:r>
          </a:p>
          <a:p xmlns:a="http://schemas.openxmlformats.org/drawingml/2006/main">
            <a:pPr>
              <a:defRPr sz="2325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Redact a detected secret before egress</a:t>
            </a:r>
          </a:p>
          <a:p xmlns:a="http://schemas.openxmlformats.org/drawingml/2006/main">
            <a:pPr>
              <a:defRPr sz="2325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Deny without an upstream call</a:t>
            </a:r>
          </a:p>
        </p:txBody>
      </p:sp>
      <p:sp>
        <p:nvSpPr>
          <p:cNvPr id="9" name="proof-boundary">
            <a:extLst xmlns:a="http://schemas.openxmlformats.org/drawingml/2006/main">
              <a:ext uri="{FF2B5EF4-FFF2-40B4-BE49-F238E27FC236}">
                <a16:creationId xmlns:a16="http://schemas.microsoft.com/office/drawing/2014/main" id="{DD500760-AEA1-429D-84F9-35059A53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Four usage events + one secret-control event. Download the real recording and a schema-checked synthetic export. Not a benchmark, customer case study, or independent-user result.</a:t>
            </a:r>
          </a:p>
        </p:txBody>
      </p:sp>
    </p:spTree>
    <p:extLst>
      <p:ext uri="{BB962C8B-B14F-4D97-AF65-F5344CB8AC3E}">
        <p14:creationId xmlns:p14="http://schemas.microsoft.com/office/powerpoint/2010/main" val="1057442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44f3582984606">
            <a:extLst>
              <a:ext uri="{96DAC541-7B7A-43D3-8B79-37D633B846F1}">
                <asvg:svgBlip xmlns:asvg="http://schemas.microsoft.com/office/drawing/2016/SVG/main" r:embed="R4891b3a7529d41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8BDA5D-03DB-4136-BB7A-B6A2DA1B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SOFTWARE, CLOUD, AND HARDWARE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6529728-7CE4-42AF-8FDE-DF0BE32A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One clear price catalog.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1336AE2-8839-408C-8942-1AD77B29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EDD2A1-6777-4723-AFCB-BFBC12A3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6" name="offer-0">
            <a:extLst xmlns:a="http://schemas.openxmlformats.org/drawingml/2006/main">
              <a:ext uri="{FF2B5EF4-FFF2-40B4-BE49-F238E27FC236}">
                <a16:creationId xmlns:a16="http://schemas.microsoft.com/office/drawing/2014/main" id="{C3E3FA2A-4A75-44CC-8A25-03F71CE1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7" name="price-0">
            <a:extLst xmlns:a="http://schemas.openxmlformats.org/drawingml/2006/main">
              <a:ext uri="{FF2B5EF4-FFF2-40B4-BE49-F238E27FC236}">
                <a16:creationId xmlns:a16="http://schemas.microsoft.com/office/drawing/2014/main" id="{6A70FA22-670F-4D4D-9090-6C54446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8" name="unit-0">
            <a:extLst xmlns:a="http://schemas.openxmlformats.org/drawingml/2006/main">
              <a:ext uri="{FF2B5EF4-FFF2-40B4-BE49-F238E27FC236}">
                <a16:creationId xmlns:a16="http://schemas.microsoft.com/office/drawing/2014/main" id="{4D24FD55-6FB0-49BF-9420-BFEE7DDE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Apache-2.0 software</a:t>
            </a:r>
          </a:p>
        </p:txBody>
      </p:sp>
      <p:sp>
        <p:nvSpPr>
          <p:cNvPr id="9" name="offer-1">
            <a:extLst xmlns:a="http://schemas.openxmlformats.org/drawingml/2006/main">
              <a:ext uri="{FF2B5EF4-FFF2-40B4-BE49-F238E27FC236}">
                <a16:creationId xmlns:a16="http://schemas.microsoft.com/office/drawing/2014/main" id="{F66C13DB-9724-4DF4-A416-32F95951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10" name="price-1">
            <a:extLst xmlns:a="http://schemas.openxmlformats.org/drawingml/2006/main">
              <a:ext uri="{FF2B5EF4-FFF2-40B4-BE49-F238E27FC236}">
                <a16:creationId xmlns:a16="http://schemas.microsoft.com/office/drawing/2014/main" id="{58C0051D-D326-4D31-858B-442CB19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$49.99</a:t>
            </a:r>
          </a:p>
        </p:txBody>
      </p:sp>
      <p:sp>
        <p:nvSpPr>
          <p:cNvPr id="11" name="unit-1">
            <a:extLst xmlns:a="http://schemas.openxmlformats.org/drawingml/2006/main">
              <a:ext uri="{FF2B5EF4-FFF2-40B4-BE49-F238E27FC236}">
                <a16:creationId xmlns:a16="http://schemas.microsoft.com/office/drawing/2014/main" id="{B1AFD5E7-6324-41FB-83B2-77788EB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Per workspace / month</a:t>
            </a:r>
          </a:p>
        </p:txBody>
      </p:sp>
      <p:sp>
        <p:nvSpPr>
          <p:cNvPr id="12" name="offer-2">
            <a:extLst xmlns:a="http://schemas.openxmlformats.org/drawingml/2006/main">
              <a:ext uri="{FF2B5EF4-FFF2-40B4-BE49-F238E27FC236}">
                <a16:creationId xmlns:a16="http://schemas.microsoft.com/office/drawing/2014/main" id="{80748B46-4D58-4963-A23E-057D087F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Appliance</a:t>
            </a:r>
          </a:p>
        </p:txBody>
      </p:sp>
      <p:sp>
        <p:nvSpPr>
          <p:cNvPr id="13" name="price-2">
            <a:extLst xmlns:a="http://schemas.openxmlformats.org/drawingml/2006/main">
              <a:ext uri="{FF2B5EF4-FFF2-40B4-BE49-F238E27FC236}">
                <a16:creationId xmlns:a16="http://schemas.microsoft.com/office/drawing/2014/main" id="{AFF25C09-60C4-43B5-BB46-BB3F967F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$999</a:t>
            </a:r>
          </a:p>
        </p:txBody>
      </p:sp>
      <p:sp>
        <p:nvSpPr>
          <p:cNvPr id="14" name="unit-2">
            <a:extLst xmlns:a="http://schemas.openxmlformats.org/drawingml/2006/main">
              <a:ext uri="{FF2B5EF4-FFF2-40B4-BE49-F238E27FC236}">
                <a16:creationId xmlns:a16="http://schemas.microsoft.com/office/drawing/2014/main" id="{C5AB1E0A-8CD8-4BF6-8B96-827FA7A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Per appliance / one time</a:t>
            </a:r>
          </a:p>
        </p:txBody>
      </p:sp>
      <p:sp>
        <p:nvSpPr>
          <p:cNvPr id="15" name="offer-3">
            <a:extLst xmlns:a="http://schemas.openxmlformats.org/drawingml/2006/main">
              <a:ext uri="{FF2B5EF4-FFF2-40B4-BE49-F238E27FC236}">
                <a16:creationId xmlns:a16="http://schemas.microsoft.com/office/drawing/2014/main" id="{21AD9BF9-5A1F-4F4D-97A4-8F8FA7CB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Appliance + scoped onboarding</a:t>
            </a:r>
          </a:p>
        </p:txBody>
      </p:sp>
      <p:sp>
        <p:nvSpPr>
          <p:cNvPr id="16" name="price-3">
            <a:extLst xmlns:a="http://schemas.openxmlformats.org/drawingml/2006/main">
              <a:ext uri="{FF2B5EF4-FFF2-40B4-BE49-F238E27FC236}">
                <a16:creationId xmlns:a16="http://schemas.microsoft.com/office/drawing/2014/main" id="{94B82FCE-1E6A-4748-9F91-4AF0750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91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$1,499</a:t>
            </a:r>
          </a:p>
        </p:txBody>
      </p:sp>
      <p:sp>
        <p:nvSpPr>
          <p:cNvPr id="17" name="unit-3">
            <a:extLst xmlns:a="http://schemas.openxmlformats.org/drawingml/2006/main">
              <a:ext uri="{FF2B5EF4-FFF2-40B4-BE49-F238E27FC236}">
                <a16:creationId xmlns:a16="http://schemas.microsoft.com/office/drawing/2014/main" id="{5E4A4ABF-4D46-4696-83DD-3F7C841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Per appliance / one time</a:t>
            </a:r>
          </a:p>
        </p:txBody>
      </p:sp>
      <p:sp>
        <p:nvSpPr>
          <p:cNvPr id="18" name="offer-4">
            <a:extLst xmlns:a="http://schemas.openxmlformats.org/drawingml/2006/main">
              <a:ext uri="{FF2B5EF4-FFF2-40B4-BE49-F238E27FC236}">
                <a16:creationId xmlns:a16="http://schemas.microsoft.com/office/drawing/2014/main" id="{B062EF9F-7E96-43F3-9406-7244A8EC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8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Managed site</a:t>
            </a:r>
          </a:p>
        </p:txBody>
      </p:sp>
      <p:sp>
        <p:nvSpPr>
          <p:cNvPr id="19" name="price-4">
            <a:extLst xmlns:a="http://schemas.openxmlformats.org/drawingml/2006/main">
              <a:ext uri="{FF2B5EF4-FFF2-40B4-BE49-F238E27FC236}">
                <a16:creationId xmlns:a16="http://schemas.microsoft.com/office/drawing/2014/main" id="{F2328FED-21AD-4647-8ACC-B5AD544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$499</a:t>
            </a:r>
          </a:p>
        </p:txBody>
      </p:sp>
      <p:sp>
        <p:nvSpPr>
          <p:cNvPr id="20" name="unit-4">
            <a:extLst xmlns:a="http://schemas.openxmlformats.org/drawingml/2006/main">
              <a:ext uri="{FF2B5EF4-FFF2-40B4-BE49-F238E27FC236}">
                <a16:creationId xmlns:a16="http://schemas.microsoft.com/office/drawing/2014/main" id="{62EE4BDE-B0AE-4A09-B639-0855F030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Per site / month / Cloud included</a:t>
            </a:r>
          </a:p>
        </p:txBody>
      </p:sp>
      <p:sp>
        <p:nvSpPr>
          <p:cNvPr id="21" name="price-scope">
            <a:extLst xmlns:a="http://schemas.openxmlformats.org/drawingml/2006/main">
              <a:ext uri="{FF2B5EF4-FFF2-40B4-BE49-F238E27FC236}">
                <a16:creationId xmlns:a16="http://schemas.microsoft.com/office/drawing/2014/main" id="{EF33AB7F-37EB-4FE9-A57E-16011358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Managed site: 1 support hour/month; response within 2 business days.</a:t>
            </a:r>
          </a:p>
          <a:p xmlns:a="http://schemas.openxmlformats.org/drawingml/2006/main">
            <a:pPr>
              <a:defRPr sz="172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USD. Provider usage, customer infrastructure, and applicable taxes are separate.</a:t>
            </a:r>
          </a:p>
        </p:txBody>
      </p:sp>
    </p:spTree>
    <p:extLst>
      <p:ext uri="{BB962C8B-B14F-4D97-AF65-F5344CB8AC3E}">
        <p14:creationId xmlns:p14="http://schemas.microsoft.com/office/powerpoint/2010/main" val="628835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8cf538de143a3">
            <a:extLst>
              <a:ext uri="{96DAC541-7B7A-43D3-8B79-37D633B846F1}">
                <asvg:svgBlip xmlns:asvg="http://schemas.microsoft.com/office/drawing/2016/SVG/main" r:embed="R389a2b07050a4d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DC45517-09EB-483B-98DF-1C449937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MATURITY AND RESPONSIBILITY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AD78654B-A171-461A-BEAC-4F3C882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Stable contracts are not certification.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DADABC1-0E13-4EF2-95B5-4EEC2CE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1D1A9B-7F12-4EA0-842D-064F45A7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6" name="release">
            <a:extLst xmlns:a="http://schemas.openxmlformats.org/drawingml/2006/main">
              <a:ext uri="{FF2B5EF4-FFF2-40B4-BE49-F238E27FC236}">
                <a16:creationId xmlns:a16="http://schemas.microsoft.com/office/drawing/2014/main" id="{92986AFD-C563-4758-96D0-C7896FF2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v1.3.0 source + Apple Silicon app</a:t>
            </a:r>
          </a:p>
        </p:txBody>
      </p:sp>
      <p:sp>
        <p:nvSpPr>
          <p:cNvPr id="7" name="oci">
            <a:extLst xmlns:a="http://schemas.openxmlformats.org/drawingml/2006/main">
              <a:ext uri="{FF2B5EF4-FFF2-40B4-BE49-F238E27FC236}">
                <a16:creationId xmlns:a16="http://schemas.microsoft.com/office/drawing/2014/main" id="{084AEC04-226A-4348-B79F-637A4C4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Personal Optimizer: macOS 14+ on Apple Silicon. Signed OCI: v1.3.0 linux/amd64.</a:t>
            </a:r>
          </a:p>
        </p:txBody>
      </p:sp>
      <p:sp>
        <p:nvSpPr>
          <p:cNvPr id="8" name="operators">
            <a:extLst xmlns:a="http://schemas.openxmlformats.org/drawingml/2006/main">
              <a:ext uri="{FF2B5EF4-FFF2-40B4-BE49-F238E27FC236}">
                <a16:creationId xmlns:a16="http://schemas.microsoft.com/office/drawing/2014/main" id="{275DAB69-27F5-4F34-A38D-A61986A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You still qualify TLS, custody, retention, backups, recovery, availability, access controls, and independent security review in your environment.</a:t>
            </a:r>
          </a:p>
        </p:txBody>
      </p:sp>
      <p:sp>
        <p:nvSpPr>
          <p:cNvPr id="9" name="nonclaims">
            <a:extLst xmlns:a="http://schemas.openxmlformats.org/drawingml/2006/main">
              <a:ext uri="{FF2B5EF4-FFF2-40B4-BE49-F238E27FC236}">
                <a16:creationId xmlns:a16="http://schemas.microsoft.com/office/drawing/2014/main" id="{ACC83027-73AA-4140-B2CE-A27D411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Not claimed: complete semantic DLP, per-inference human approval, reconciled provider invoices, qualified ARM64 appliance delivery, generally available Cloud, or a 24/7 SLA.</a:t>
            </a:r>
          </a:p>
        </p:txBody>
      </p:sp>
    </p:spTree>
    <p:extLst>
      <p:ext uri="{BB962C8B-B14F-4D97-AF65-F5344CB8AC3E}">
        <p14:creationId xmlns:p14="http://schemas.microsoft.com/office/powerpoint/2010/main" val="1375340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9ca28a76a40f1">
            <a:extLst>
              <a:ext uri="{96DAC541-7B7A-43D3-8B79-37D633B846F1}">
                <asvg:svgBlip xmlns:asvg="http://schemas.microsoft.com/office/drawing/2016/SVG/main" r:embed="R5b68083fa1364e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C63E92E-8CC4-447F-A681-370AFF2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SCOPED APPLIANCE ONBOARDING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7E6E4B8-6327-48FD-8FC0-24F24F64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One appliance. One supported workflow.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5F5812A-BC2E-443B-B359-AB755E3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2F86F8-C6F4-473D-BBD9-EF955C3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6" name="phase-01">
            <a:extLst xmlns:a="http://schemas.openxmlformats.org/drawingml/2006/main">
              <a:ext uri="{FF2B5EF4-FFF2-40B4-BE49-F238E27FC236}">
                <a16:creationId xmlns:a16="http://schemas.microsoft.com/office/drawing/2014/main" id="{48DE6030-72B7-478D-AAEE-71E06A0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hase-title-01">
            <a:extLst xmlns:a="http://schemas.openxmlformats.org/drawingml/2006/main">
              <a:ext uri="{FF2B5EF4-FFF2-40B4-BE49-F238E27FC236}">
                <a16:creationId xmlns:a16="http://schemas.microsoft.com/office/drawing/2014/main" id="{39B61890-C2F4-4FEF-8874-34073D62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43175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8" name="phase-body-01">
            <a:extLst xmlns:a="http://schemas.openxmlformats.org/drawingml/2006/main">
              <a:ext uri="{FF2B5EF4-FFF2-40B4-BE49-F238E27FC236}">
                <a16:creationId xmlns:a16="http://schemas.microsoft.com/office/drawing/2014/main" id="{8BAFAE0F-08EE-471D-B905-A775E44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19425"/>
            <a:ext cx="9639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Named operator, ready network, provider account, and acceptance scope.</a:t>
            </a:r>
          </a:p>
        </p:txBody>
      </p:sp>
      <p:sp>
        <p:nvSpPr>
          <p:cNvPr id="9" name="phase-02">
            <a:extLst xmlns:a="http://schemas.openxmlformats.org/drawingml/2006/main">
              <a:ext uri="{FF2B5EF4-FFF2-40B4-BE49-F238E27FC236}">
                <a16:creationId xmlns:a16="http://schemas.microsoft.com/office/drawing/2014/main" id="{D4BD8F4F-4716-40E7-9942-6FFF7A0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hase-title-02">
            <a:extLst xmlns:a="http://schemas.openxmlformats.org/drawingml/2006/main">
              <a:ext uri="{FF2B5EF4-FFF2-40B4-BE49-F238E27FC236}">
                <a16:creationId xmlns:a16="http://schemas.microsoft.com/office/drawing/2014/main" id="{BC040C3F-05E5-4C39-B889-2DC98B3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09975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1" name="phase-body-02">
            <a:extLst xmlns:a="http://schemas.openxmlformats.org/drawingml/2006/main">
              <a:ext uri="{FF2B5EF4-FFF2-40B4-BE49-F238E27FC236}">
                <a16:creationId xmlns:a16="http://schemas.microsoft.com/office/drawing/2014/main" id="{29CC2D14-9E57-49CE-96A8-1FB120C0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86225"/>
            <a:ext cx="9639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One provider, one supported application, and initial policies.</a:t>
            </a:r>
          </a:p>
        </p:txBody>
      </p:sp>
      <p:sp>
        <p:nvSpPr>
          <p:cNvPr id="12" name="phase-03">
            <a:extLst xmlns:a="http://schemas.openxmlformats.org/drawingml/2006/main">
              <a:ext uri="{FF2B5EF4-FFF2-40B4-BE49-F238E27FC236}">
                <a16:creationId xmlns:a16="http://schemas.microsoft.com/office/drawing/2014/main" id="{7C7D40EE-3B63-4BD5-A607-312EBCB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1684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16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hase-title-03">
            <a:extLst xmlns:a="http://schemas.openxmlformats.org/drawingml/2006/main">
              <a:ext uri="{FF2B5EF4-FFF2-40B4-BE49-F238E27FC236}">
                <a16:creationId xmlns:a16="http://schemas.microsoft.com/office/drawing/2014/main" id="{83EE2D04-898F-419B-B8EA-B3459DB7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76775"/>
            <a:ext cx="963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723"/>
                </a:solidFill>
                <a:latin typeface="Arial"/>
                <a:ea typeface="Arial"/>
                <a:cs typeface="Arial"/>
              </a:rPr>
              <a:t>Verify and hand over</a:t>
            </a:r>
          </a:p>
        </p:txBody>
      </p:sp>
      <p:sp>
        <p:nvSpPr>
          <p:cNvPr id="14" name="phase-body-03">
            <a:extLst xmlns:a="http://schemas.openxmlformats.org/drawingml/2006/main">
              <a:ext uri="{FF2B5EF4-FFF2-40B4-BE49-F238E27FC236}">
                <a16:creationId xmlns:a16="http://schemas.microsoft.com/office/drawing/2014/main" id="{969A0830-3AC5-416F-ADDD-A7C920B2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53025"/>
            <a:ext cx="9639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723"/>
                </a:solidFill>
                <a:latin typeface="Arial"/>
                <a:ea typeface="Arial"/>
                <a:cs typeface="Arial"/>
              </a:rPr>
              <a:t>Allowed and denied request checks, operator instructions, and open issues.</a:t>
            </a:r>
          </a:p>
        </p:txBody>
      </p:sp>
      <p:sp>
        <p:nvSpPr>
          <p:cNvPr id="15" name="onboarding-boundary">
            <a:extLst xmlns:a="http://schemas.openxmlformats.org/drawingml/2006/main">
              <a:ext uri="{FF2B5EF4-FFF2-40B4-BE49-F238E27FC236}">
                <a16:creationId xmlns:a16="http://schemas.microsoft.com/office/drawing/2014/main" id="{6F5243C7-3DF0-4A51-AA97-0BF4FAC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Up to 3 hours of remote setup. Appliance included.</a:t>
            </a:r>
          </a:p>
          <a:p xmlns:a="http://schemas.openxmlformats.org/drawingml/2006/main">
            <a:pPr>
              <a:defRPr sz="1650" b="0">
                <a:solidFill>
                  <a:srgbClr val="5C675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758"/>
                </a:solidFill>
                <a:latin typeface="Arial"/>
                <a:ea typeface="Arial"/>
                <a:cs typeface="Arial"/>
              </a:rPr>
              <a:t>Custom integrations, on-site work, and ongoing operations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957816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3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3bb2dd6ee46f6">
            <a:extLst>
              <a:ext uri="{96DAC541-7B7A-43D3-8B79-37D633B846F1}">
                <asvg:svgBlip xmlns:asvg="http://schemas.microsoft.com/office/drawing/2016/SVG/main" r:embed="R86b83bca80e247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01400" y="3333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2EB145A-97CA-4E02-8143-94EA42D9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PLANNED ROLLOUT: EARLY 2027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88707B6-AE3A-4689-8879-56AE490B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BF6"/>
                </a:solidFill>
                <a:latin typeface="Arial"/>
                <a:ea typeface="Arial"/>
                <a:cs typeface="Arial"/>
              </a:rPr>
              <a:t>Coming soon. Reserve your appliance.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9D3D55C-14D4-4D05-B289-2EB58AA7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HORMUZ  /  A product of Neuralint  /  Mehrdad Zaker  /  October 2026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F2C41C-A2D0-4F6D-BA01-172400EA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008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6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6D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6" name="next-step">
            <a:extLst xmlns:a="http://schemas.openxmlformats.org/drawingml/2006/main">
              <a:ext uri="{FF2B5EF4-FFF2-40B4-BE49-F238E27FC236}">
                <a16:creationId xmlns:a16="http://schemas.microsoft.com/office/drawing/2014/main" id="{D93EF8AE-ACA6-4635-9150-71D3E18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Reserve yours — $49</a:t>
            </a:r>
          </a:p>
          <a:p xmlns:a="http://schemas.openxmlformats.org/drawingml/2006/main">
            <a:pPr>
              <a:defRPr sz="2850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Fully refundable. Credited toward purchase.</a:t>
            </a:r>
          </a:p>
          <a:p xmlns:a="http://schemas.openxmlformats.org/drawingml/2006/main">
            <a:pPr>
              <a:defRPr sz="2850" b="0">
                <a:solidFill>
                  <a:srgbClr val="FAFBF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AFBF6"/>
                </a:solidFill>
                <a:latin typeface="Arial"/>
                <a:ea typeface="Arial"/>
                <a:cs typeface="Arial"/>
              </a:rPr>
              <a:t>Cancel anytime before fulfillment.</a:t>
            </a:r>
          </a:p>
        </p:txBody>
      </p:sp>
      <p:sp>
        <p:nvSpPr>
          <p:cNvPr id="7" name="reservation-terms">
            <a:extLst xmlns:a="http://schemas.openxmlformats.org/drawingml/2006/main">
              <a:ext uri="{FF2B5EF4-FFF2-40B4-BE49-F238E27FC236}">
                <a16:creationId xmlns:a16="http://schemas.microsoft.com/office/drawing/2014/main" id="{819C6FAE-580F-4D94-B58C-3AFB0674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One-time deposit per appliance. All payments use Stripe.</a:t>
            </a:r>
          </a:p>
          <a:p xmlns:a="http://schemas.openxmlformats.org/drawingml/2006/main">
            <a:pPr>
              <a:defRPr sz="1800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Rollout is a target, not a guaranteed shipping date.</a:t>
            </a:r>
          </a:p>
        </p:txBody>
      </p:sp>
      <p:sp>
        <p:nvSpPr>
          <p:cNvPr id="8" name="contact">
            <a:extLst xmlns:a="http://schemas.openxmlformats.org/drawingml/2006/main">
              <a:ext uri="{FF2B5EF4-FFF2-40B4-BE49-F238E27FC236}">
                <a16:creationId xmlns:a16="http://schemas.microsoft.com/office/drawing/2014/main" id="{571A32E5-1424-4CCE-9B04-625E291B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Mehrdad Zaker</a:t>
            </a:r>
          </a:p>
          <a:p xmlns:a="http://schemas.openxmlformats.org/drawingml/2006/main">
            <a:pPr>
              <a:defRPr sz="2025" b="1">
                <a:solidFill>
                  <a:srgbClr val="DCED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CEDA6"/>
                </a:solidFill>
                <a:latin typeface="Arial"/>
                <a:ea typeface="Arial"/>
                <a:cs typeface="Arial"/>
              </a:rPr>
              <a:t>mehrdadz@neuralint.io</a:t>
            </a:r>
          </a:p>
        </p:txBody>
      </p:sp>
      <p:sp>
        <p:nvSpPr>
          <p:cNvPr id="9" name="website">
            <a:extLst xmlns:a="http://schemas.openxmlformats.org/drawingml/2006/main">
              <a:ext uri="{FF2B5EF4-FFF2-40B4-BE49-F238E27FC236}">
                <a16:creationId xmlns:a16="http://schemas.microsoft.com/office/drawing/2014/main" id="{59634C96-0436-45BE-8937-FFDABFCC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9E1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1DF"/>
                </a:solidFill>
                <a:latin typeface="Arial"/>
                <a:ea typeface="Arial"/>
                <a:cs typeface="Arial"/>
              </a:rPr>
              <a:t>usehormuz.github.io/enterprise/#reserve</a:t>
            </a:r>
          </a:p>
        </p:txBody>
      </p:sp>
    </p:spTree>
    <p:extLst>
      <p:ext uri="{BB962C8B-B14F-4D97-AF65-F5344CB8AC3E}">
        <p14:creationId xmlns:p14="http://schemas.microsoft.com/office/powerpoint/2010/main" val="1181178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2026-10-06T23:06:25.3010000Z</dcterms:created>
  <dcterms:modified xsi:type="dcterms:W3CDTF">2026-10-06T23:06:25.3010000Z</dcterms:modified>
</coreProperties>
</file>