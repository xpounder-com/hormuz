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c4f670e2044ad1" /><Relationship Type="http://schemas.openxmlformats.org/officeDocument/2006/relationships/extended-properties" Target="/docProps/app.xml" Id="R5f309e7ebbc64020" /><Relationship Type="http://schemas.openxmlformats.org/officeDocument/2006/relationships/officeDocument" Target="/ppt/presentation.xml" Id="R6e2426654eae49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ad31e2b42e42c2"/>
  </p:sldMasterIdLst>
  <p:notesMasterIdLst>
    <p:notesMasterId xmlns:r="http://schemas.openxmlformats.org/officeDocument/2006/relationships" r:id="R30d7be7ffbec4544"/>
  </p:notesMasterIdLst>
  <p:sldIdLst>
    <p:sldId xmlns:r="http://schemas.openxmlformats.org/officeDocument/2006/relationships" id="256" r:id="R52c7c787f41b4430"/>
    <p:sldId xmlns:r="http://schemas.openxmlformats.org/officeDocument/2006/relationships" id="257" r:id="R8049e01a02444613"/>
    <p:sldId xmlns:r="http://schemas.openxmlformats.org/officeDocument/2006/relationships" id="258" r:id="R4ac0bb25c4e9440c"/>
    <p:sldId xmlns:r="http://schemas.openxmlformats.org/officeDocument/2006/relationships" id="259" r:id="Rf2c412981ca14269"/>
    <p:sldId xmlns:r="http://schemas.openxmlformats.org/officeDocument/2006/relationships" id="260" r:id="Reb6ba8883bde4e7d"/>
    <p:sldId xmlns:r="http://schemas.openxmlformats.org/officeDocument/2006/relationships" id="261" r:id="R1f4639d69db242af"/>
    <p:sldId xmlns:r="http://schemas.openxmlformats.org/officeDocument/2006/relationships" id="262" r:id="R30166a1c353c455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29fd5945e04f7f" /><Relationship Type="http://schemas.openxmlformats.org/officeDocument/2006/relationships/slideMaster" Target="/ppt/slideMasters/slideMaster1.xml" Id="R83ad31e2b42e42c2" /><Relationship Type="http://schemas.openxmlformats.org/officeDocument/2006/relationships/notesMaster" Target="/ppt/notesMasters/notesMaster1.xml" Id="R30d7be7ffbec4544" /><Relationship Type="http://schemas.openxmlformats.org/officeDocument/2006/relationships/presProps" Target="/ppt/presProps.xml" Id="R69095e3f19cb43c9" /><Relationship Type="http://schemas.openxmlformats.org/officeDocument/2006/relationships/tableStyles" Target="/ppt/tableStyles.xml" Id="R0ce99aa669424e6f" /><Relationship Type="http://schemas.openxmlformats.org/officeDocument/2006/relationships/slide" Target="/ppt/slides/slide1.xml" Id="R52c7c787f41b4430" /><Relationship Type="http://schemas.openxmlformats.org/officeDocument/2006/relationships/slide" Target="/ppt/slides/slide2.xml" Id="R8049e01a02444613" /><Relationship Type="http://schemas.openxmlformats.org/officeDocument/2006/relationships/slide" Target="/ppt/slides/slide3.xml" Id="R4ac0bb25c4e9440c" /><Relationship Type="http://schemas.openxmlformats.org/officeDocument/2006/relationships/slide" Target="/ppt/slides/slide4.xml" Id="Rf2c412981ca14269" /><Relationship Type="http://schemas.openxmlformats.org/officeDocument/2006/relationships/slide" Target="/ppt/slides/slide5.xml" Id="Reb6ba8883bde4e7d" /><Relationship Type="http://schemas.openxmlformats.org/officeDocument/2006/relationships/slide" Target="/ppt/slides/slide6.xml" Id="R1f4639d69db242af" /><Relationship Type="http://schemas.openxmlformats.org/officeDocument/2006/relationships/slide" Target="/ppt/slides/slide7.xml" Id="R30166a1c353c45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eb711073e048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94c95c1f424542" /><Relationship Type="http://schemas.openxmlformats.org/officeDocument/2006/relationships/notesMaster" Target="/ppt/notesMasters/notesMaster1.xml" Id="Rfb9fee627d4647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797de8af41406b" /><Relationship Type="http://schemas.openxmlformats.org/officeDocument/2006/relationships/notesMaster" Target="/ppt/notesMasters/notesMaster1.xml" Id="R4ae6eb85e0d348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f6bde59504445e" /><Relationship Type="http://schemas.openxmlformats.org/officeDocument/2006/relationships/notesMaster" Target="/ppt/notesMasters/notesMaster1.xml" Id="Rd24a5a88ee7c4c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b67cbef1a54cf5" /><Relationship Type="http://schemas.openxmlformats.org/officeDocument/2006/relationships/notesMaster" Target="/ppt/notesMasters/notesMaster1.xml" Id="R095c3e8c1b5545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b586ec62da4c2c" /><Relationship Type="http://schemas.openxmlformats.org/officeDocument/2006/relationships/notesMaster" Target="/ppt/notesMasters/notesMaster1.xml" Id="R7236d7a9e09643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257172154eb4c9e" /><Relationship Type="http://schemas.openxmlformats.org/officeDocument/2006/relationships/notesMaster" Target="/ppt/notesMasters/notesMaster1.xml" Id="R7f796c501f7b45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5627094b2f4e5a" /><Relationship Type="http://schemas.openxmlformats.org/officeDocument/2006/relationships/notesMaster" Target="/ppt/notesMasters/notesMaster1.xml" Id="Rc8382e3ab9c34d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https://github.com/Xpounder-com/hormuz/blob/main/docs/ARCHITECTURE.md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https://github.com/Xpounder-com/hormuz/blob/main/docs/AUDIT.md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https://usehormuz.github.io/demo/</a:t>
            </a:r>
          </a:p>
          <a:p xmlns:a="http://schemas.openxmlformats.org/drawingml/2006/main">
            <a:r>
              <a:t>https://github.com/Xpounder-com/hormuz/blob/main/hormuz/demo.py</a:t>
            </a:r>
          </a:p>
          <a:p xmlns:a="http://schemas.openxmlformats.org/drawingml/2006/main">
            <a:r>
              <a:t>https://github.com/Xpounder-com/hormuz/blob/main/website/public/demo/gateway.json</a:t>
            </a:r>
          </a:p>
          <a:p xmlns:a="http://schemas.openxmlformats.org/drawingml/2006/main">
            <a:r>
              <a:t>https://github.com/Xpounder-com/hormuz/blob/main/website/public/demo/synthetic-evidence.jsonl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https://github.com/Xpounder-com/hormuz/blob/main/website/lib/pricing.json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https://github.com/Xpounder-com/hormuz/blob/main/marketing/COMMERCIAL_SETUP.md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https://github.com/Xpounder-com/hormuz/blob/main/SUPPORT.md</a:t>
            </a:r>
          </a:p>
          <a:p xmlns:a="http://schemas.openxmlformats.org/drawingml/2006/main">
            <a:r>
              <a:t>https://github.com/Xpounder-com/hormuz/blob/main/docs/OIDC.md</a:t>
            </a:r>
          </a:p>
          <a:p xmlns:a="http://schemas.openxmlformats.org/drawingml/2006/main">
            <a:r>
              <a:t>https://github.com/Xpounder-com/hormuz/blob/main/docs/SECRET_CONTROLS.md</a:t>
            </a:r>
          </a:p>
          <a:p xmlns:a="http://schemas.openxmlformats.org/drawingml/2006/main">
            <a:r>
              <a:t>https://github.com/Xpounder-com/hormuz/blob/main/docs/USAGE.md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https://github.com/Xpounder-com/hormuz/blob/main/website/lib/pricing.json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https://usehormuz.github.io/enterprise/#reserve</a:t>
            </a:r>
          </a:p>
          <a:p xmlns:a="http://schemas.openxmlformats.org/drawingml/2006/main">
            <a:r>
              <a:t>https://github.com/Xpounder-com/hormuz/blob/main/marketing/COMMERCIAL_SETUP.md</a:t>
            </a:r>
          </a:p>
          <a:p xmlns:a="http://schemas.openxmlformats.org/drawingml/2006/main">
            <a:r>
              <a:t>https://github.com/Xpounder-com/hormuz/blob/main/website/lib/pricing.json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ae451c951241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f177bbb94840e3" /><Relationship Type="http://schemas.openxmlformats.org/officeDocument/2006/relationships/slideLayout" Target="/ppt/slideLayouts/slideLayout1.xml" Id="R203f9af60af347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3f9af60af347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35ed00f194032" /><Relationship Type="http://schemas.openxmlformats.org/officeDocument/2006/relationships/image" Target="/ppt/media/image.png" Id="R5ef8b9b223f6467c" /><Relationship Type="http://schemas.openxmlformats.org/officeDocument/2006/relationships/image" Target="/ppt/media/image.svg" Id="R92dc053995fe4b6d" /><Relationship Type="http://schemas.openxmlformats.org/officeDocument/2006/relationships/notesSlide" Target="/ppt/notesSlides/notesSlide1.xml" Id="Reeca0d802c6e45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06b35474c43da" /><Relationship Type="http://schemas.openxmlformats.org/officeDocument/2006/relationships/image" Target="/ppt/media/image2.png" Id="R01d49547d30c499f" /><Relationship Type="http://schemas.openxmlformats.org/officeDocument/2006/relationships/image" Target="/ppt/media/image2.svg" Id="R8b288eb11a6d4b53" /><Relationship Type="http://schemas.openxmlformats.org/officeDocument/2006/relationships/notesSlide" Target="/ppt/notesSlides/notesSlide2.xml" Id="R016eccbd8c32426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0ef8fe878407d" /><Relationship Type="http://schemas.openxmlformats.org/officeDocument/2006/relationships/image" Target="/ppt/media/image3.png" Id="R575c64acb2fc49aa" /><Relationship Type="http://schemas.openxmlformats.org/officeDocument/2006/relationships/image" Target="/ppt/media/image3.svg" Id="R97446797cdb34e4c" /><Relationship Type="http://schemas.openxmlformats.org/officeDocument/2006/relationships/notesSlide" Target="/ppt/notesSlides/notesSlide3.xml" Id="Rb673605d5c0843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ed85d5b144d79" /><Relationship Type="http://schemas.openxmlformats.org/officeDocument/2006/relationships/image" Target="/ppt/media/image4.png" Id="R16ce21a2165f4896" /><Relationship Type="http://schemas.openxmlformats.org/officeDocument/2006/relationships/image" Target="/ppt/media/image4.svg" Id="Rbe0e7925324f4fe5" /><Relationship Type="http://schemas.openxmlformats.org/officeDocument/2006/relationships/notesSlide" Target="/ppt/notesSlides/notesSlide4.xml" Id="R1fc5a4eb15a6422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c3dae076324ad3" /><Relationship Type="http://schemas.openxmlformats.org/officeDocument/2006/relationships/image" Target="/ppt/media/image5.png" Id="R0abff329ab1f4658" /><Relationship Type="http://schemas.openxmlformats.org/officeDocument/2006/relationships/image" Target="/ppt/media/image5.svg" Id="Re65eb689b8a54be4" /><Relationship Type="http://schemas.openxmlformats.org/officeDocument/2006/relationships/notesSlide" Target="/ppt/notesSlides/notesSlide5.xml" Id="R04ab55bb789c45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ea7e90add4426f" /><Relationship Type="http://schemas.openxmlformats.org/officeDocument/2006/relationships/image" Target="/ppt/media/image6.png" Id="R851fc6bb1d2d45c4" /><Relationship Type="http://schemas.openxmlformats.org/officeDocument/2006/relationships/image" Target="/ppt/media/image6.svg" Id="R0677e98db7d04f4d" /><Relationship Type="http://schemas.openxmlformats.org/officeDocument/2006/relationships/notesSlide" Target="/ppt/notesSlides/notesSlide6.xml" Id="R080b0547a972461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b1308aa604250" /><Relationship Type="http://schemas.openxmlformats.org/officeDocument/2006/relationships/image" Target="/ppt/media/image7.png" Id="Ra06372b21dfe4300" /><Relationship Type="http://schemas.openxmlformats.org/officeDocument/2006/relationships/image" Target="/ppt/media/image7.svg" Id="R0e65d6f019794288" /><Relationship Type="http://schemas.openxmlformats.org/officeDocument/2006/relationships/notesSlide" Target="/ppt/notesSlides/notesSlide7.xml" Id="R166774a2d32b44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f8b9b223f6467c">
            <a:extLst>
              <a:ext uri="{96DAC541-7B7A-43D3-8B79-37D633B846F1}">
                <asvg:svgBlip xmlns:asvg="http://schemas.microsoft.com/office/drawing/2016/SVG/main" r:embed="R92dc053995fe4b6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02AA5C3-8ED7-4C01-AAB2-C9E17F02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SOFTWARE + CLOUD + APPLIANCES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113299C-39EF-4111-92EB-7B71C3EB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October 2026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A5F7304-E58C-41CC-8D24-BDDF2BD6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01 / 07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E3E0004-2A72-4019-88E7-D9C110C0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58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Give your team AI.</a:t>
            </a:r>
          </a:p>
          <a:p xmlns:a="http://schemas.openxmlformats.org/drawingml/2006/main">
            <a:pPr>
              <a:defRPr sz="57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Keep control.</a:t>
            </a:r>
          </a:p>
        </p:txBody>
      </p:sp>
      <p:sp>
        <p:nvSpPr>
          <p:cNvPr id="6" name="cover-summary">
            <a:extLst xmlns:a="http://schemas.openxmlformats.org/drawingml/2006/main">
              <a:ext uri="{FF2B5EF4-FFF2-40B4-BE49-F238E27FC236}">
                <a16:creationId xmlns:a16="http://schemas.microsoft.com/office/drawing/2014/main" id="{9F50E056-FE94-433B-A161-4AA5A360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10572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Self-hosted policy, budgets, secret controls,</a:t>
            </a:r>
          </a:p>
          <a:p xmlns:a="http://schemas.openxmlformats.org/drawingml/2006/main">
            <a:pPr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and metadata-only evidence for Codex and Claude Code.</a:t>
            </a:r>
          </a:p>
        </p:txBody>
      </p:sp>
      <p:sp>
        <p:nvSpPr>
          <p:cNvPr id="7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691E3739-D62E-4365-A22D-9B0AC011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435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Apache-2.0 core  •  v1.3.0 source release</a:t>
            </a:r>
          </a:p>
        </p:txBody>
      </p:sp>
    </p:spTree>
    <p:extLst>
      <p:ext uri="{BB962C8B-B14F-4D97-AF65-F5344CB8AC3E}">
        <p14:creationId xmlns:p14="http://schemas.microsoft.com/office/powerpoint/2010/main" val="13907836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d49547d30c499f">
            <a:extLst>
              <a:ext uri="{96DAC541-7B7A-43D3-8B79-37D633B846F1}">
                <asvg:svgBlip xmlns:asvg="http://schemas.microsoft.com/office/drawing/2016/SVG/main" r:embed="R8b288eb11a6d4b5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4433BC0-FA42-47BE-9EE4-B8977041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THE CONTROL POINT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86085AA9-AFFE-4F2B-BDA3-80E65F39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Put policy in the model-request path.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B4B2D09D-FA0C-45EF-B92D-C66DBD61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October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4B7780D-0F90-47EB-9CC2-104B6A13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02 / 07</a:t>
            </a:r>
          </a:p>
        </p:txBody>
      </p:sp>
      <p:sp>
        <p:nvSpPr>
          <p:cNvPr id="6" name="arrow-one">
            <a:extLst xmlns:a="http://schemas.openxmlformats.org/drawingml/2006/main">
              <a:ext uri="{FF2B5EF4-FFF2-40B4-BE49-F238E27FC236}">
                <a16:creationId xmlns:a16="http://schemas.microsoft.com/office/drawing/2014/main" id="{D06B6E4F-FF07-4585-8431-4CE15B4E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31684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arrow-two">
            <a:extLst xmlns:a="http://schemas.openxmlformats.org/drawingml/2006/main">
              <a:ext uri="{FF2B5EF4-FFF2-40B4-BE49-F238E27FC236}">
                <a16:creationId xmlns:a16="http://schemas.microsoft.com/office/drawing/2014/main" id="{DE417CC8-F164-42F5-9C2A-ED588974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31684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EMPLOYEE CLIENT">
            <a:extLst xmlns:a="http://schemas.openxmlformats.org/drawingml/2006/main">
              <a:ext uri="{FF2B5EF4-FFF2-40B4-BE49-F238E27FC236}">
                <a16:creationId xmlns:a16="http://schemas.microsoft.com/office/drawing/2014/main" id="{20824F10-B152-48AF-BCE0-E2B23215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2857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9" name="EMPLOYEE CLIENT-title">
            <a:extLst xmlns:a="http://schemas.openxmlformats.org/drawingml/2006/main">
              <a:ext uri="{FF2B5EF4-FFF2-40B4-BE49-F238E27FC236}">
                <a16:creationId xmlns:a16="http://schemas.microsoft.com/office/drawing/2014/main" id="{98AA78CD-9920-4B81-9DBD-F31689B6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EMPLOYEE CLIENT</a:t>
            </a:r>
          </a:p>
        </p:txBody>
      </p:sp>
      <p:sp>
        <p:nvSpPr>
          <p:cNvPr id="10" name="EMPLOYEE CLIENT-body">
            <a:extLst xmlns:a="http://schemas.openxmlformats.org/drawingml/2006/main">
              <a:ext uri="{FF2B5EF4-FFF2-40B4-BE49-F238E27FC236}">
                <a16:creationId xmlns:a16="http://schemas.microsoft.com/office/drawing/2014/main" id="{0F6F51C4-C5D2-484C-B6ED-7A3F5FE0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Codex / Claude Code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Unique Hormuz identity</a:t>
            </a:r>
          </a:p>
        </p:txBody>
      </p:sp>
      <p:sp>
        <p:nvSpPr>
          <p:cNvPr id="11" name="HORMUZ">
            <a:extLst xmlns:a="http://schemas.openxmlformats.org/drawingml/2006/main">
              <a:ext uri="{FF2B5EF4-FFF2-40B4-BE49-F238E27FC236}">
                <a16:creationId xmlns:a16="http://schemas.microsoft.com/office/drawing/2014/main" id="{4FCD0765-7DBD-413B-97F2-7917D5CF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00325"/>
            <a:ext cx="3238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12" name="HORMUZ-title">
            <a:extLst xmlns:a="http://schemas.openxmlformats.org/drawingml/2006/main">
              <a:ext uri="{FF2B5EF4-FFF2-40B4-BE49-F238E27FC236}">
                <a16:creationId xmlns:a16="http://schemas.microsoft.com/office/drawing/2014/main" id="{7AD0486E-87B5-40EF-A1F5-44FF0C67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194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HORMUZ</a:t>
            </a:r>
          </a:p>
        </p:txBody>
      </p:sp>
      <p:sp>
        <p:nvSpPr>
          <p:cNvPr id="13" name="HORMUZ-body">
            <a:extLst xmlns:a="http://schemas.openxmlformats.org/drawingml/2006/main">
              <a:ext uri="{FF2B5EF4-FFF2-40B4-BE49-F238E27FC236}">
                <a16:creationId xmlns:a16="http://schemas.microsoft.com/office/drawing/2014/main" id="{9ACD0E28-15B5-4F26-8DC2-BABE2A855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Identity + policy + secrets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Budget before egress</a:t>
            </a:r>
          </a:p>
        </p:txBody>
      </p:sp>
      <p:sp>
        <p:nvSpPr>
          <p:cNvPr id="14" name="MODEL PROVIDER">
            <a:extLst xmlns:a="http://schemas.openxmlformats.org/drawingml/2006/main">
              <a:ext uri="{FF2B5EF4-FFF2-40B4-BE49-F238E27FC236}">
                <a16:creationId xmlns:a16="http://schemas.microsoft.com/office/drawing/2014/main" id="{88CD211C-3979-44E1-8D8D-B437B238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00325"/>
            <a:ext cx="3086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15" name="MODEL PROVIDER-title">
            <a:extLst xmlns:a="http://schemas.openxmlformats.org/drawingml/2006/main">
              <a:ext uri="{FF2B5EF4-FFF2-40B4-BE49-F238E27FC236}">
                <a16:creationId xmlns:a16="http://schemas.microsoft.com/office/drawing/2014/main" id="{1561D33B-B3D4-48BE-83E8-ED19A847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1940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MODEL PROVIDER</a:t>
            </a:r>
          </a:p>
        </p:txBody>
      </p:sp>
      <p:sp>
        <p:nvSpPr>
          <p:cNvPr id="16" name="MODEL PROVIDER-body">
            <a:extLst xmlns:a="http://schemas.openxmlformats.org/drawingml/2006/main">
              <a:ext uri="{FF2B5EF4-FFF2-40B4-BE49-F238E27FC236}">
                <a16:creationId xmlns:a16="http://schemas.microsoft.com/office/drawing/2014/main" id="{BF2B350F-B695-41BE-914F-88AEDA43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71850"/>
            <a:ext cx="270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Company account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Server-side provider key</a:t>
            </a:r>
          </a:p>
        </p:txBody>
      </p:sp>
      <p:sp>
        <p:nvSpPr>
          <p:cNvPr id="17" name="metadata">
            <a:extLst xmlns:a="http://schemas.openxmlformats.org/drawingml/2006/main">
              <a:ext uri="{FF2B5EF4-FFF2-40B4-BE49-F238E27FC236}">
                <a16:creationId xmlns:a16="http://schemas.microsoft.com/office/drawing/2014/main" id="{9B414F0C-3A4C-4AF1-9E71-3DD686FA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Retain the control record, not the conversation.</a:t>
            </a:r>
          </a:p>
        </p:txBody>
      </p:sp>
      <p:sp>
        <p:nvSpPr>
          <p:cNvPr id="18" name="boundary">
            <a:extLst xmlns:a="http://schemas.openxmlformats.org/drawingml/2006/main">
              <a:ext uri="{FF2B5EF4-FFF2-40B4-BE49-F238E27FC236}">
                <a16:creationId xmlns:a16="http://schemas.microsoft.com/office/drawing/2014/main" id="{089E824A-DD0C-4209-B3AC-7BEC2670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Allowed content still reaches the provider. Bypassed requests and client-side shell, MCP, Git, or browser activity are outside Hormuz’s coverage.</a:t>
            </a:r>
          </a:p>
        </p:txBody>
      </p:sp>
    </p:spTree>
    <p:extLst>
      <p:ext uri="{BB962C8B-B14F-4D97-AF65-F5344CB8AC3E}">
        <p14:creationId xmlns:p14="http://schemas.microsoft.com/office/powerpoint/2010/main" val="3464027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5c64acb2fc49aa">
            <a:extLst>
              <a:ext uri="{96DAC541-7B7A-43D3-8B79-37D633B846F1}">
                <asvg:svgBlip xmlns:asvg="http://schemas.microsoft.com/office/drawing/2016/SVG/main" r:embed="R97446797cdb34e4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4E2399B-9C86-4F9A-A212-D86370DC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INSPECT THE PROOF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9BAC6F8B-47BB-4E48-8438-7543EC28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A real demo. Synthetic inputs.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982CACE6-1A4F-4FF2-9943-5278E0D0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October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8587AF5-BD1D-4756-AAED-2AC8CA28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03 / 07</a:t>
            </a:r>
          </a:p>
        </p:txBody>
      </p:sp>
      <p:sp>
        <p:nvSpPr>
          <p:cNvPr id="6" name="zero">
            <a:extLst xmlns:a="http://schemas.openxmlformats.org/drawingml/2006/main">
              <a:ext uri="{FF2B5EF4-FFF2-40B4-BE49-F238E27FC236}">
                <a16:creationId xmlns:a16="http://schemas.microsoft.com/office/drawing/2014/main" id="{00F2A5CE-8D86-4D6C-A000-29502683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20955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0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0500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" name="zero-label">
            <a:extLst xmlns:a="http://schemas.openxmlformats.org/drawingml/2006/main">
              <a:ext uri="{FF2B5EF4-FFF2-40B4-BE49-F238E27FC236}">
                <a16:creationId xmlns:a16="http://schemas.microsoft.com/office/drawing/2014/main" id="{9247A616-8307-4654-9CF2-E9F2CF01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external provider calls</a:t>
            </a:r>
          </a:p>
        </p:txBody>
      </p:sp>
      <p:sp>
        <p:nvSpPr>
          <p:cNvPr id="8" name="checks">
            <a:extLst xmlns:a="http://schemas.openxmlformats.org/drawingml/2006/main">
              <a:ext uri="{FF2B5EF4-FFF2-40B4-BE49-F238E27FC236}">
                <a16:creationId xmlns:a16="http://schemas.microsoft.com/office/drawing/2014/main" id="{FF674B84-2F53-4C6B-BCCF-C54C69AD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33650"/>
            <a:ext cx="67056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Allow an approved request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Reroute and cap an unapproved model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Redact a detected secret before egress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Deny without an upstream call</a:t>
            </a:r>
          </a:p>
        </p:txBody>
      </p:sp>
      <p:sp>
        <p:nvSpPr>
          <p:cNvPr id="9" name="proof-boundary">
            <a:extLst xmlns:a="http://schemas.openxmlformats.org/drawingml/2006/main">
              <a:ext uri="{FF2B5EF4-FFF2-40B4-BE49-F238E27FC236}">
                <a16:creationId xmlns:a16="http://schemas.microsoft.com/office/drawing/2014/main" id="{11858B28-ED35-4C81-BC3C-990027F6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Four usage events + one secret-control event. Download the real recording and a schema-checked synthetic export. Not a benchmark, customer case study, or independent-user result.</a:t>
            </a:r>
          </a:p>
        </p:txBody>
      </p:sp>
    </p:spTree>
    <p:extLst>
      <p:ext uri="{BB962C8B-B14F-4D97-AF65-F5344CB8AC3E}">
        <p14:creationId xmlns:p14="http://schemas.microsoft.com/office/powerpoint/2010/main" val="12116045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ce21a2165f4896">
            <a:extLst>
              <a:ext uri="{96DAC541-7B7A-43D3-8B79-37D633B846F1}">
                <asvg:svgBlip xmlns:asvg="http://schemas.microsoft.com/office/drawing/2016/SVG/main" r:embed="Rbe0e7925324f4fe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FA53FB8-868C-4C5B-B163-62873CB0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SOFTWARE, CLOUD, AND HARDWARE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081BC764-40DF-44A2-A19C-0F16BE69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One clear price catalog.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5EE6C074-A5A1-4AE0-9A62-8E753ECE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October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FA19EB6-B5E4-46FE-B35E-F19AAE55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04 / 07</a:t>
            </a:r>
          </a:p>
        </p:txBody>
      </p:sp>
      <p:sp>
        <p:nvSpPr>
          <p:cNvPr id="6" name="offer-0">
            <a:extLst xmlns:a="http://schemas.openxmlformats.org/drawingml/2006/main">
              <a:ext uri="{FF2B5EF4-FFF2-40B4-BE49-F238E27FC236}">
                <a16:creationId xmlns:a16="http://schemas.microsoft.com/office/drawing/2014/main" id="{622DA30A-F7CA-4DA9-B31D-D3521322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478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Software</a:t>
            </a:r>
          </a:p>
        </p:txBody>
      </p:sp>
      <p:sp>
        <p:nvSpPr>
          <p:cNvPr id="7" name="price-0">
            <a:extLst xmlns:a="http://schemas.openxmlformats.org/drawingml/2006/main">
              <a:ext uri="{FF2B5EF4-FFF2-40B4-BE49-F238E27FC236}">
                <a16:creationId xmlns:a16="http://schemas.microsoft.com/office/drawing/2014/main" id="{A1BCB888-20B0-4D46-88AE-C1BDBAB9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4765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$0</a:t>
            </a:r>
          </a:p>
        </p:txBody>
      </p:sp>
      <p:sp>
        <p:nvSpPr>
          <p:cNvPr id="8" name="unit-0">
            <a:extLst xmlns:a="http://schemas.openxmlformats.org/drawingml/2006/main">
              <a:ext uri="{FF2B5EF4-FFF2-40B4-BE49-F238E27FC236}">
                <a16:creationId xmlns:a16="http://schemas.microsoft.com/office/drawing/2014/main" id="{665B286B-0432-4F62-ADA0-F0EE31B6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76500"/>
            <a:ext cx="3486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Apache-2.0 software</a:t>
            </a:r>
          </a:p>
        </p:txBody>
      </p:sp>
      <p:sp>
        <p:nvSpPr>
          <p:cNvPr id="9" name="offer-1">
            <a:extLst xmlns:a="http://schemas.openxmlformats.org/drawingml/2006/main">
              <a:ext uri="{FF2B5EF4-FFF2-40B4-BE49-F238E27FC236}">
                <a16:creationId xmlns:a16="http://schemas.microsoft.com/office/drawing/2014/main" id="{E545D29B-1981-40CC-9435-D2A3AEAB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478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Cloud</a:t>
            </a:r>
          </a:p>
        </p:txBody>
      </p:sp>
      <p:sp>
        <p:nvSpPr>
          <p:cNvPr id="10" name="price-1">
            <a:extLst xmlns:a="http://schemas.openxmlformats.org/drawingml/2006/main">
              <a:ext uri="{FF2B5EF4-FFF2-40B4-BE49-F238E27FC236}">
                <a16:creationId xmlns:a16="http://schemas.microsoft.com/office/drawing/2014/main" id="{CA5762FB-E7D1-4361-A340-AB28F887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480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$49.99</a:t>
            </a:r>
          </a:p>
        </p:txBody>
      </p:sp>
      <p:sp>
        <p:nvSpPr>
          <p:cNvPr id="11" name="unit-1">
            <a:extLst xmlns:a="http://schemas.openxmlformats.org/drawingml/2006/main">
              <a:ext uri="{FF2B5EF4-FFF2-40B4-BE49-F238E27FC236}">
                <a16:creationId xmlns:a16="http://schemas.microsoft.com/office/drawing/2014/main" id="{50509973-4C7E-476F-B853-7BDDEC58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48000"/>
            <a:ext cx="3486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Per workspace / month</a:t>
            </a:r>
          </a:p>
        </p:txBody>
      </p:sp>
      <p:sp>
        <p:nvSpPr>
          <p:cNvPr id="12" name="offer-2">
            <a:extLst xmlns:a="http://schemas.openxmlformats.org/drawingml/2006/main">
              <a:ext uri="{FF2B5EF4-FFF2-40B4-BE49-F238E27FC236}">
                <a16:creationId xmlns:a16="http://schemas.microsoft.com/office/drawing/2014/main" id="{155F315F-120F-4042-B2B7-41BD28C5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478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Appliance</a:t>
            </a:r>
          </a:p>
        </p:txBody>
      </p:sp>
      <p:sp>
        <p:nvSpPr>
          <p:cNvPr id="13" name="price-2">
            <a:extLst xmlns:a="http://schemas.openxmlformats.org/drawingml/2006/main">
              <a:ext uri="{FF2B5EF4-FFF2-40B4-BE49-F238E27FC236}">
                <a16:creationId xmlns:a16="http://schemas.microsoft.com/office/drawing/2014/main" id="{8CC8ECE2-2CAE-4799-9BF9-5EF15A93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6195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$999</a:t>
            </a:r>
          </a:p>
        </p:txBody>
      </p:sp>
      <p:sp>
        <p:nvSpPr>
          <p:cNvPr id="14" name="unit-2">
            <a:extLst xmlns:a="http://schemas.openxmlformats.org/drawingml/2006/main">
              <a:ext uri="{FF2B5EF4-FFF2-40B4-BE49-F238E27FC236}">
                <a16:creationId xmlns:a16="http://schemas.microsoft.com/office/drawing/2014/main" id="{04140F95-D766-4AE2-BBC3-F5322A50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19500"/>
            <a:ext cx="3486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Per appliance / one time / SSD included</a:t>
            </a:r>
          </a:p>
        </p:txBody>
      </p:sp>
      <p:sp>
        <p:nvSpPr>
          <p:cNvPr id="15" name="offer-3">
            <a:extLst xmlns:a="http://schemas.openxmlformats.org/drawingml/2006/main">
              <a:ext uri="{FF2B5EF4-FFF2-40B4-BE49-F238E27FC236}">
                <a16:creationId xmlns:a16="http://schemas.microsoft.com/office/drawing/2014/main" id="{831DAD55-7E6E-4BB2-88CD-D288C9B1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478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Appliance + scoped onboarding</a:t>
            </a:r>
          </a:p>
        </p:txBody>
      </p:sp>
      <p:sp>
        <p:nvSpPr>
          <p:cNvPr id="16" name="price-3">
            <a:extLst xmlns:a="http://schemas.openxmlformats.org/drawingml/2006/main">
              <a:ext uri="{FF2B5EF4-FFF2-40B4-BE49-F238E27FC236}">
                <a16:creationId xmlns:a16="http://schemas.microsoft.com/office/drawing/2014/main" id="{B18B3E3B-9564-42EE-BEB1-07CE6CBE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1910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$1,499</a:t>
            </a:r>
          </a:p>
        </p:txBody>
      </p:sp>
      <p:sp>
        <p:nvSpPr>
          <p:cNvPr id="17" name="unit-3">
            <a:extLst xmlns:a="http://schemas.openxmlformats.org/drawingml/2006/main">
              <a:ext uri="{FF2B5EF4-FFF2-40B4-BE49-F238E27FC236}">
                <a16:creationId xmlns:a16="http://schemas.microsoft.com/office/drawing/2014/main" id="{56D866B2-6D93-48CE-8853-946A83DD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91000"/>
            <a:ext cx="3486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Per appliance / one time / SSD included</a:t>
            </a:r>
          </a:p>
        </p:txBody>
      </p:sp>
      <p:sp>
        <p:nvSpPr>
          <p:cNvPr id="18" name="offer-4">
            <a:extLst xmlns:a="http://schemas.openxmlformats.org/drawingml/2006/main">
              <a:ext uri="{FF2B5EF4-FFF2-40B4-BE49-F238E27FC236}">
                <a16:creationId xmlns:a16="http://schemas.microsoft.com/office/drawing/2014/main" id="{38FEA8CE-40C0-4910-B814-CEE7C939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478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Managed site</a:t>
            </a:r>
          </a:p>
        </p:txBody>
      </p:sp>
      <p:sp>
        <p:nvSpPr>
          <p:cNvPr id="19" name="price-4">
            <a:extLst xmlns:a="http://schemas.openxmlformats.org/drawingml/2006/main">
              <a:ext uri="{FF2B5EF4-FFF2-40B4-BE49-F238E27FC236}">
                <a16:creationId xmlns:a16="http://schemas.microsoft.com/office/drawing/2014/main" id="{CD1BDF38-89BC-493A-BC34-BE767D4C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625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$499</a:t>
            </a:r>
          </a:p>
        </p:txBody>
      </p:sp>
      <p:sp>
        <p:nvSpPr>
          <p:cNvPr id="20" name="unit-4">
            <a:extLst xmlns:a="http://schemas.openxmlformats.org/drawingml/2006/main">
              <a:ext uri="{FF2B5EF4-FFF2-40B4-BE49-F238E27FC236}">
                <a16:creationId xmlns:a16="http://schemas.microsoft.com/office/drawing/2014/main" id="{1C1C9257-40D8-4639-BADB-A8896BC2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62500"/>
            <a:ext cx="3486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Per site / month / Cloud included</a:t>
            </a:r>
          </a:p>
        </p:txBody>
      </p:sp>
      <p:sp>
        <p:nvSpPr>
          <p:cNvPr id="21" name="price-scope">
            <a:extLst xmlns:a="http://schemas.openxmlformats.org/drawingml/2006/main">
              <a:ext uri="{FF2B5EF4-FFF2-40B4-BE49-F238E27FC236}">
                <a16:creationId xmlns:a16="http://schemas.microsoft.com/office/drawing/2014/main" id="{123AF6E2-8F3B-4967-8B85-71D60049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Managed site: 1 support hour/month; response within 2 business days.</a:t>
            </a:r>
          </a:p>
          <a:p xmlns:a="http://schemas.openxmlformats.org/drawingml/2006/main">
            <a:pPr>
              <a:defRPr sz="172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USD. Provider usage, customer infrastructure, and applicable taxes are separate.</a:t>
            </a:r>
          </a:p>
        </p:txBody>
      </p:sp>
    </p:spTree>
    <p:extLst>
      <p:ext uri="{BB962C8B-B14F-4D97-AF65-F5344CB8AC3E}">
        <p14:creationId xmlns:p14="http://schemas.microsoft.com/office/powerpoint/2010/main" val="21402281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bff329ab1f4658">
            <a:extLst>
              <a:ext uri="{96DAC541-7B7A-43D3-8B79-37D633B846F1}">
                <asvg:svgBlip xmlns:asvg="http://schemas.microsoft.com/office/drawing/2016/SVG/main" r:embed="Re65eb689b8a54b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ED5D459-0CB1-401A-8718-94D9F7B56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MATURITY AND RESPONSIBILITY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18D57D75-5504-43BD-A0AC-FDB9E96A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Stable contracts are not certification.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ED4FB77F-41BE-4539-B2F7-CF9F7C75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October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2C7BB00-B1C8-408C-8921-ECB6F0FE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05 / 07</a:t>
            </a:r>
          </a:p>
        </p:txBody>
      </p:sp>
      <p:sp>
        <p:nvSpPr>
          <p:cNvPr id="6" name="release">
            <a:extLst xmlns:a="http://schemas.openxmlformats.org/drawingml/2006/main">
              <a:ext uri="{FF2B5EF4-FFF2-40B4-BE49-F238E27FC236}">
                <a16:creationId xmlns:a16="http://schemas.microsoft.com/office/drawing/2014/main" id="{79F7088D-E81A-4AD8-AE2A-0BF2A050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v1.3.0 source + Apple Silicon app</a:t>
            </a:r>
          </a:p>
        </p:txBody>
      </p:sp>
      <p:sp>
        <p:nvSpPr>
          <p:cNvPr id="7" name="oci">
            <a:extLst xmlns:a="http://schemas.openxmlformats.org/drawingml/2006/main">
              <a:ext uri="{FF2B5EF4-FFF2-40B4-BE49-F238E27FC236}">
                <a16:creationId xmlns:a16="http://schemas.microsoft.com/office/drawing/2014/main" id="{1568A5E8-7801-47AC-A893-2BBF9FBC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Personal Optimizer: macOS 14+ on Apple Silicon. Signed OCI: v1.3.0 linux/amd64.</a:t>
            </a:r>
          </a:p>
        </p:txBody>
      </p:sp>
      <p:sp>
        <p:nvSpPr>
          <p:cNvPr id="8" name="operators">
            <a:extLst xmlns:a="http://schemas.openxmlformats.org/drawingml/2006/main">
              <a:ext uri="{FF2B5EF4-FFF2-40B4-BE49-F238E27FC236}">
                <a16:creationId xmlns:a16="http://schemas.microsoft.com/office/drawing/2014/main" id="{C7F93810-9EB2-4482-BAAC-93E3670C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You still qualify TLS, custody, retention, backups, recovery, availability, access controls, and independent security review in your environment.</a:t>
            </a:r>
          </a:p>
        </p:txBody>
      </p:sp>
      <p:sp>
        <p:nvSpPr>
          <p:cNvPr id="9" name="nonclaims">
            <a:extLst xmlns:a="http://schemas.openxmlformats.org/drawingml/2006/main">
              <a:ext uri="{FF2B5EF4-FFF2-40B4-BE49-F238E27FC236}">
                <a16:creationId xmlns:a16="http://schemas.microsoft.com/office/drawing/2014/main" id="{A096FEFA-0591-49EF-BE89-1BC5A822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Not claimed: complete semantic DLP, per-inference human approval, reconciled provider invoices, qualified ARM64 appliance delivery, generally available Cloud, or a 24/7 SLA.</a:t>
            </a:r>
          </a:p>
        </p:txBody>
      </p:sp>
    </p:spTree>
    <p:extLst>
      <p:ext uri="{BB962C8B-B14F-4D97-AF65-F5344CB8AC3E}">
        <p14:creationId xmlns:p14="http://schemas.microsoft.com/office/powerpoint/2010/main" val="13527226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fc6bb1d2d45c4">
            <a:extLst>
              <a:ext uri="{96DAC541-7B7A-43D3-8B79-37D633B846F1}">
                <asvg:svgBlip xmlns:asvg="http://schemas.microsoft.com/office/drawing/2016/SVG/main" r:embed="R0677e98db7d04f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91FE544-D586-45F1-964F-35553C22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SCOPED APPLIANCE ONBOARDING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7A0A59F5-B2E9-473D-AA12-AC28A13A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One appliance. One supported workflow.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3F29AB1C-8980-4E9F-90FD-4A585B5F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October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782A77B-2BF8-4BF6-B1A1-137C86A1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06 / 07</a:t>
            </a:r>
          </a:p>
        </p:txBody>
      </p:sp>
      <p:sp>
        <p:nvSpPr>
          <p:cNvPr id="6" name="phase-01">
            <a:extLst xmlns:a="http://schemas.openxmlformats.org/drawingml/2006/main">
              <a:ext uri="{FF2B5EF4-FFF2-40B4-BE49-F238E27FC236}">
                <a16:creationId xmlns:a16="http://schemas.microsoft.com/office/drawing/2014/main" id="{B0147371-FBE6-4979-861D-5A8C21E0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hase-title-01">
            <a:extLst xmlns:a="http://schemas.openxmlformats.org/drawingml/2006/main">
              <a:ext uri="{FF2B5EF4-FFF2-40B4-BE49-F238E27FC236}">
                <a16:creationId xmlns:a16="http://schemas.microsoft.com/office/drawing/2014/main" id="{7544B827-1F6D-4A72-8707-BDC119E8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431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Prepare</a:t>
            </a:r>
          </a:p>
        </p:txBody>
      </p:sp>
      <p:sp>
        <p:nvSpPr>
          <p:cNvPr id="8" name="phase-body-01">
            <a:extLst xmlns:a="http://schemas.openxmlformats.org/drawingml/2006/main">
              <a:ext uri="{FF2B5EF4-FFF2-40B4-BE49-F238E27FC236}">
                <a16:creationId xmlns:a16="http://schemas.microsoft.com/office/drawing/2014/main" id="{36CF8464-A8BA-4EFA-AB86-2CA29705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0194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Named operator, ready network, provider account, and acceptance scope.</a:t>
            </a:r>
          </a:p>
        </p:txBody>
      </p:sp>
      <p:sp>
        <p:nvSpPr>
          <p:cNvPr id="9" name="phase-02">
            <a:extLst xmlns:a="http://schemas.openxmlformats.org/drawingml/2006/main">
              <a:ext uri="{FF2B5EF4-FFF2-40B4-BE49-F238E27FC236}">
                <a16:creationId xmlns:a16="http://schemas.microsoft.com/office/drawing/2014/main" id="{72942C62-8B36-4712-BC7E-469918F14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phase-title-02">
            <a:extLst xmlns:a="http://schemas.openxmlformats.org/drawingml/2006/main">
              <a:ext uri="{FF2B5EF4-FFF2-40B4-BE49-F238E27FC236}">
                <a16:creationId xmlns:a16="http://schemas.microsoft.com/office/drawing/2014/main" id="{048F132C-D8AE-4692-9712-2CF8C24D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6099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Connect</a:t>
            </a:r>
          </a:p>
        </p:txBody>
      </p:sp>
      <p:sp>
        <p:nvSpPr>
          <p:cNvPr id="11" name="phase-body-02">
            <a:extLst xmlns:a="http://schemas.openxmlformats.org/drawingml/2006/main">
              <a:ext uri="{FF2B5EF4-FFF2-40B4-BE49-F238E27FC236}">
                <a16:creationId xmlns:a16="http://schemas.microsoft.com/office/drawing/2014/main" id="{60AD1CE9-3840-4963-B4AB-130702EA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862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One provider, one supported application, and initial policies.</a:t>
            </a:r>
          </a:p>
        </p:txBody>
      </p:sp>
      <p:sp>
        <p:nvSpPr>
          <p:cNvPr id="12" name="phase-03">
            <a:extLst xmlns:a="http://schemas.openxmlformats.org/drawingml/2006/main">
              <a:ext uri="{FF2B5EF4-FFF2-40B4-BE49-F238E27FC236}">
                <a16:creationId xmlns:a16="http://schemas.microsoft.com/office/drawing/2014/main" id="{B3BE7B07-903D-413D-88F2-FBF18400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phase-title-03">
            <a:extLst xmlns:a="http://schemas.openxmlformats.org/drawingml/2006/main">
              <a:ext uri="{FF2B5EF4-FFF2-40B4-BE49-F238E27FC236}">
                <a16:creationId xmlns:a16="http://schemas.microsoft.com/office/drawing/2014/main" id="{4D1A26A6-7FCE-47D5-8E49-7B050441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767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Verify and hand over</a:t>
            </a:r>
          </a:p>
        </p:txBody>
      </p:sp>
      <p:sp>
        <p:nvSpPr>
          <p:cNvPr id="14" name="phase-body-03">
            <a:extLst xmlns:a="http://schemas.openxmlformats.org/drawingml/2006/main">
              <a:ext uri="{FF2B5EF4-FFF2-40B4-BE49-F238E27FC236}">
                <a16:creationId xmlns:a16="http://schemas.microsoft.com/office/drawing/2014/main" id="{8CBA24D2-F385-4EA9-A296-98098AA2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530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Allowed and denied request checks, operator instructions, and open issues.</a:t>
            </a:r>
          </a:p>
        </p:txBody>
      </p:sp>
      <p:sp>
        <p:nvSpPr>
          <p:cNvPr id="15" name="onboarding-boundary">
            <a:extLst xmlns:a="http://schemas.openxmlformats.org/drawingml/2006/main">
              <a:ext uri="{FF2B5EF4-FFF2-40B4-BE49-F238E27FC236}">
                <a16:creationId xmlns:a16="http://schemas.microsoft.com/office/drawing/2014/main" id="{01C07FDE-3854-4CCD-A473-0F08439B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Up to 3 hours of remote setup. Appliance and SSD included.</a:t>
            </a:r>
          </a:p>
          <a:p xmlns:a="http://schemas.openxmlformats.org/drawingml/2006/main">
            <a:pPr>
              <a:defRPr sz="1650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Custom integrations, on-site work, and ongoing operations are excluded.</a:t>
            </a:r>
          </a:p>
        </p:txBody>
      </p:sp>
    </p:spTree>
    <p:extLst>
      <p:ext uri="{BB962C8B-B14F-4D97-AF65-F5344CB8AC3E}">
        <p14:creationId xmlns:p14="http://schemas.microsoft.com/office/powerpoint/2010/main" val="11291022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6372b21dfe4300">
            <a:extLst>
              <a:ext uri="{96DAC541-7B7A-43D3-8B79-37D633B846F1}">
                <asvg:svgBlip xmlns:asvg="http://schemas.microsoft.com/office/drawing/2016/SVG/main" r:embed="R0e65d6f01979428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80BFC907-A2EC-497B-8BB0-07FD52D8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PLANNED ROLLOUT: EARLY 2027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76686649-4B0B-4645-BDFB-91456CE2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Coming soon. Reserve your appliance.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79EC5B93-8E8A-46F8-9FB7-9645ECAD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October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3B7812D-5B78-4BF7-B67E-EE965EAA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07 / 07</a:t>
            </a:r>
          </a:p>
        </p:txBody>
      </p:sp>
      <p:sp>
        <p:nvSpPr>
          <p:cNvPr id="6" name="next-step">
            <a:extLst xmlns:a="http://schemas.openxmlformats.org/drawingml/2006/main">
              <a:ext uri="{FF2B5EF4-FFF2-40B4-BE49-F238E27FC236}">
                <a16:creationId xmlns:a16="http://schemas.microsoft.com/office/drawing/2014/main" id="{7BBD7A5E-FD9C-448F-8558-78EB9A54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858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Reserve yours — $49</a:t>
            </a:r>
          </a:p>
          <a:p xmlns:a="http://schemas.openxmlformats.org/drawingml/2006/main">
            <a:pPr>
              <a:defRPr sz="285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Fully refundable. Credited toward purchase.</a:t>
            </a:r>
          </a:p>
          <a:p xmlns:a="http://schemas.openxmlformats.org/drawingml/2006/main">
            <a:pPr>
              <a:defRPr sz="285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Cancel anytime before fulfillment.</a:t>
            </a:r>
          </a:p>
        </p:txBody>
      </p:sp>
      <p:sp>
        <p:nvSpPr>
          <p:cNvPr id="7" name="reservation-terms">
            <a:extLst xmlns:a="http://schemas.openxmlformats.org/drawingml/2006/main">
              <a:ext uri="{FF2B5EF4-FFF2-40B4-BE49-F238E27FC236}">
                <a16:creationId xmlns:a16="http://schemas.microsoft.com/office/drawing/2014/main" id="{008943D1-9CD9-41BD-92C5-F6B5E0B0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One-time deposit per appliance. All payments use Stripe.</a:t>
            </a:r>
          </a:p>
          <a:p xmlns:a="http://schemas.openxmlformats.org/drawingml/2006/main">
            <a:pPr>
              <a:defRPr sz="1800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Rollout is a target, not a guaranteed shipping date.</a:t>
            </a:r>
          </a:p>
        </p:txBody>
      </p:sp>
      <p:sp>
        <p:nvSpPr>
          <p:cNvPr id="8" name="contact">
            <a:extLst xmlns:a="http://schemas.openxmlformats.org/drawingml/2006/main">
              <a:ext uri="{FF2B5EF4-FFF2-40B4-BE49-F238E27FC236}">
                <a16:creationId xmlns:a16="http://schemas.microsoft.com/office/drawing/2014/main" id="{A6ADE8AF-59B1-4357-AE67-54E7689E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Mehrdad Zaker</a:t>
            </a:r>
          </a:p>
          <a:p xmlns:a="http://schemas.openxmlformats.org/drawingml/2006/main">
            <a:pPr>
              <a:defRPr sz="20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mehrdadz@neuralint.io</a:t>
            </a:r>
          </a:p>
        </p:txBody>
      </p:sp>
      <p:sp>
        <p:nvSpPr>
          <p:cNvPr id="9" name="website">
            <a:extLst xmlns:a="http://schemas.openxmlformats.org/drawingml/2006/main">
              <a:ext uri="{FF2B5EF4-FFF2-40B4-BE49-F238E27FC236}">
                <a16:creationId xmlns:a16="http://schemas.microsoft.com/office/drawing/2014/main" id="{D9319C7C-973C-4FB1-A3A0-CA12DADB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usehormuz.github.io/enterprise/#reserve</a:t>
            </a:r>
          </a:p>
        </p:txBody>
      </p:sp>
    </p:spTree>
    <p:extLst>
      <p:ext uri="{BB962C8B-B14F-4D97-AF65-F5344CB8AC3E}">
        <p14:creationId xmlns:p14="http://schemas.microsoft.com/office/powerpoint/2010/main" val="3579228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2026-10-06T20:02:37.7090000Z</dcterms:created>
  <dcterms:modified xsi:type="dcterms:W3CDTF">2026-10-06T20:02:37.7090000Z</dcterms:modified>
</coreProperties>
</file>