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0e02486fa96432d" /><Relationship Type="http://schemas.openxmlformats.org/officeDocument/2006/relationships/extended-properties" Target="/docProps/app.xml" Id="R14a4425acef440fe" /><Relationship Type="http://schemas.openxmlformats.org/officeDocument/2006/relationships/officeDocument" Target="/ppt/presentation.xml" Id="R1c147c76757b4fb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58a792eb9f748a1"/>
  </p:sldMasterIdLst>
  <p:notesMasterIdLst>
    <p:notesMasterId xmlns:r="http://schemas.openxmlformats.org/officeDocument/2006/relationships" r:id="Rff52f76960504176"/>
  </p:notesMasterIdLst>
  <p:sldIdLst>
    <p:sldId xmlns:r="http://schemas.openxmlformats.org/officeDocument/2006/relationships" id="256" r:id="R7ccfffa425794952"/>
    <p:sldId xmlns:r="http://schemas.openxmlformats.org/officeDocument/2006/relationships" id="257" r:id="Ra1cef080f5cd484b"/>
    <p:sldId xmlns:r="http://schemas.openxmlformats.org/officeDocument/2006/relationships" id="258" r:id="Ra7bcd4de67484574"/>
    <p:sldId xmlns:r="http://schemas.openxmlformats.org/officeDocument/2006/relationships" id="259" r:id="R1cd4d01bb4c348fc"/>
    <p:sldId xmlns:r="http://schemas.openxmlformats.org/officeDocument/2006/relationships" id="260" r:id="R2e05c9081aa4453d"/>
    <p:sldId xmlns:r="http://schemas.openxmlformats.org/officeDocument/2006/relationships" id="261" r:id="R42e74a7881c34e99"/>
    <p:sldId xmlns:r="http://schemas.openxmlformats.org/officeDocument/2006/relationships" id="262" r:id="R8c2582dc1d95408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1ee2a91b3c540eb" /><Relationship Type="http://schemas.openxmlformats.org/officeDocument/2006/relationships/slideMaster" Target="/ppt/slideMasters/slideMaster1.xml" Id="Ra58a792eb9f748a1" /><Relationship Type="http://schemas.openxmlformats.org/officeDocument/2006/relationships/notesMaster" Target="/ppt/notesMasters/notesMaster1.xml" Id="Rff52f76960504176" /><Relationship Type="http://schemas.openxmlformats.org/officeDocument/2006/relationships/presProps" Target="/ppt/presProps.xml" Id="R5418b4bf79ae4695" /><Relationship Type="http://schemas.openxmlformats.org/officeDocument/2006/relationships/tableStyles" Target="/ppt/tableStyles.xml" Id="R64c7c879dbd0411c" /><Relationship Type="http://schemas.openxmlformats.org/officeDocument/2006/relationships/slide" Target="/ppt/slides/slide1.xml" Id="R7ccfffa425794952" /><Relationship Type="http://schemas.openxmlformats.org/officeDocument/2006/relationships/slide" Target="/ppt/slides/slide2.xml" Id="Ra1cef080f5cd484b" /><Relationship Type="http://schemas.openxmlformats.org/officeDocument/2006/relationships/slide" Target="/ppt/slides/slide3.xml" Id="Ra7bcd4de67484574" /><Relationship Type="http://schemas.openxmlformats.org/officeDocument/2006/relationships/slide" Target="/ppt/slides/slide4.xml" Id="R1cd4d01bb4c348fc" /><Relationship Type="http://schemas.openxmlformats.org/officeDocument/2006/relationships/slide" Target="/ppt/slides/slide5.xml" Id="R2e05c9081aa4453d" /><Relationship Type="http://schemas.openxmlformats.org/officeDocument/2006/relationships/slide" Target="/ppt/slides/slide6.xml" Id="R42e74a7881c34e99" /><Relationship Type="http://schemas.openxmlformats.org/officeDocument/2006/relationships/slide" Target="/ppt/slides/slide7.xml" Id="R8c2582dc1d9540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2e1e04ee2cb40d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deb7c1ac29a4c8b" /><Relationship Type="http://schemas.openxmlformats.org/officeDocument/2006/relationships/notesMaster" Target="/ppt/notesMasters/notesMaster1.xml" Id="R4dc797b9662f40d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81c17e3d9c24698" /><Relationship Type="http://schemas.openxmlformats.org/officeDocument/2006/relationships/notesMaster" Target="/ppt/notesMasters/notesMaster1.xml" Id="Rf2be48ed47c54d7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b3d8180d28744dc" /><Relationship Type="http://schemas.openxmlformats.org/officeDocument/2006/relationships/notesMaster" Target="/ppt/notesMasters/notesMaster1.xml" Id="R1c97c8b0f27d47c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932796b5e6945f7" /><Relationship Type="http://schemas.openxmlformats.org/officeDocument/2006/relationships/notesMaster" Target="/ppt/notesMasters/notesMaster1.xml" Id="Rdec8bfaacf31409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22b7b350ee84bef" /><Relationship Type="http://schemas.openxmlformats.org/officeDocument/2006/relationships/notesMaster" Target="/ppt/notesMasters/notesMaster1.xml" Id="R9e1882cfd2e442a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17651257a304ca6" /><Relationship Type="http://schemas.openxmlformats.org/officeDocument/2006/relationships/notesMaster" Target="/ppt/notesMasters/notesMaster1.xml" Id="Rf38be408dd6e439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88c23012e8e47ff" /><Relationship Type="http://schemas.openxmlformats.org/officeDocument/2006/relationships/notesMaster" Target="/ppt/notesMasters/notesMaster1.xml" Id="Re2592c4f52bf476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https://github.com/Xpounder-com/hormuz/blob/main/marketing/OFFER.md</a:t>
            </a:r>
          </a:p>
          <a:p xmlns:a="http://schemas.openxmlformats.org/drawingml/2006/main">
            <a:r>
              <a:t>https://github.com/Xpounder-com/hormuz/blob/main/LICENSE</a:t>
            </a:r>
          </a:p>
          <a:p xmlns:a="http://schemas.openxmlformats.org/drawingml/2006/main">
            <a:r>
              <a:t>https://github.com/Xpounder-com/hormuz/blob/main/docs/CLIENTS.md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https://github.com/Xpounder-com/hormuz/blob/main/docs/ARCHITECTURE.md</a:t>
            </a:r>
          </a:p>
          <a:p xmlns:a="http://schemas.openxmlformats.org/drawingml/2006/main">
            <a:r>
              <a:t>https://github.com/Xpounder-com/hormuz/blob/main/docs/CLIENTS.md</a:t>
            </a:r>
          </a:p>
          <a:p xmlns:a="http://schemas.openxmlformats.org/drawingml/2006/main">
            <a:r>
              <a:t>https://github.com/Xpounder-com/hormuz/blob/main/docs/AUDIT.md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https://usehormuz.github.io/demo/</a:t>
            </a:r>
          </a:p>
          <a:p xmlns:a="http://schemas.openxmlformats.org/drawingml/2006/main">
            <a:r>
              <a:t>https://github.com/Xpounder-com/hormuz/blob/main/hormuz/demo.py</a:t>
            </a:r>
          </a:p>
          <a:p xmlns:a="http://schemas.openxmlformats.org/drawingml/2006/main">
            <a:r>
              <a:t>https://github.com/Xpounder-com/hormuz/blob/main/website/public/demo/gateway.json</a:t>
            </a:r>
          </a:p>
          <a:p xmlns:a="http://schemas.openxmlformats.org/drawingml/2006/main">
            <a:r>
              <a:t>https://github.com/Xpounder-com/hormuz/blob/main/website/public/demo/synthetic-evidence.jsonl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https://github.com/Xpounder-com/hormuz/blob/main/LICENSE</a:t>
            </a:r>
          </a:p>
          <a:p xmlns:a="http://schemas.openxmlformats.org/drawingml/2006/main">
            <a:r>
              <a:t>https://github.com/Xpounder-com/hormuz/blob/main/marketing/OFFER.md</a:t>
            </a:r>
          </a:p>
          <a:p xmlns:a="http://schemas.openxmlformats.org/drawingml/2006/main">
            <a:r>
              <a:t>https://github.com/Xpounder-com/hormuz/blob/main/marketing/PILOT.md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https://github.com/Xpounder-com/hormuz/blob/main/SUPPORT.md</a:t>
            </a:r>
          </a:p>
          <a:p xmlns:a="http://schemas.openxmlformats.org/drawingml/2006/main">
            <a:r>
              <a:t>https://github.com/Xpounder-com/hormuz/blob/main/docs/OIDC.md</a:t>
            </a:r>
          </a:p>
          <a:p xmlns:a="http://schemas.openxmlformats.org/drawingml/2006/main">
            <a:r>
              <a:t>https://github.com/Xpounder-com/hormuz/blob/main/docs/SECRET_CONTROLS.md</a:t>
            </a:r>
          </a:p>
          <a:p xmlns:a="http://schemas.openxmlformats.org/drawingml/2006/main">
            <a:r>
              <a:t>https://github.com/Xpounder-com/hormuz/blob/main/docs/USAGE.md</a:t>
            </a:r>
          </a:p>
          <a:p xmlns:a="http://schemas.openxmlformats.org/drawingml/2006/main">
            <a:r>
              <a:t>https://github.com/Xpounder-com/hormuz/blob/main/marketing/TRUST.md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https://github.com/Xpounder-com/hormuz/blob/main/marketing/PILOT.md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https://usehormuz.github.io/</a:t>
            </a:r>
          </a:p>
          <a:p xmlns:a="http://schemas.openxmlformats.org/drawingml/2006/main">
            <a:r>
              <a:t>https://github.com/Xpounder-com/hormuz/blob/main/marketing/PILOT.md</a:t>
            </a:r>
          </a:p>
          <a:p xmlns:a="http://schemas.openxmlformats.org/drawingml/2006/main">
            <a:r>
              <a:t>https://github.com/Xpounder-com/hormuz/blob/main/marketing/TRUST.md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2c7881aa3f4a3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66955d5e5ed4e49" /><Relationship Type="http://schemas.openxmlformats.org/officeDocument/2006/relationships/slideLayout" Target="/ppt/slideLayouts/slideLayout1.xml" Id="R3660d6fd5adc45c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60d6fd5adc45c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92eee7546b420e" /><Relationship Type="http://schemas.openxmlformats.org/officeDocument/2006/relationships/notesSlide" Target="/ppt/notesSlides/notesSlide1.xml" Id="R34e002c06727491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c052c188e243fe" /><Relationship Type="http://schemas.openxmlformats.org/officeDocument/2006/relationships/notesSlide" Target="/ppt/notesSlides/notesSlide2.xml" Id="R5c79710efc01419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3b0d622dca4274" /><Relationship Type="http://schemas.openxmlformats.org/officeDocument/2006/relationships/notesSlide" Target="/ppt/notesSlides/notesSlide3.xml" Id="Rc18453c7fb0d4c4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bb3cfb94564c80" /><Relationship Type="http://schemas.openxmlformats.org/officeDocument/2006/relationships/notesSlide" Target="/ppt/notesSlides/notesSlide4.xml" Id="R3f248a77a21746a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4fe17f295e44b4" /><Relationship Type="http://schemas.openxmlformats.org/officeDocument/2006/relationships/notesSlide" Target="/ppt/notesSlides/notesSlide5.xml" Id="R07c8074cd2884bf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bd8293706c4e31" /><Relationship Type="http://schemas.openxmlformats.org/officeDocument/2006/relationships/notesSlide" Target="/ppt/notesSlides/notesSlide6.xml" Id="Rc773c107cf1d4bb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146f3576564d48" /><Relationship Type="http://schemas.openxmlformats.org/officeDocument/2006/relationships/notesSlide" Target="/ppt/notesSlides/notesSlide7.xml" Id="R92bb2895ed2e493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439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Hormuz mark boundary">
            <a:extLst xmlns:a="http://schemas.openxmlformats.org/drawingml/2006/main">
              <a:ext uri="{FF2B5EF4-FFF2-40B4-BE49-F238E27FC236}">
                <a16:creationId xmlns:a16="http://schemas.microsoft.com/office/drawing/2014/main" id="{C6B9E46E-061A-4D5C-82B8-8682FFAAA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DA6"/>
            </a:solidFill>
            <a:prstDash val="solid"/>
          </a:ln>
        </p:spPr>
      </p:sp>
      <p:sp>
        <p:nvSpPr>
          <p:cNvPr id="2" name="Hormuz mark bar 1">
            <a:extLst xmlns:a="http://schemas.openxmlformats.org/drawingml/2006/main">
              <a:ext uri="{FF2B5EF4-FFF2-40B4-BE49-F238E27FC236}">
                <a16:creationId xmlns:a16="http://schemas.microsoft.com/office/drawing/2014/main" id="{C537582A-8AC9-4C27-91E2-439F78ED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476250"/>
            <a:ext cx="47625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DA6"/>
          </a:solidFill>
          <a:ln xmlns:a="http://schemas.openxmlformats.org/drawingml/2006/main" w="0">
            <a:noFill/>
          </a:ln>
        </p:spPr>
      </p:sp>
      <p:sp>
        <p:nvSpPr>
          <p:cNvPr id="3" name="Hormuz mark bar 2">
            <a:extLst xmlns:a="http://schemas.openxmlformats.org/drawingml/2006/main">
              <a:ext uri="{FF2B5EF4-FFF2-40B4-BE49-F238E27FC236}">
                <a16:creationId xmlns:a16="http://schemas.microsoft.com/office/drawing/2014/main" id="{7D2D332A-6CA9-4953-9BFF-A5F722B5A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28625"/>
            <a:ext cx="47625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DA6"/>
          </a:solidFill>
          <a:ln xmlns:a="http://schemas.openxmlformats.org/drawingml/2006/main" w="0">
            <a:noFill/>
          </a:ln>
        </p:spPr>
      </p:sp>
      <p:sp>
        <p:nvSpPr>
          <p:cNvPr id="4" name="Hormuz mark bar 3">
            <a:extLst xmlns:a="http://schemas.openxmlformats.org/drawingml/2006/main">
              <a:ext uri="{FF2B5EF4-FFF2-40B4-BE49-F238E27FC236}">
                <a16:creationId xmlns:a16="http://schemas.microsoft.com/office/drawing/2014/main" id="{5BC66629-64FE-44A2-BD8B-52BC5997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57200"/>
            <a:ext cx="47625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DA6"/>
          </a:solidFill>
          <a:ln xmlns:a="http://schemas.openxmlformats.org/drawingml/2006/main" w="0">
            <a:noFill/>
          </a:ln>
        </p:spPr>
      </p:sp>
      <p:sp>
        <p:nvSpPr>
          <p:cNvPr id="5" name="section">
            <a:extLst xmlns:a="http://schemas.openxmlformats.org/drawingml/2006/main">
              <a:ext uri="{FF2B5EF4-FFF2-40B4-BE49-F238E27FC236}">
                <a16:creationId xmlns:a16="http://schemas.microsoft.com/office/drawing/2014/main" id="{D2671048-3259-40FE-9154-6A2D7246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OPEN SOURCE + SUPPORTED EVALUATION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B28698F4-B9C0-4E60-8363-FE63B8E10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HORMUZ  /  Mehrdad Zaker  /  September 2026                                      01 / 07</a:t>
            </a:r>
          </a:p>
        </p:txBody>
      </p:sp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A1A8ABC-C81E-409A-AD7D-7DB1A24B0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8585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Give your team AI.</a:t>
            </a:r>
          </a:p>
          <a:p xmlns:a="http://schemas.openxmlformats.org/drawingml/2006/main">
            <a:pPr>
              <a:defRPr sz="570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Keep control.</a:t>
            </a:r>
          </a:p>
        </p:txBody>
      </p:sp>
      <p:sp>
        <p:nvSpPr>
          <p:cNvPr id="8" name="cover-summary">
            <a:extLst xmlns:a="http://schemas.openxmlformats.org/drawingml/2006/main">
              <a:ext uri="{FF2B5EF4-FFF2-40B4-BE49-F238E27FC236}">
                <a16:creationId xmlns:a16="http://schemas.microsoft.com/office/drawing/2014/main" id="{13D1DF7D-FFFD-4A29-B8EE-0FFAF8E3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71950"/>
            <a:ext cx="105727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Self-hosted policy, budgets, secret controls,</a:t>
            </a:r>
          </a:p>
          <a:p xmlns:a="http://schemas.openxmlformats.org/drawingml/2006/main">
            <a:pPr>
              <a:defRPr sz="232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and metadata-only evidence for Codex and Claude Code.</a:t>
            </a:r>
          </a:p>
        </p:txBody>
      </p:sp>
      <p:sp>
        <p:nvSpPr>
          <p:cNvPr id="9" name="cover-boundary">
            <a:extLst xmlns:a="http://schemas.openxmlformats.org/drawingml/2006/main">
              <a:ext uri="{FF2B5EF4-FFF2-40B4-BE49-F238E27FC236}">
                <a16:creationId xmlns:a16="http://schemas.microsoft.com/office/drawing/2014/main" id="{827AD065-2713-4FFF-8235-79A85510A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4355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Apache-2.0 core  •  v1.0.0 source contracts</a:t>
            </a:r>
          </a:p>
        </p:txBody>
      </p:sp>
    </p:spTree>
    <p:extLst>
      <p:ext uri="{BB962C8B-B14F-4D97-AF65-F5344CB8AC3E}">
        <p14:creationId xmlns:p14="http://schemas.microsoft.com/office/powerpoint/2010/main" val="2742282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Hormuz mark boundary">
            <a:extLst xmlns:a="http://schemas.openxmlformats.org/drawingml/2006/main">
              <a:ext uri="{FF2B5EF4-FFF2-40B4-BE49-F238E27FC236}">
                <a16:creationId xmlns:a16="http://schemas.microsoft.com/office/drawing/2014/main" id="{9DC2F23B-2BDC-4C2E-A316-1B3211C52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1684B"/>
            </a:solidFill>
            <a:prstDash val="solid"/>
          </a:ln>
        </p:spPr>
      </p:sp>
      <p:sp>
        <p:nvSpPr>
          <p:cNvPr id="2" name="Hormuz mark bar 1">
            <a:extLst xmlns:a="http://schemas.openxmlformats.org/drawingml/2006/main">
              <a:ext uri="{FF2B5EF4-FFF2-40B4-BE49-F238E27FC236}">
                <a16:creationId xmlns:a16="http://schemas.microsoft.com/office/drawing/2014/main" id="{3974FD04-8C31-4FF8-B519-C23EA3ECD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476250"/>
            <a:ext cx="47625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684B"/>
          </a:solidFill>
          <a:ln xmlns:a="http://schemas.openxmlformats.org/drawingml/2006/main" w="0">
            <a:noFill/>
          </a:ln>
        </p:spPr>
      </p:sp>
      <p:sp>
        <p:nvSpPr>
          <p:cNvPr id="3" name="Hormuz mark bar 2">
            <a:extLst xmlns:a="http://schemas.openxmlformats.org/drawingml/2006/main">
              <a:ext uri="{FF2B5EF4-FFF2-40B4-BE49-F238E27FC236}">
                <a16:creationId xmlns:a16="http://schemas.microsoft.com/office/drawing/2014/main" id="{A500391C-75EE-4941-8568-84F15E22B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28625"/>
            <a:ext cx="47625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684B"/>
          </a:solidFill>
          <a:ln xmlns:a="http://schemas.openxmlformats.org/drawingml/2006/main" w="0">
            <a:noFill/>
          </a:ln>
        </p:spPr>
      </p:sp>
      <p:sp>
        <p:nvSpPr>
          <p:cNvPr id="4" name="Hormuz mark bar 3">
            <a:extLst xmlns:a="http://schemas.openxmlformats.org/drawingml/2006/main">
              <a:ext uri="{FF2B5EF4-FFF2-40B4-BE49-F238E27FC236}">
                <a16:creationId xmlns:a16="http://schemas.microsoft.com/office/drawing/2014/main" id="{E51702F0-D634-457B-9BB6-22341D3E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57200"/>
            <a:ext cx="47625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684B"/>
          </a:solidFill>
          <a:ln xmlns:a="http://schemas.openxmlformats.org/drawingml/2006/main" w="0">
            <a:noFill/>
          </a:ln>
        </p:spPr>
      </p:sp>
      <p:sp>
        <p:nvSpPr>
          <p:cNvPr id="5" name="section">
            <a:extLst xmlns:a="http://schemas.openxmlformats.org/drawingml/2006/main">
              <a:ext uri="{FF2B5EF4-FFF2-40B4-BE49-F238E27FC236}">
                <a16:creationId xmlns:a16="http://schemas.microsoft.com/office/drawing/2014/main" id="{FD27D398-BC93-4B1D-B5F1-CE1B797F0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THE CONTROL POINT</a:t>
            </a:r>
          </a:p>
        </p:txBody>
      </p:sp>
      <p:sp>
        <p:nvSpPr>
          <p:cNvPr id="6" name="takeaway">
            <a:extLst xmlns:a="http://schemas.openxmlformats.org/drawingml/2006/main">
              <a:ext uri="{FF2B5EF4-FFF2-40B4-BE49-F238E27FC236}">
                <a16:creationId xmlns:a16="http://schemas.microsoft.com/office/drawing/2014/main" id="{78015F71-9063-4000-8F20-9E51CB1FE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Put policy in the model-request path.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68610D9D-BDBF-4D9B-A018-7DAB67B2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HORMUZ  /  Mehrdad Zaker  /  September 2026                                      02 / 07</a:t>
            </a:r>
          </a:p>
        </p:txBody>
      </p:sp>
      <p:sp>
        <p:nvSpPr>
          <p:cNvPr id="8" name="arrow-one">
            <a:extLst xmlns:a="http://schemas.openxmlformats.org/drawingml/2006/main">
              <a:ext uri="{FF2B5EF4-FFF2-40B4-BE49-F238E27FC236}">
                <a16:creationId xmlns:a16="http://schemas.microsoft.com/office/drawing/2014/main" id="{8627FC9A-7685-4943-B076-979A3E4E1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962275"/>
            <a:ext cx="57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450" b="0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3450" b="0">
                <a:solidFill>
                  <a:srgbClr val="31684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arrow-two">
            <a:extLst xmlns:a="http://schemas.openxmlformats.org/drawingml/2006/main">
              <a:ext uri="{FF2B5EF4-FFF2-40B4-BE49-F238E27FC236}">
                <a16:creationId xmlns:a16="http://schemas.microsoft.com/office/drawing/2014/main" id="{4D8BECAC-EA68-488C-818C-460CFF888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962275"/>
            <a:ext cx="57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450" b="0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3450" b="0">
                <a:solidFill>
                  <a:srgbClr val="31684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EMPLOYEE CLIENT">
            <a:extLst xmlns:a="http://schemas.openxmlformats.org/drawingml/2006/main">
              <a:ext uri="{FF2B5EF4-FFF2-40B4-BE49-F238E27FC236}">
                <a16:creationId xmlns:a16="http://schemas.microsoft.com/office/drawing/2014/main" id="{3C747C19-9256-430F-A723-53A6B34C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28575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6"/>
          </a:solidFill>
          <a:ln xmlns:a="http://schemas.openxmlformats.org/drawingml/2006/main" w="9525">
            <a:solidFill>
              <a:srgbClr val="D4DBCC"/>
            </a:solidFill>
            <a:prstDash val="solid"/>
          </a:ln>
        </p:spPr>
      </p:sp>
      <p:sp>
        <p:nvSpPr>
          <p:cNvPr id="11" name="EMPLOYEE CLIENT-title">
            <a:extLst xmlns:a="http://schemas.openxmlformats.org/drawingml/2006/main">
              <a:ext uri="{FF2B5EF4-FFF2-40B4-BE49-F238E27FC236}">
                <a16:creationId xmlns:a16="http://schemas.microsoft.com/office/drawing/2014/main" id="{A7424B47-425A-4D2D-BCE7-F29BC1028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194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EMPLOYEE CLIENT</a:t>
            </a:r>
          </a:p>
        </p:txBody>
      </p:sp>
      <p:sp>
        <p:nvSpPr>
          <p:cNvPr id="12" name="EMPLOYEE CLIENT-body">
            <a:extLst xmlns:a="http://schemas.openxmlformats.org/drawingml/2006/main">
              <a:ext uri="{FF2B5EF4-FFF2-40B4-BE49-F238E27FC236}">
                <a16:creationId xmlns:a16="http://schemas.microsoft.com/office/drawing/2014/main" id="{59AC9921-B93D-4365-8846-B501545B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71850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Codex / Claude Code</a:t>
            </a:r>
          </a:p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Unique Hormuz identity</a:t>
            </a:r>
          </a:p>
        </p:txBody>
      </p:sp>
      <p:sp>
        <p:nvSpPr>
          <p:cNvPr id="13" name="HORMUZ">
            <a:extLst xmlns:a="http://schemas.openxmlformats.org/drawingml/2006/main">
              <a:ext uri="{FF2B5EF4-FFF2-40B4-BE49-F238E27FC236}">
                <a16:creationId xmlns:a16="http://schemas.microsoft.com/office/drawing/2014/main" id="{4538982A-C968-4F17-A8ED-29674AC2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00325"/>
            <a:ext cx="32385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6"/>
          </a:solidFill>
          <a:ln xmlns:a="http://schemas.openxmlformats.org/drawingml/2006/main" w="9525">
            <a:solidFill>
              <a:srgbClr val="D4DBCC"/>
            </a:solidFill>
            <a:prstDash val="solid"/>
          </a:ln>
        </p:spPr>
      </p:sp>
      <p:sp>
        <p:nvSpPr>
          <p:cNvPr id="14" name="HORMUZ-title">
            <a:extLst xmlns:a="http://schemas.openxmlformats.org/drawingml/2006/main">
              <a:ext uri="{FF2B5EF4-FFF2-40B4-BE49-F238E27FC236}">
                <a16:creationId xmlns:a16="http://schemas.microsoft.com/office/drawing/2014/main" id="{55E814F5-2C95-4AE9-85F9-23C16A316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8194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HORMUZ</a:t>
            </a:r>
          </a:p>
        </p:txBody>
      </p:sp>
      <p:sp>
        <p:nvSpPr>
          <p:cNvPr id="15" name="HORMUZ-body">
            <a:extLst xmlns:a="http://schemas.openxmlformats.org/drawingml/2006/main">
              <a:ext uri="{FF2B5EF4-FFF2-40B4-BE49-F238E27FC236}">
                <a16:creationId xmlns:a16="http://schemas.microsoft.com/office/drawing/2014/main" id="{52B58E35-D437-4BE5-BE7F-54C32ABA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71850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Identity + policy + secrets</a:t>
            </a:r>
          </a:p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Budget before egress</a:t>
            </a:r>
          </a:p>
        </p:txBody>
      </p:sp>
      <p:sp>
        <p:nvSpPr>
          <p:cNvPr id="16" name="MODEL PROVIDER">
            <a:extLst xmlns:a="http://schemas.openxmlformats.org/drawingml/2006/main">
              <a:ext uri="{FF2B5EF4-FFF2-40B4-BE49-F238E27FC236}">
                <a16:creationId xmlns:a16="http://schemas.microsoft.com/office/drawing/2014/main" id="{5DD66781-2CAC-47FE-9D94-4732462A0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00325"/>
            <a:ext cx="3086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6"/>
          </a:solidFill>
          <a:ln xmlns:a="http://schemas.openxmlformats.org/drawingml/2006/main" w="9525">
            <a:solidFill>
              <a:srgbClr val="D4DBCC"/>
            </a:solidFill>
            <a:prstDash val="solid"/>
          </a:ln>
        </p:spPr>
      </p:sp>
      <p:sp>
        <p:nvSpPr>
          <p:cNvPr id="17" name="MODEL PROVIDER-title">
            <a:extLst xmlns:a="http://schemas.openxmlformats.org/drawingml/2006/main">
              <a:ext uri="{FF2B5EF4-FFF2-40B4-BE49-F238E27FC236}">
                <a16:creationId xmlns:a16="http://schemas.microsoft.com/office/drawing/2014/main" id="{A36BAE3C-4EB7-458E-AF6A-58AA3C7B0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19400"/>
            <a:ext cx="270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MODEL PROVIDER</a:t>
            </a:r>
          </a:p>
        </p:txBody>
      </p:sp>
      <p:sp>
        <p:nvSpPr>
          <p:cNvPr id="18" name="MODEL PROVIDER-body">
            <a:extLst xmlns:a="http://schemas.openxmlformats.org/drawingml/2006/main">
              <a:ext uri="{FF2B5EF4-FFF2-40B4-BE49-F238E27FC236}">
                <a16:creationId xmlns:a16="http://schemas.microsoft.com/office/drawing/2014/main" id="{7515595B-623C-4F2F-865D-8A698E5A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371850"/>
            <a:ext cx="2705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Company account</a:t>
            </a:r>
          </a:p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Server-side provider key</a:t>
            </a:r>
          </a:p>
        </p:txBody>
      </p:sp>
      <p:sp>
        <p:nvSpPr>
          <p:cNvPr id="19" name="metadata">
            <a:extLst xmlns:a="http://schemas.openxmlformats.org/drawingml/2006/main">
              <a:ext uri="{FF2B5EF4-FFF2-40B4-BE49-F238E27FC236}">
                <a16:creationId xmlns:a16="http://schemas.microsoft.com/office/drawing/2014/main" id="{8059FDA5-32EC-401D-8AC5-68E9717C2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Retain the control record, not the conversation.</a:t>
            </a:r>
          </a:p>
        </p:txBody>
      </p:sp>
      <p:sp>
        <p:nvSpPr>
          <p:cNvPr id="20" name="boundary">
            <a:extLst xmlns:a="http://schemas.openxmlformats.org/drawingml/2006/main">
              <a:ext uri="{FF2B5EF4-FFF2-40B4-BE49-F238E27FC236}">
                <a16:creationId xmlns:a16="http://schemas.microsoft.com/office/drawing/2014/main" id="{30C1DF31-E220-4F59-B2B7-69741B8B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Allowed content still reaches the provider. Bypassed requests and client-side shell, MCP, Git, or browser activity are outside Hormuz’s coverage.</a:t>
            </a:r>
          </a:p>
        </p:txBody>
      </p:sp>
    </p:spTree>
    <p:extLst>
      <p:ext uri="{BB962C8B-B14F-4D97-AF65-F5344CB8AC3E}">
        <p14:creationId xmlns:p14="http://schemas.microsoft.com/office/powerpoint/2010/main" val="12725953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2439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Hormuz mark boundary">
            <a:extLst xmlns:a="http://schemas.openxmlformats.org/drawingml/2006/main">
              <a:ext uri="{FF2B5EF4-FFF2-40B4-BE49-F238E27FC236}">
                <a16:creationId xmlns:a16="http://schemas.microsoft.com/office/drawing/2014/main" id="{45EE2C09-73A4-4BE2-807E-C0F492AE0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DA6"/>
            </a:solidFill>
            <a:prstDash val="solid"/>
          </a:ln>
        </p:spPr>
      </p:sp>
      <p:sp>
        <p:nvSpPr>
          <p:cNvPr id="2" name="Hormuz mark bar 1">
            <a:extLst xmlns:a="http://schemas.openxmlformats.org/drawingml/2006/main">
              <a:ext uri="{FF2B5EF4-FFF2-40B4-BE49-F238E27FC236}">
                <a16:creationId xmlns:a16="http://schemas.microsoft.com/office/drawing/2014/main" id="{70BD15C2-8662-45EE-9673-3387C97EA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476250"/>
            <a:ext cx="47625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DA6"/>
          </a:solidFill>
          <a:ln xmlns:a="http://schemas.openxmlformats.org/drawingml/2006/main" w="0">
            <a:noFill/>
          </a:ln>
        </p:spPr>
      </p:sp>
      <p:sp>
        <p:nvSpPr>
          <p:cNvPr id="3" name="Hormuz mark bar 2">
            <a:extLst xmlns:a="http://schemas.openxmlformats.org/drawingml/2006/main">
              <a:ext uri="{FF2B5EF4-FFF2-40B4-BE49-F238E27FC236}">
                <a16:creationId xmlns:a16="http://schemas.microsoft.com/office/drawing/2014/main" id="{16EBA790-E1CC-41A8-844D-917477BC6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28625"/>
            <a:ext cx="47625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DA6"/>
          </a:solidFill>
          <a:ln xmlns:a="http://schemas.openxmlformats.org/drawingml/2006/main" w="0">
            <a:noFill/>
          </a:ln>
        </p:spPr>
      </p:sp>
      <p:sp>
        <p:nvSpPr>
          <p:cNvPr id="4" name="Hormuz mark bar 3">
            <a:extLst xmlns:a="http://schemas.openxmlformats.org/drawingml/2006/main">
              <a:ext uri="{FF2B5EF4-FFF2-40B4-BE49-F238E27FC236}">
                <a16:creationId xmlns:a16="http://schemas.microsoft.com/office/drawing/2014/main" id="{959E6CB1-B11F-4646-AC78-CAD6F3FE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57200"/>
            <a:ext cx="47625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DA6"/>
          </a:solidFill>
          <a:ln xmlns:a="http://schemas.openxmlformats.org/drawingml/2006/main" w="0">
            <a:noFill/>
          </a:ln>
        </p:spPr>
      </p:sp>
      <p:sp>
        <p:nvSpPr>
          <p:cNvPr id="5" name="section">
            <a:extLst xmlns:a="http://schemas.openxmlformats.org/drawingml/2006/main">
              <a:ext uri="{FF2B5EF4-FFF2-40B4-BE49-F238E27FC236}">
                <a16:creationId xmlns:a16="http://schemas.microsoft.com/office/drawing/2014/main" id="{35C57F1D-47C2-4CB0-9232-FEA8E9D28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INSPECT THE PROOF</a:t>
            </a:r>
          </a:p>
        </p:txBody>
      </p:sp>
      <p:sp>
        <p:nvSpPr>
          <p:cNvPr id="6" name="takeaway">
            <a:extLst xmlns:a="http://schemas.openxmlformats.org/drawingml/2006/main">
              <a:ext uri="{FF2B5EF4-FFF2-40B4-BE49-F238E27FC236}">
                <a16:creationId xmlns:a16="http://schemas.microsoft.com/office/drawing/2014/main" id="{64042A4E-8DF4-4715-8C21-018D0588A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A real demo. Synthetic inputs.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A0B47DF0-3CC1-41FB-8751-DDFBD6A53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HORMUZ  /  Mehrdad Zaker  /  September 2026                                      03 / 07</a:t>
            </a:r>
          </a:p>
        </p:txBody>
      </p:sp>
      <p:sp>
        <p:nvSpPr>
          <p:cNvPr id="8" name="zero">
            <a:extLst xmlns:a="http://schemas.openxmlformats.org/drawingml/2006/main">
              <a:ext uri="{FF2B5EF4-FFF2-40B4-BE49-F238E27FC236}">
                <a16:creationId xmlns:a16="http://schemas.microsoft.com/office/drawing/2014/main" id="{DD1F7526-AF44-4CEF-BD60-C6C18E2FC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20955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0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0500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zero-label">
            <a:extLst xmlns:a="http://schemas.openxmlformats.org/drawingml/2006/main">
              <a:ext uri="{FF2B5EF4-FFF2-40B4-BE49-F238E27FC236}">
                <a16:creationId xmlns:a16="http://schemas.microsoft.com/office/drawing/2014/main" id="{C9ADAC7D-0B3E-4D1A-A216-15459CC27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342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external provider calls</a:t>
            </a:r>
          </a:p>
        </p:txBody>
      </p:sp>
      <p:sp>
        <p:nvSpPr>
          <p:cNvPr id="10" name="checks">
            <a:extLst xmlns:a="http://schemas.openxmlformats.org/drawingml/2006/main">
              <a:ext uri="{FF2B5EF4-FFF2-40B4-BE49-F238E27FC236}">
                <a16:creationId xmlns:a16="http://schemas.microsoft.com/office/drawing/2014/main" id="{19089C94-CB5E-492B-9210-3E1B96F98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33650"/>
            <a:ext cx="670560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Allow an approved request</a:t>
            </a:r>
          </a:p>
          <a:p xmlns:a="http://schemas.openxmlformats.org/drawingml/2006/main">
            <a:pPr>
              <a:defRPr sz="2325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Reroute and cap an unapproved model</a:t>
            </a:r>
          </a:p>
          <a:p xmlns:a="http://schemas.openxmlformats.org/drawingml/2006/main">
            <a:pPr>
              <a:defRPr sz="2325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Redact a detected secret before egress</a:t>
            </a:r>
          </a:p>
          <a:p xmlns:a="http://schemas.openxmlformats.org/drawingml/2006/main">
            <a:pPr>
              <a:defRPr sz="2325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Deny without an upstream call</a:t>
            </a:r>
          </a:p>
        </p:txBody>
      </p:sp>
      <p:sp>
        <p:nvSpPr>
          <p:cNvPr id="11" name="proof-boundary">
            <a:extLst xmlns:a="http://schemas.openxmlformats.org/drawingml/2006/main">
              <a:ext uri="{FF2B5EF4-FFF2-40B4-BE49-F238E27FC236}">
                <a16:creationId xmlns:a16="http://schemas.microsoft.com/office/drawing/2014/main" id="{9541A6D1-BABF-438F-BC31-99C400560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Four usage events + one secret-control event. Download the real recording and a schema-checked synthetic export. Not a benchmark, customer case study, or independent-user result.</a:t>
            </a:r>
          </a:p>
        </p:txBody>
      </p:sp>
    </p:spTree>
    <p:extLst>
      <p:ext uri="{BB962C8B-B14F-4D97-AF65-F5344CB8AC3E}">
        <p14:creationId xmlns:p14="http://schemas.microsoft.com/office/powerpoint/2010/main" val="346751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Hormuz mark boundary">
            <a:extLst xmlns:a="http://schemas.openxmlformats.org/drawingml/2006/main">
              <a:ext uri="{FF2B5EF4-FFF2-40B4-BE49-F238E27FC236}">
                <a16:creationId xmlns:a16="http://schemas.microsoft.com/office/drawing/2014/main" id="{6701FAD1-A20B-4BF0-A5AB-A572601D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1684B"/>
            </a:solidFill>
            <a:prstDash val="solid"/>
          </a:ln>
        </p:spPr>
      </p:sp>
      <p:sp>
        <p:nvSpPr>
          <p:cNvPr id="2" name="Hormuz mark bar 1">
            <a:extLst xmlns:a="http://schemas.openxmlformats.org/drawingml/2006/main">
              <a:ext uri="{FF2B5EF4-FFF2-40B4-BE49-F238E27FC236}">
                <a16:creationId xmlns:a16="http://schemas.microsoft.com/office/drawing/2014/main" id="{6A375E20-C81B-4535-B978-C92C8442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476250"/>
            <a:ext cx="47625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684B"/>
          </a:solidFill>
          <a:ln xmlns:a="http://schemas.openxmlformats.org/drawingml/2006/main" w="0">
            <a:noFill/>
          </a:ln>
        </p:spPr>
      </p:sp>
      <p:sp>
        <p:nvSpPr>
          <p:cNvPr id="3" name="Hormuz mark bar 2">
            <a:extLst xmlns:a="http://schemas.openxmlformats.org/drawingml/2006/main">
              <a:ext uri="{FF2B5EF4-FFF2-40B4-BE49-F238E27FC236}">
                <a16:creationId xmlns:a16="http://schemas.microsoft.com/office/drawing/2014/main" id="{7ADAC536-60D1-4841-8F8D-C1C6F2EF6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28625"/>
            <a:ext cx="47625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684B"/>
          </a:solidFill>
          <a:ln xmlns:a="http://schemas.openxmlformats.org/drawingml/2006/main" w="0">
            <a:noFill/>
          </a:ln>
        </p:spPr>
      </p:sp>
      <p:sp>
        <p:nvSpPr>
          <p:cNvPr id="4" name="Hormuz mark bar 3">
            <a:extLst xmlns:a="http://schemas.openxmlformats.org/drawingml/2006/main">
              <a:ext uri="{FF2B5EF4-FFF2-40B4-BE49-F238E27FC236}">
                <a16:creationId xmlns:a16="http://schemas.microsoft.com/office/drawing/2014/main" id="{D62CE747-4E12-4276-A6A5-1A94F9E98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57200"/>
            <a:ext cx="47625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684B"/>
          </a:solidFill>
          <a:ln xmlns:a="http://schemas.openxmlformats.org/drawingml/2006/main" w="0">
            <a:noFill/>
          </a:ln>
        </p:spPr>
      </p:sp>
      <p:sp>
        <p:nvSpPr>
          <p:cNvPr id="5" name="section">
            <a:extLst xmlns:a="http://schemas.openxmlformats.org/drawingml/2006/main">
              <a:ext uri="{FF2B5EF4-FFF2-40B4-BE49-F238E27FC236}">
                <a16:creationId xmlns:a16="http://schemas.microsoft.com/office/drawing/2014/main" id="{EA9BDE98-6D74-44B4-89ED-CD2CD2D5F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WHAT IS FREE. WHAT IS PAID.</a:t>
            </a:r>
          </a:p>
        </p:txBody>
      </p:sp>
      <p:sp>
        <p:nvSpPr>
          <p:cNvPr id="6" name="takeaway">
            <a:extLst xmlns:a="http://schemas.openxmlformats.org/drawingml/2006/main">
              <a:ext uri="{FF2B5EF4-FFF2-40B4-BE49-F238E27FC236}">
                <a16:creationId xmlns:a16="http://schemas.microsoft.com/office/drawing/2014/main" id="{BB5F7EF9-BC42-4880-9FF5-9E018BB63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Keep a useful core open source.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CD344479-D377-41FA-8CF9-6B58B590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HORMUZ  /  Mehrdad Zaker  /  September 2026                                      04 / 07</a:t>
            </a:r>
          </a:p>
        </p:txBody>
      </p:sp>
      <p:sp>
        <p:nvSpPr>
          <p:cNvPr id="8" name="oss-title">
            <a:extLst xmlns:a="http://schemas.openxmlformats.org/drawingml/2006/main">
              <a:ext uri="{FF2B5EF4-FFF2-40B4-BE49-F238E27FC236}">
                <a16:creationId xmlns:a16="http://schemas.microsoft.com/office/drawing/2014/main" id="{BAAC86F3-08AC-49A3-BFD4-B2E0B482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4895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Apache-2.0 product</a:t>
            </a:r>
          </a:p>
        </p:txBody>
      </p:sp>
      <p:sp>
        <p:nvSpPr>
          <p:cNvPr id="9" name="oss-body">
            <a:extLst xmlns:a="http://schemas.openxmlformats.org/drawingml/2006/main">
              <a:ext uri="{FF2B5EF4-FFF2-40B4-BE49-F238E27FC236}">
                <a16:creationId xmlns:a16="http://schemas.microsoft.com/office/drawing/2014/main" id="{5C4A57DE-1876-4784-8584-F2D456B2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49149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Gateway and client paths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OIDC JWT verification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Policy overlays and budgets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Deterministic secret controls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Usage reports and evidence</a:t>
            </a:r>
          </a:p>
        </p:txBody>
      </p:sp>
      <p:sp>
        <p:nvSpPr>
          <p:cNvPr id="10" name="paid-title">
            <a:extLst xmlns:a="http://schemas.openxmlformats.org/drawingml/2006/main">
              <a:ext uri="{FF2B5EF4-FFF2-40B4-BE49-F238E27FC236}">
                <a16:creationId xmlns:a16="http://schemas.microsoft.com/office/drawing/2014/main" id="{B8BE6F32-7225-46E7-9526-D25625F1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52700"/>
            <a:ext cx="5067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Scoped engagement</a:t>
            </a:r>
          </a:p>
        </p:txBody>
      </p:sp>
      <p:sp>
        <p:nvSpPr>
          <p:cNvPr id="11" name="paid-body">
            <a:extLst xmlns:a="http://schemas.openxmlformats.org/drawingml/2006/main">
              <a:ext uri="{FF2B5EF4-FFF2-40B4-BE49-F238E27FC236}">
                <a16:creationId xmlns:a16="http://schemas.microsoft.com/office/drawing/2014/main" id="{50B0CBEB-9AD7-4F51-803D-038EC6E20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209925"/>
            <a:ext cx="50673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Workflow and control mapping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Configuration and integration help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Agreed non-production checks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Evidence pack and gap review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Operator handoff</a:t>
            </a:r>
          </a:p>
        </p:txBody>
      </p:sp>
      <p:sp>
        <p:nvSpPr>
          <p:cNvPr id="12" name="same-core">
            <a:extLst xmlns:a="http://schemas.openxmlformats.org/drawingml/2006/main">
              <a:ext uri="{FF2B5EF4-FFF2-40B4-BE49-F238E27FC236}">
                <a16:creationId xmlns:a16="http://schemas.microsoft.com/office/drawing/2014/main" id="{472EB694-B21D-40DB-818E-B7AE3EDDE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Same open core. Customer-operated infrastructure. Price, capacity, support hours, response targets, and terms agreed before work.</a:t>
            </a:r>
          </a:p>
        </p:txBody>
      </p:sp>
    </p:spTree>
    <p:extLst>
      <p:ext uri="{BB962C8B-B14F-4D97-AF65-F5344CB8AC3E}">
        <p14:creationId xmlns:p14="http://schemas.microsoft.com/office/powerpoint/2010/main" val="17603640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Hormuz mark boundary">
            <a:extLst xmlns:a="http://schemas.openxmlformats.org/drawingml/2006/main">
              <a:ext uri="{FF2B5EF4-FFF2-40B4-BE49-F238E27FC236}">
                <a16:creationId xmlns:a16="http://schemas.microsoft.com/office/drawing/2014/main" id="{82BA60F8-E48E-41A0-BF97-82F7B8FCC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1684B"/>
            </a:solidFill>
            <a:prstDash val="solid"/>
          </a:ln>
        </p:spPr>
      </p:sp>
      <p:sp>
        <p:nvSpPr>
          <p:cNvPr id="2" name="Hormuz mark bar 1">
            <a:extLst xmlns:a="http://schemas.openxmlformats.org/drawingml/2006/main">
              <a:ext uri="{FF2B5EF4-FFF2-40B4-BE49-F238E27FC236}">
                <a16:creationId xmlns:a16="http://schemas.microsoft.com/office/drawing/2014/main" id="{F7BA9873-C35C-4C93-9DEF-1333732BE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476250"/>
            <a:ext cx="47625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684B"/>
          </a:solidFill>
          <a:ln xmlns:a="http://schemas.openxmlformats.org/drawingml/2006/main" w="0">
            <a:noFill/>
          </a:ln>
        </p:spPr>
      </p:sp>
      <p:sp>
        <p:nvSpPr>
          <p:cNvPr id="3" name="Hormuz mark bar 2">
            <a:extLst xmlns:a="http://schemas.openxmlformats.org/drawingml/2006/main">
              <a:ext uri="{FF2B5EF4-FFF2-40B4-BE49-F238E27FC236}">
                <a16:creationId xmlns:a16="http://schemas.microsoft.com/office/drawing/2014/main" id="{C683C0AC-E6C6-4365-8918-8D955AA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28625"/>
            <a:ext cx="47625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684B"/>
          </a:solidFill>
          <a:ln xmlns:a="http://schemas.openxmlformats.org/drawingml/2006/main" w="0">
            <a:noFill/>
          </a:ln>
        </p:spPr>
      </p:sp>
      <p:sp>
        <p:nvSpPr>
          <p:cNvPr id="4" name="Hormuz mark bar 3">
            <a:extLst xmlns:a="http://schemas.openxmlformats.org/drawingml/2006/main">
              <a:ext uri="{FF2B5EF4-FFF2-40B4-BE49-F238E27FC236}">
                <a16:creationId xmlns:a16="http://schemas.microsoft.com/office/drawing/2014/main" id="{5188A792-E670-4BA8-86E4-2A7DF1AAC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57200"/>
            <a:ext cx="47625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684B"/>
          </a:solidFill>
          <a:ln xmlns:a="http://schemas.openxmlformats.org/drawingml/2006/main" w="0">
            <a:noFill/>
          </a:ln>
        </p:spPr>
      </p:sp>
      <p:sp>
        <p:nvSpPr>
          <p:cNvPr id="5" name="section">
            <a:extLst xmlns:a="http://schemas.openxmlformats.org/drawingml/2006/main">
              <a:ext uri="{FF2B5EF4-FFF2-40B4-BE49-F238E27FC236}">
                <a16:creationId xmlns:a16="http://schemas.microsoft.com/office/drawing/2014/main" id="{274BED0C-67A7-465D-A381-62A491117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MATURITY AND RESPONSIBILITY</a:t>
            </a:r>
          </a:p>
        </p:txBody>
      </p:sp>
      <p:sp>
        <p:nvSpPr>
          <p:cNvPr id="6" name="takeaway">
            <a:extLst xmlns:a="http://schemas.openxmlformats.org/drawingml/2006/main">
              <a:ext uri="{FF2B5EF4-FFF2-40B4-BE49-F238E27FC236}">
                <a16:creationId xmlns:a16="http://schemas.microsoft.com/office/drawing/2014/main" id="{E09A70A2-41A1-4822-821A-83AB18A3B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Stable contracts are not certification.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5250360-B7C0-421F-A656-F21494B1A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HORMUZ  /  Mehrdad Zaker  /  September 2026                                      05 / 07</a:t>
            </a:r>
          </a:p>
        </p:txBody>
      </p:sp>
      <p:sp>
        <p:nvSpPr>
          <p:cNvPr id="8" name="release">
            <a:extLst xmlns:a="http://schemas.openxmlformats.org/drawingml/2006/main">
              <a:ext uri="{FF2B5EF4-FFF2-40B4-BE49-F238E27FC236}">
                <a16:creationId xmlns:a16="http://schemas.microsoft.com/office/drawing/2014/main" id="{4CEB40BA-5235-4561-B858-5404762FE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v1.0.0 source contracts</a:t>
            </a:r>
          </a:p>
        </p:txBody>
      </p:sp>
      <p:sp>
        <p:nvSpPr>
          <p:cNvPr id="9" name="oci">
            <a:extLst xmlns:a="http://schemas.openxmlformats.org/drawingml/2006/main">
              <a:ext uri="{FF2B5EF4-FFF2-40B4-BE49-F238E27FC236}">
                <a16:creationId xmlns:a16="http://schemas.microsoft.com/office/drawing/2014/main" id="{5D8B7181-E478-4000-81C8-0FCFA86C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Signed OCI v0.1.3 linux/amd64 is a separate reference stream.</a:t>
            </a:r>
          </a:p>
        </p:txBody>
      </p:sp>
      <p:sp>
        <p:nvSpPr>
          <p:cNvPr id="10" name="operators">
            <a:extLst xmlns:a="http://schemas.openxmlformats.org/drawingml/2006/main">
              <a:ext uri="{FF2B5EF4-FFF2-40B4-BE49-F238E27FC236}">
                <a16:creationId xmlns:a16="http://schemas.microsoft.com/office/drawing/2014/main" id="{AFD69644-1BF8-4D60-8D4B-2071FA9CA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0972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You still qualify TLS, custody, retention, backups, recovery, availability, access controls, and independent security review in your environment.</a:t>
            </a:r>
          </a:p>
        </p:txBody>
      </p:sp>
      <p:sp>
        <p:nvSpPr>
          <p:cNvPr id="11" name="nonclaims">
            <a:extLst xmlns:a="http://schemas.openxmlformats.org/drawingml/2006/main">
              <a:ext uri="{FF2B5EF4-FFF2-40B4-BE49-F238E27FC236}">
                <a16:creationId xmlns:a16="http://schemas.microsoft.com/office/drawing/2014/main" id="{9C326810-3124-4B5D-A226-BC3C0D694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972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Not claimed: native Hormuz login/refresh sessions, complete semantic DLP, per-inference human approval, reconciled provider invoices, managed SaaS, or a 24/7 SLA.</a:t>
            </a:r>
          </a:p>
        </p:txBody>
      </p:sp>
    </p:spTree>
    <p:extLst>
      <p:ext uri="{BB962C8B-B14F-4D97-AF65-F5344CB8AC3E}">
        <p14:creationId xmlns:p14="http://schemas.microsoft.com/office/powerpoint/2010/main" val="5375189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Hormuz mark boundary">
            <a:extLst xmlns:a="http://schemas.openxmlformats.org/drawingml/2006/main">
              <a:ext uri="{FF2B5EF4-FFF2-40B4-BE49-F238E27FC236}">
                <a16:creationId xmlns:a16="http://schemas.microsoft.com/office/drawing/2014/main" id="{7FF100A5-1E48-457D-91B2-17A23BB2E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1684B"/>
            </a:solidFill>
            <a:prstDash val="solid"/>
          </a:ln>
        </p:spPr>
      </p:sp>
      <p:sp>
        <p:nvSpPr>
          <p:cNvPr id="2" name="Hormuz mark bar 1">
            <a:extLst xmlns:a="http://schemas.openxmlformats.org/drawingml/2006/main">
              <a:ext uri="{FF2B5EF4-FFF2-40B4-BE49-F238E27FC236}">
                <a16:creationId xmlns:a16="http://schemas.microsoft.com/office/drawing/2014/main" id="{CFE84B2E-4659-41A8-9E53-32013789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476250"/>
            <a:ext cx="47625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684B"/>
          </a:solidFill>
          <a:ln xmlns:a="http://schemas.openxmlformats.org/drawingml/2006/main" w="0">
            <a:noFill/>
          </a:ln>
        </p:spPr>
      </p:sp>
      <p:sp>
        <p:nvSpPr>
          <p:cNvPr id="3" name="Hormuz mark bar 2">
            <a:extLst xmlns:a="http://schemas.openxmlformats.org/drawingml/2006/main">
              <a:ext uri="{FF2B5EF4-FFF2-40B4-BE49-F238E27FC236}">
                <a16:creationId xmlns:a16="http://schemas.microsoft.com/office/drawing/2014/main" id="{BA77988F-27B6-4B6D-B067-E13FF5B59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28625"/>
            <a:ext cx="47625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684B"/>
          </a:solidFill>
          <a:ln xmlns:a="http://schemas.openxmlformats.org/drawingml/2006/main" w="0">
            <a:noFill/>
          </a:ln>
        </p:spPr>
      </p:sp>
      <p:sp>
        <p:nvSpPr>
          <p:cNvPr id="4" name="Hormuz mark bar 3">
            <a:extLst xmlns:a="http://schemas.openxmlformats.org/drawingml/2006/main">
              <a:ext uri="{FF2B5EF4-FFF2-40B4-BE49-F238E27FC236}">
                <a16:creationId xmlns:a16="http://schemas.microsoft.com/office/drawing/2014/main" id="{13E2A8B4-D1BB-4498-8535-48651ADFB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57200"/>
            <a:ext cx="47625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684B"/>
          </a:solidFill>
          <a:ln xmlns:a="http://schemas.openxmlformats.org/drawingml/2006/main" w="0">
            <a:noFill/>
          </a:ln>
        </p:spPr>
      </p:sp>
      <p:sp>
        <p:nvSpPr>
          <p:cNvPr id="5" name="section">
            <a:extLst xmlns:a="http://schemas.openxmlformats.org/drawingml/2006/main">
              <a:ext uri="{FF2B5EF4-FFF2-40B4-BE49-F238E27FC236}">
                <a16:creationId xmlns:a16="http://schemas.microsoft.com/office/drawing/2014/main" id="{B90C36A3-418B-4E46-9AAD-9C06C683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PROPOSED 90-DAY PILOT</a:t>
            </a:r>
          </a:p>
        </p:txBody>
      </p:sp>
      <p:sp>
        <p:nvSpPr>
          <p:cNvPr id="6" name="takeaway">
            <a:extLst xmlns:a="http://schemas.openxmlformats.org/drawingml/2006/main">
              <a:ext uri="{FF2B5EF4-FFF2-40B4-BE49-F238E27FC236}">
                <a16:creationId xmlns:a16="http://schemas.microsoft.com/office/drawing/2014/main" id="{CEDC67C9-8B63-4E2D-8A16-22006DB75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Prove one workflow before expanding.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41574274-CEE7-46D6-8D87-CC25B7E2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HORMUZ  /  Mehrdad Zaker  /  September 2026                                      06 / 07</a:t>
            </a:r>
          </a:p>
        </p:txBody>
      </p:sp>
      <p:sp>
        <p:nvSpPr>
          <p:cNvPr id="8" name="phase-01">
            <a:extLst xmlns:a="http://schemas.openxmlformats.org/drawingml/2006/main">
              <a:ext uri="{FF2B5EF4-FFF2-40B4-BE49-F238E27FC236}">
                <a16:creationId xmlns:a16="http://schemas.microsoft.com/office/drawing/2014/main" id="{0C18BF1D-A1DA-4C3B-A5A8-10C0BF2FE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phase-title-01">
            <a:extLst xmlns:a="http://schemas.openxmlformats.org/drawingml/2006/main">
              <a:ext uri="{FF2B5EF4-FFF2-40B4-BE49-F238E27FC236}">
                <a16:creationId xmlns:a16="http://schemas.microsoft.com/office/drawing/2014/main" id="{F37A19FA-4D61-4AA3-ACA3-564DAE2F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43175"/>
            <a:ext cx="963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Days 1–15 / Map</a:t>
            </a:r>
          </a:p>
        </p:txBody>
      </p:sp>
      <p:sp>
        <p:nvSpPr>
          <p:cNvPr id="10" name="phase-body-01">
            <a:extLst xmlns:a="http://schemas.openxmlformats.org/drawingml/2006/main">
              <a:ext uri="{FF2B5EF4-FFF2-40B4-BE49-F238E27FC236}">
                <a16:creationId xmlns:a16="http://schemas.microsoft.com/office/drawing/2014/main" id="{953BA0C1-DD1A-4FFA-81AE-55449AC35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019425"/>
            <a:ext cx="9639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Control map, prerequisites, and agreed acceptance criteria.</a:t>
            </a:r>
          </a:p>
        </p:txBody>
      </p:sp>
      <p:sp>
        <p:nvSpPr>
          <p:cNvPr id="11" name="phase-02">
            <a:extLst xmlns:a="http://schemas.openxmlformats.org/drawingml/2006/main">
              <a:ext uri="{FF2B5EF4-FFF2-40B4-BE49-F238E27FC236}">
                <a16:creationId xmlns:a16="http://schemas.microsoft.com/office/drawing/2014/main" id="{B8F2BB3D-1CD6-4324-BB8B-47FE8014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phase-title-02">
            <a:extLst xmlns:a="http://schemas.openxmlformats.org/drawingml/2006/main">
              <a:ext uri="{FF2B5EF4-FFF2-40B4-BE49-F238E27FC236}">
                <a16:creationId xmlns:a16="http://schemas.microsoft.com/office/drawing/2014/main" id="{8F8811D2-88CD-4313-9980-A03B548F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609975"/>
            <a:ext cx="963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Days 16–45 / Prove</a:t>
            </a:r>
          </a:p>
        </p:txBody>
      </p:sp>
      <p:sp>
        <p:nvSpPr>
          <p:cNvPr id="13" name="phase-body-02">
            <a:extLst xmlns:a="http://schemas.openxmlformats.org/drawingml/2006/main">
              <a:ext uri="{FF2B5EF4-FFF2-40B4-BE49-F238E27FC236}">
                <a16:creationId xmlns:a16="http://schemas.microsoft.com/office/drawing/2014/main" id="{70A3A507-384E-43D1-A9B3-DA6FA77F6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086225"/>
            <a:ext cx="9639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One non-production integration, evidence pack, and issue log.</a:t>
            </a:r>
          </a:p>
        </p:txBody>
      </p:sp>
      <p:sp>
        <p:nvSpPr>
          <p:cNvPr id="14" name="phase-03">
            <a:extLst xmlns:a="http://schemas.openxmlformats.org/drawingml/2006/main">
              <a:ext uri="{FF2B5EF4-FFF2-40B4-BE49-F238E27FC236}">
                <a16:creationId xmlns:a16="http://schemas.microsoft.com/office/drawing/2014/main" id="{67FA1F05-D398-454C-86BB-F63D3DF4E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phase-title-03">
            <a:extLst xmlns:a="http://schemas.openxmlformats.org/drawingml/2006/main">
              <a:ext uri="{FF2B5EF4-FFF2-40B4-BE49-F238E27FC236}">
                <a16:creationId xmlns:a16="http://schemas.microsoft.com/office/drawing/2014/main" id="{BEADE460-14C1-4BEA-AC8B-E1EE1D06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676775"/>
            <a:ext cx="963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Days 46–90 / Decide</a:t>
            </a:r>
          </a:p>
        </p:txBody>
      </p:sp>
      <p:sp>
        <p:nvSpPr>
          <p:cNvPr id="16" name="phase-body-03">
            <a:extLst xmlns:a="http://schemas.openxmlformats.org/drawingml/2006/main">
              <a:ext uri="{FF2B5EF4-FFF2-40B4-BE49-F238E27FC236}">
                <a16:creationId xmlns:a16="http://schemas.microsoft.com/office/drawing/2014/main" id="{6B55D9E2-B978-45A9-BF48-6F16A6684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153025"/>
            <a:ext cx="9639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Go/no-go decision, named gap owners, and operator handoff.</a:t>
            </a:r>
          </a:p>
        </p:txBody>
      </p:sp>
      <p:sp>
        <p:nvSpPr>
          <p:cNvPr id="17" name="pilot-boundary">
            <a:extLst xmlns:a="http://schemas.openxmlformats.org/drawingml/2006/main">
              <a:ext uri="{FF2B5EF4-FFF2-40B4-BE49-F238E27FC236}">
                <a16:creationId xmlns:a16="http://schemas.microsoft.com/office/drawing/2014/main" id="{5DE5169D-4EDC-4629-8417-C23DCE5A0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Start with fit and scope. A shorter evaluation may come first. No work is confirmed by an inquiry.</a:t>
            </a:r>
          </a:p>
        </p:txBody>
      </p:sp>
    </p:spTree>
    <p:extLst>
      <p:ext uri="{BB962C8B-B14F-4D97-AF65-F5344CB8AC3E}">
        <p14:creationId xmlns:p14="http://schemas.microsoft.com/office/powerpoint/2010/main" val="129614004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2439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Hormuz mark boundary">
            <a:extLst xmlns:a="http://schemas.openxmlformats.org/drawingml/2006/main">
              <a:ext uri="{FF2B5EF4-FFF2-40B4-BE49-F238E27FC236}">
                <a16:creationId xmlns:a16="http://schemas.microsoft.com/office/drawing/2014/main" id="{7A33625F-7897-453F-9B1D-63758C74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DA6"/>
            </a:solidFill>
            <a:prstDash val="solid"/>
          </a:ln>
        </p:spPr>
      </p:sp>
      <p:sp>
        <p:nvSpPr>
          <p:cNvPr id="2" name="Hormuz mark bar 1">
            <a:extLst xmlns:a="http://schemas.openxmlformats.org/drawingml/2006/main">
              <a:ext uri="{FF2B5EF4-FFF2-40B4-BE49-F238E27FC236}">
                <a16:creationId xmlns:a16="http://schemas.microsoft.com/office/drawing/2014/main" id="{834E8796-98E0-4871-8696-64021AEA1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476250"/>
            <a:ext cx="47625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DA6"/>
          </a:solidFill>
          <a:ln xmlns:a="http://schemas.openxmlformats.org/drawingml/2006/main" w="0">
            <a:noFill/>
          </a:ln>
        </p:spPr>
      </p:sp>
      <p:sp>
        <p:nvSpPr>
          <p:cNvPr id="3" name="Hormuz mark bar 2">
            <a:extLst xmlns:a="http://schemas.openxmlformats.org/drawingml/2006/main">
              <a:ext uri="{FF2B5EF4-FFF2-40B4-BE49-F238E27FC236}">
                <a16:creationId xmlns:a16="http://schemas.microsoft.com/office/drawing/2014/main" id="{52202C97-7226-4E66-8B4E-FBF2D338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28625"/>
            <a:ext cx="47625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DA6"/>
          </a:solidFill>
          <a:ln xmlns:a="http://schemas.openxmlformats.org/drawingml/2006/main" w="0">
            <a:noFill/>
          </a:ln>
        </p:spPr>
      </p:sp>
      <p:sp>
        <p:nvSpPr>
          <p:cNvPr id="4" name="Hormuz mark bar 3">
            <a:extLst xmlns:a="http://schemas.openxmlformats.org/drawingml/2006/main">
              <a:ext uri="{FF2B5EF4-FFF2-40B4-BE49-F238E27FC236}">
                <a16:creationId xmlns:a16="http://schemas.microsoft.com/office/drawing/2014/main" id="{D1789038-A2FE-46FE-8D38-11461431D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57200"/>
            <a:ext cx="47625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DA6"/>
          </a:solidFill>
          <a:ln xmlns:a="http://schemas.openxmlformats.org/drawingml/2006/main" w="0">
            <a:noFill/>
          </a:ln>
        </p:spPr>
      </p:sp>
      <p:sp>
        <p:nvSpPr>
          <p:cNvPr id="5" name="section">
            <a:extLst xmlns:a="http://schemas.openxmlformats.org/drawingml/2006/main">
              <a:ext uri="{FF2B5EF4-FFF2-40B4-BE49-F238E27FC236}">
                <a16:creationId xmlns:a16="http://schemas.microsoft.com/office/drawing/2014/main" id="{2335B92C-726C-4E41-BD37-3DD2B9450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A BOUNDED NEXT STEP</a:t>
            </a:r>
          </a:p>
        </p:txBody>
      </p:sp>
      <p:sp>
        <p:nvSpPr>
          <p:cNvPr id="6" name="takeaway">
            <a:extLst xmlns:a="http://schemas.openxmlformats.org/drawingml/2006/main">
              <a:ext uri="{FF2B5EF4-FFF2-40B4-BE49-F238E27FC236}">
                <a16:creationId xmlns:a16="http://schemas.microsoft.com/office/drawing/2014/main" id="{BE693FC7-8F5B-4372-9796-50526E0D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Name one workflow worth governing.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0153BEC5-F63D-4C18-A426-62F21AEB3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HORMUZ  /  Mehrdad Zaker  /  September 2026                                      07 / 07</a:t>
            </a:r>
          </a:p>
        </p:txBody>
      </p:sp>
      <p:sp>
        <p:nvSpPr>
          <p:cNvPr id="8" name="next-step">
            <a:extLst xmlns:a="http://schemas.openxmlformats.org/drawingml/2006/main">
              <a:ext uri="{FF2B5EF4-FFF2-40B4-BE49-F238E27FC236}">
                <a16:creationId xmlns:a16="http://schemas.microsoft.com/office/drawing/2014/main" id="{B5AD76F6-0655-4E41-89CF-BA630CD8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8585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Which client? Which team?</a:t>
            </a:r>
          </a:p>
          <a:p xmlns:a="http://schemas.openxmlformats.org/drawingml/2006/main">
            <a:pPr>
              <a:defRPr sz="3300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Which control is missing?</a:t>
            </a:r>
          </a:p>
          <a:p xmlns:a="http://schemas.openxmlformats.org/drawingml/2006/main">
            <a:pPr>
              <a:defRPr sz="3300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Who operates the route?</a:t>
            </a:r>
          </a:p>
        </p:txBody>
      </p:sp>
      <p:sp>
        <p:nvSpPr>
          <p:cNvPr id="9" name="contact">
            <a:extLst xmlns:a="http://schemas.openxmlformats.org/drawingml/2006/main">
              <a:ext uri="{FF2B5EF4-FFF2-40B4-BE49-F238E27FC236}">
                <a16:creationId xmlns:a16="http://schemas.microsoft.com/office/drawing/2014/main" id="{72C633C7-F8A6-41BE-B1FE-37828623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85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Mehrdad Zaker</a:t>
            </a:r>
          </a:p>
          <a:p xmlns:a="http://schemas.openxmlformats.org/drawingml/2006/main">
            <a:pPr>
              <a:defRPr sz="23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zaker.mehrdad@gmail.com</a:t>
            </a:r>
          </a:p>
        </p:txBody>
      </p:sp>
      <p:sp>
        <p:nvSpPr>
          <p:cNvPr id="10" name="website">
            <a:extLst xmlns:a="http://schemas.openxmlformats.org/drawingml/2006/main">
              <a:ext uri="{FF2B5EF4-FFF2-40B4-BE49-F238E27FC236}">
                <a16:creationId xmlns:a16="http://schemas.microsoft.com/office/drawing/2014/main" id="{873E3563-38B9-40B0-B4E5-BB417E569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usehormuz.github.io</a:t>
            </a:r>
          </a:p>
        </p:txBody>
      </p:sp>
    </p:spTree>
    <p:extLst>
      <p:ext uri="{BB962C8B-B14F-4D97-AF65-F5344CB8AC3E}">
        <p14:creationId xmlns:p14="http://schemas.microsoft.com/office/powerpoint/2010/main" val="16282765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2026-09-06T20:22:17.9600000Z</dcterms:created>
  <dcterms:modified xsi:type="dcterms:W3CDTF">2026-09-06T20:22:17.9600000Z</dcterms:modified>
</coreProperties>
</file>