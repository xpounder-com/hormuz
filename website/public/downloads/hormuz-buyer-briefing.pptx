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ea304c629e24f7a" /><Relationship Type="http://schemas.openxmlformats.org/officeDocument/2006/relationships/extended-properties" Target="/docProps/app.xml" Id="R12c0398534a046cc" /><Relationship Type="http://schemas.openxmlformats.org/officeDocument/2006/relationships/officeDocument" Target="/ppt/presentation.xml" Id="R5da81413d09b42a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d0c7e07e38e41b3"/>
  </p:sldMasterIdLst>
  <p:notesMasterIdLst>
    <p:notesMasterId xmlns:r="http://schemas.openxmlformats.org/officeDocument/2006/relationships" r:id="Rbcf5be65bfd24bbd"/>
  </p:notesMasterIdLst>
  <p:sldIdLst>
    <p:sldId xmlns:r="http://schemas.openxmlformats.org/officeDocument/2006/relationships" id="256" r:id="R7a8054394795479f"/>
    <p:sldId xmlns:r="http://schemas.openxmlformats.org/officeDocument/2006/relationships" id="257" r:id="R20531e4fea7646a6"/>
    <p:sldId xmlns:r="http://schemas.openxmlformats.org/officeDocument/2006/relationships" id="258" r:id="Rd520fa6987eb4d73"/>
    <p:sldId xmlns:r="http://schemas.openxmlformats.org/officeDocument/2006/relationships" id="259" r:id="R76120a6307804c4c"/>
    <p:sldId xmlns:r="http://schemas.openxmlformats.org/officeDocument/2006/relationships" id="260" r:id="Re8a19d8fcfd14355"/>
    <p:sldId xmlns:r="http://schemas.openxmlformats.org/officeDocument/2006/relationships" id="261" r:id="Rc1aa2f99143447ed"/>
    <p:sldId xmlns:r="http://schemas.openxmlformats.org/officeDocument/2006/relationships" id="262" r:id="R4eaff636ae2e4d3f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f1dd58da33249ec" /><Relationship Type="http://schemas.openxmlformats.org/officeDocument/2006/relationships/slideMaster" Target="/ppt/slideMasters/slideMaster1.xml" Id="Rcd0c7e07e38e41b3" /><Relationship Type="http://schemas.openxmlformats.org/officeDocument/2006/relationships/notesMaster" Target="/ppt/notesMasters/notesMaster1.xml" Id="Rbcf5be65bfd24bbd" /><Relationship Type="http://schemas.openxmlformats.org/officeDocument/2006/relationships/presProps" Target="/ppt/presProps.xml" Id="R5e73817cfdcc4778" /><Relationship Type="http://schemas.openxmlformats.org/officeDocument/2006/relationships/tableStyles" Target="/ppt/tableStyles.xml" Id="Rbabb76eed4a84ebb" /><Relationship Type="http://schemas.openxmlformats.org/officeDocument/2006/relationships/slide" Target="/ppt/slides/slide1.xml" Id="R7a8054394795479f" /><Relationship Type="http://schemas.openxmlformats.org/officeDocument/2006/relationships/slide" Target="/ppt/slides/slide2.xml" Id="R20531e4fea7646a6" /><Relationship Type="http://schemas.openxmlformats.org/officeDocument/2006/relationships/slide" Target="/ppt/slides/slide3.xml" Id="Rd520fa6987eb4d73" /><Relationship Type="http://schemas.openxmlformats.org/officeDocument/2006/relationships/slide" Target="/ppt/slides/slide4.xml" Id="R76120a6307804c4c" /><Relationship Type="http://schemas.openxmlformats.org/officeDocument/2006/relationships/slide" Target="/ppt/slides/slide5.xml" Id="Re8a19d8fcfd14355" /><Relationship Type="http://schemas.openxmlformats.org/officeDocument/2006/relationships/slide" Target="/ppt/slides/slide6.xml" Id="Rc1aa2f99143447ed" /><Relationship Type="http://schemas.openxmlformats.org/officeDocument/2006/relationships/slide" Target="/ppt/slides/slide7.xml" Id="R4eaff636ae2e4d3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9a82e0c66324c7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ca9f839632a434b" /><Relationship Type="http://schemas.openxmlformats.org/officeDocument/2006/relationships/notesMaster" Target="/ppt/notesMasters/notesMaster1.xml" Id="R41781f2e95cc492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aa31ec271304896" /><Relationship Type="http://schemas.openxmlformats.org/officeDocument/2006/relationships/notesMaster" Target="/ppt/notesMasters/notesMaster1.xml" Id="R91a5f0f262c441d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6a84c81ed494bbb" /><Relationship Type="http://schemas.openxmlformats.org/officeDocument/2006/relationships/notesMaster" Target="/ppt/notesMasters/notesMaster1.xml" Id="R22d122114d034d0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f3cab2ff7c04435" /><Relationship Type="http://schemas.openxmlformats.org/officeDocument/2006/relationships/notesMaster" Target="/ppt/notesMasters/notesMaster1.xml" Id="R9758edff83e6449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18d2cde19064a3e" /><Relationship Type="http://schemas.openxmlformats.org/officeDocument/2006/relationships/notesMaster" Target="/ppt/notesMasters/notesMaster1.xml" Id="Reb45cd2276af47c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bd5c1169a544c4a" /><Relationship Type="http://schemas.openxmlformats.org/officeDocument/2006/relationships/notesMaster" Target="/ppt/notesMasters/notesMaster1.xml" Id="R3b7f828a88f44711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4c80e117e964a35" /><Relationship Type="http://schemas.openxmlformats.org/officeDocument/2006/relationships/notesMaster" Target="/ppt/notesMasters/notesMaster1.xml" Id="Re98ae56fd6b54f1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https://github.com/Xpounder-com/hormuz/blob/main/marketing/OFFER.md</a:t>
            </a:r>
          </a:p>
          <a:p xmlns:a="http://schemas.openxmlformats.org/drawingml/2006/main">
            <a:r>
              <a:t>https://github.com/Xpounder-com/hormuz/blob/main/LICENSE</a:t>
            </a:r>
          </a:p>
          <a:p xmlns:a="http://schemas.openxmlformats.org/drawingml/2006/main">
            <a:r>
              <a:t>https://github.com/Xpounder-com/hormuz/blob/main/docs/CLIENTS.md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>Scope: public v1 source contracts and synthetic evidence. No customer outcome, certification, SLA, validated demand, or future software availability is implied.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https://github.com/Xpounder-com/hormuz/blob/main/docs/ARCHITECTURE.md</a:t>
            </a:r>
          </a:p>
          <a:p xmlns:a="http://schemas.openxmlformats.org/drawingml/2006/main">
            <a:r>
              <a:t>https://github.com/Xpounder-com/hormuz/blob/main/docs/CLIENTS.md</a:t>
            </a:r>
          </a:p>
          <a:p xmlns:a="http://schemas.openxmlformats.org/drawingml/2006/main">
            <a:r>
              <a:t>https://github.com/Xpounder-com/hormuz/blob/main/docs/AUDIT.md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>Scope: public v1 source contracts and synthetic evidence. No customer outcome, certification, SLA, validated demand, or future software availability is implied.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https://usehormuz.github.io/demo/</a:t>
            </a:r>
          </a:p>
          <a:p xmlns:a="http://schemas.openxmlformats.org/drawingml/2006/main">
            <a:r>
              <a:t>https://github.com/Xpounder-com/hormuz/blob/main/hormuz/demo.py</a:t>
            </a:r>
          </a:p>
          <a:p xmlns:a="http://schemas.openxmlformats.org/drawingml/2006/main">
            <a:r>
              <a:t>https://github.com/Xpounder-com/hormuz/blob/main/website/public/demo/gateway.json</a:t>
            </a:r>
          </a:p>
          <a:p xmlns:a="http://schemas.openxmlformats.org/drawingml/2006/main">
            <a:r>
              <a:t>https://github.com/Xpounder-com/hormuz/blob/main/website/public/demo/synthetic-evidence.jsonl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>Scope: public v1 source contracts and synthetic evidence. No customer outcome, certification, SLA, validated demand, or future software availability is implied.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https://github.com/Xpounder-com/hormuz/blob/main/LICENSE</a:t>
            </a:r>
          </a:p>
          <a:p xmlns:a="http://schemas.openxmlformats.org/drawingml/2006/main">
            <a:r>
              <a:t>https://github.com/Xpounder-com/hormuz/blob/main/marketing/OFFER.md</a:t>
            </a:r>
          </a:p>
          <a:p xmlns:a="http://schemas.openxmlformats.org/drawingml/2006/main">
            <a:r>
              <a:t>https://github.com/Xpounder-com/hormuz/blob/main/marketing/PILOT.md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>Scope: public v1 source contracts and synthetic evidence. No customer outcome, certification, SLA, validated demand, or future software availability is implied.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https://github.com/Xpounder-com/hormuz/blob/main/SUPPORT.md</a:t>
            </a:r>
          </a:p>
          <a:p xmlns:a="http://schemas.openxmlformats.org/drawingml/2006/main">
            <a:r>
              <a:t>https://github.com/Xpounder-com/hormuz/blob/main/docs/OIDC.md</a:t>
            </a:r>
          </a:p>
          <a:p xmlns:a="http://schemas.openxmlformats.org/drawingml/2006/main">
            <a:r>
              <a:t>https://github.com/Xpounder-com/hormuz/blob/main/docs/SECRET_CONTROLS.md</a:t>
            </a:r>
          </a:p>
          <a:p xmlns:a="http://schemas.openxmlformats.org/drawingml/2006/main">
            <a:r>
              <a:t>https://github.com/Xpounder-com/hormuz/blob/main/docs/USAGE.md</a:t>
            </a:r>
          </a:p>
          <a:p xmlns:a="http://schemas.openxmlformats.org/drawingml/2006/main">
            <a:r>
              <a:t>https://github.com/Xpounder-com/hormuz/blob/main/marketing/TRUST.md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>Scope: public v1 source contracts and synthetic evidence. No customer outcome, certification, SLA, validated demand, or future software availability is implied.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https://github.com/Xpounder-com/hormuz/blob/main/marketing/PILOT.md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>Scope: public v1 source contracts and synthetic evidence. No customer outcome, certification, SLA, validated demand, or future software availability is implied.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https://usehormuz.github.io/</a:t>
            </a:r>
          </a:p>
          <a:p xmlns:a="http://schemas.openxmlformats.org/drawingml/2006/main">
            <a:r>
              <a:t>https://github.com/Xpounder-com/hormuz/blob/main/marketing/PILOT.md</a:t>
            </a:r>
          </a:p>
          <a:p xmlns:a="http://schemas.openxmlformats.org/drawingml/2006/main">
            <a:r>
              <a:t>https://github.com/Xpounder-com/hormuz/blob/main/marketing/TRUST.md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>Scope: public v1 source contracts and synthetic evidence. No customer outcome, certification, SLA, validated demand, or future software availability is implied.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e2bab7457b64e5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fc8dc66c7bb448c" /><Relationship Type="http://schemas.openxmlformats.org/officeDocument/2006/relationships/slideLayout" Target="/ppt/slideLayouts/slideLayout1.xml" Id="R8e0878a4228741fb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e0878a4228741f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6e3440ca93243da" /><Relationship Type="http://schemas.openxmlformats.org/officeDocument/2006/relationships/notesSlide" Target="/ppt/notesSlides/notesSlide1.xml" Id="R6cd6094f984249c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1fa739bf9474ea2" /><Relationship Type="http://schemas.openxmlformats.org/officeDocument/2006/relationships/notesSlide" Target="/ppt/notesSlides/notesSlide2.xml" Id="R12c6059f8e6245c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aa99719b35343a9" /><Relationship Type="http://schemas.openxmlformats.org/officeDocument/2006/relationships/notesSlide" Target="/ppt/notesSlides/notesSlide3.xml" Id="R95a750ab3b5c4e4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032c74823044c8c" /><Relationship Type="http://schemas.openxmlformats.org/officeDocument/2006/relationships/notesSlide" Target="/ppt/notesSlides/notesSlide4.xml" Id="Ra5e7f7e2624c4d8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fa7b92438b34725" /><Relationship Type="http://schemas.openxmlformats.org/officeDocument/2006/relationships/notesSlide" Target="/ppt/notesSlides/notesSlide5.xml" Id="Rd6d5fe8d0b6d49a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485af75cb5140c7" /><Relationship Type="http://schemas.openxmlformats.org/officeDocument/2006/relationships/notesSlide" Target="/ppt/notesSlides/notesSlide6.xml" Id="R17a08ec79fa14be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882ea625a4a4037" /><Relationship Type="http://schemas.openxmlformats.org/officeDocument/2006/relationships/notesSlide" Target="/ppt/notesSlides/notesSlide7.xml" Id="Rb6b9d6a3773b4af4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24392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Hormuz mark boundary">
            <a:extLst xmlns:a="http://schemas.openxmlformats.org/drawingml/2006/main">
              <a:ext uri="{FF2B5EF4-FFF2-40B4-BE49-F238E27FC236}">
                <a16:creationId xmlns:a16="http://schemas.microsoft.com/office/drawing/2014/main" id="{B0BF9A4E-E4B8-4521-8622-39C249134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333375"/>
            <a:ext cx="381000" cy="3810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CEDA6"/>
            </a:solidFill>
            <a:prstDash val="solid"/>
          </a:ln>
        </p:spPr>
      </p:sp>
      <p:sp>
        <p:nvSpPr>
          <p:cNvPr id="2" name="Hormuz mark bar 1">
            <a:extLst xmlns:a="http://schemas.openxmlformats.org/drawingml/2006/main">
              <a:ext uri="{FF2B5EF4-FFF2-40B4-BE49-F238E27FC236}">
                <a16:creationId xmlns:a16="http://schemas.microsoft.com/office/drawing/2014/main" id="{EF0088F8-7E6E-402B-AD04-7606A2BD4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476250"/>
            <a:ext cx="47625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CEDA6"/>
          </a:solidFill>
          <a:ln xmlns:a="http://schemas.openxmlformats.org/drawingml/2006/main" w="0">
            <a:noFill/>
          </a:ln>
        </p:spPr>
      </p:sp>
      <p:sp>
        <p:nvSpPr>
          <p:cNvPr id="3" name="Hormuz mark bar 2">
            <a:extLst xmlns:a="http://schemas.openxmlformats.org/drawingml/2006/main">
              <a:ext uri="{FF2B5EF4-FFF2-40B4-BE49-F238E27FC236}">
                <a16:creationId xmlns:a16="http://schemas.microsoft.com/office/drawing/2014/main" id="{54380220-0332-4DC2-98B2-95143AD7C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63325" y="428625"/>
            <a:ext cx="47625" cy="190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CEDA6"/>
          </a:solidFill>
          <a:ln xmlns:a="http://schemas.openxmlformats.org/drawingml/2006/main" w="0">
            <a:noFill/>
          </a:ln>
        </p:spPr>
      </p:sp>
      <p:sp>
        <p:nvSpPr>
          <p:cNvPr id="4" name="Hormuz mark bar 3">
            <a:extLst xmlns:a="http://schemas.openxmlformats.org/drawingml/2006/main">
              <a:ext uri="{FF2B5EF4-FFF2-40B4-BE49-F238E27FC236}">
                <a16:creationId xmlns:a16="http://schemas.microsoft.com/office/drawing/2014/main" id="{7258B745-79AC-462C-A959-91AB67CCE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9525" y="457200"/>
            <a:ext cx="47625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CEDA6"/>
          </a:solidFill>
          <a:ln xmlns:a="http://schemas.openxmlformats.org/drawingml/2006/main" w="0">
            <a:noFill/>
          </a:ln>
        </p:spPr>
      </p:sp>
      <p:sp>
        <p:nvSpPr>
          <p:cNvPr id="5" name="section">
            <a:extLst xmlns:a="http://schemas.openxmlformats.org/drawingml/2006/main">
              <a:ext uri="{FF2B5EF4-FFF2-40B4-BE49-F238E27FC236}">
                <a16:creationId xmlns:a16="http://schemas.microsoft.com/office/drawing/2014/main" id="{572C6C87-0550-4928-9512-30BFE602C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76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DCEDA6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DCEDA6"/>
                </a:solidFill>
                <a:latin typeface="Arial"/>
                <a:ea typeface="Arial"/>
                <a:cs typeface="Arial"/>
              </a:rPr>
              <a:t>OPEN SOURCE + SUPPORTED EVALUATION</a:t>
            </a:r>
          </a:p>
        </p:txBody>
      </p:sp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4D898725-1652-4974-827E-B54240544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DCE6D5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DCE6D5"/>
                </a:solidFill>
                <a:latin typeface="Arial"/>
                <a:ea typeface="Arial"/>
                <a:cs typeface="Arial"/>
              </a:rPr>
              <a:t>HORMUZ  /  A product of Neuralint  /  Mehrdad Zaker  /  September 2026</a:t>
            </a:r>
          </a:p>
        </p:txBody>
      </p:sp>
      <p:sp>
        <p:nvSpPr>
          <p:cNvPr id="7" name="page-number">
            <a:extLst xmlns:a="http://schemas.openxmlformats.org/drawingml/2006/main">
              <a:ext uri="{FF2B5EF4-FFF2-40B4-BE49-F238E27FC236}">
                <a16:creationId xmlns:a16="http://schemas.microsoft.com/office/drawing/2014/main" id="{84637D8D-E2A7-40F2-9D48-C9064B11C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400800"/>
            <a:ext cx="609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DCE6D5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DCE6D5"/>
                </a:solidFill>
                <a:latin typeface="Arial"/>
                <a:ea typeface="Arial"/>
                <a:cs typeface="Arial"/>
              </a:rPr>
              <a:t>01 / 07</a:t>
            </a:r>
          </a:p>
        </p:txBody>
      </p:sp>
      <p:sp>
        <p:nvSpPr>
          <p:cNvPr id="8" name="cover-title">
            <a:extLst xmlns:a="http://schemas.openxmlformats.org/drawingml/2006/main">
              <a:ext uri="{FF2B5EF4-FFF2-40B4-BE49-F238E27FC236}">
                <a16:creationId xmlns:a16="http://schemas.microsoft.com/office/drawing/2014/main" id="{EA793445-A2FD-48AF-88D2-FED2573CC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85900"/>
            <a:ext cx="10858500" cy="2114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5700" b="1">
                <a:solidFill>
                  <a:srgbClr val="FAFBF6"/>
                </a:solidFill>
                <a:latin typeface="Arial"/>
                <a:ea typeface="Arial"/>
                <a:cs typeface="Arial"/>
              </a:defRPr>
            </a:pPr>
            <a:r>
              <a:rPr sz="5700" b="1">
                <a:solidFill>
                  <a:srgbClr val="FAFBF6"/>
                </a:solidFill>
                <a:latin typeface="Arial"/>
                <a:ea typeface="Arial"/>
                <a:cs typeface="Arial"/>
              </a:rPr>
              <a:t>Give your team AI.</a:t>
            </a:r>
          </a:p>
          <a:p xmlns:a="http://schemas.openxmlformats.org/drawingml/2006/main">
            <a:pPr>
              <a:defRPr sz="5700" b="1">
                <a:solidFill>
                  <a:srgbClr val="FAFBF6"/>
                </a:solidFill>
                <a:latin typeface="Arial"/>
                <a:ea typeface="Arial"/>
                <a:cs typeface="Arial"/>
              </a:defRPr>
            </a:pPr>
            <a:r>
              <a:rPr sz="5700" b="1">
                <a:solidFill>
                  <a:srgbClr val="FAFBF6"/>
                </a:solidFill>
                <a:latin typeface="Arial"/>
                <a:ea typeface="Arial"/>
                <a:cs typeface="Arial"/>
              </a:rPr>
              <a:t>Keep control.</a:t>
            </a:r>
          </a:p>
        </p:txBody>
      </p:sp>
      <p:sp>
        <p:nvSpPr>
          <p:cNvPr id="9" name="cover-summary">
            <a:extLst xmlns:a="http://schemas.openxmlformats.org/drawingml/2006/main">
              <a:ext uri="{FF2B5EF4-FFF2-40B4-BE49-F238E27FC236}">
                <a16:creationId xmlns:a16="http://schemas.microsoft.com/office/drawing/2014/main" id="{1A22AF0D-1E44-434B-B1ED-2ED8695F9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171950"/>
            <a:ext cx="1057275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D9E1DF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D9E1DF"/>
                </a:solidFill>
                <a:latin typeface="Arial"/>
                <a:ea typeface="Arial"/>
                <a:cs typeface="Arial"/>
              </a:rPr>
              <a:t>Self-hosted policy, budgets, secret controls,</a:t>
            </a:r>
          </a:p>
          <a:p xmlns:a="http://schemas.openxmlformats.org/drawingml/2006/main">
            <a:pPr>
              <a:defRPr sz="2325" b="0">
                <a:solidFill>
                  <a:srgbClr val="D9E1DF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D9E1DF"/>
                </a:solidFill>
                <a:latin typeface="Arial"/>
                <a:ea typeface="Arial"/>
                <a:cs typeface="Arial"/>
              </a:rPr>
              <a:t>and metadata-only evidence for Codex and Claude Code.</a:t>
            </a:r>
          </a:p>
        </p:txBody>
      </p:sp>
      <p:sp>
        <p:nvSpPr>
          <p:cNvPr id="10" name="cover-boundary">
            <a:extLst xmlns:a="http://schemas.openxmlformats.org/drawingml/2006/main">
              <a:ext uri="{FF2B5EF4-FFF2-40B4-BE49-F238E27FC236}">
                <a16:creationId xmlns:a16="http://schemas.microsoft.com/office/drawing/2014/main" id="{13E2D2F9-7272-4063-8C42-BF8EF3C89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43550"/>
            <a:ext cx="10572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DCEDA6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DCEDA6"/>
                </a:solidFill>
                <a:latin typeface="Arial"/>
                <a:ea typeface="Arial"/>
                <a:cs typeface="Arial"/>
              </a:rPr>
              <a:t>Apache-2.0 core  •  v1.0.0 source contracts</a:t>
            </a:r>
          </a:p>
        </p:txBody>
      </p:sp>
    </p:spTree>
    <p:extLst>
      <p:ext uri="{BB962C8B-B14F-4D97-AF65-F5344CB8AC3E}">
        <p14:creationId xmlns:p14="http://schemas.microsoft.com/office/powerpoint/2010/main" val="25714133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4F3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Hormuz mark boundary">
            <a:extLst xmlns:a="http://schemas.openxmlformats.org/drawingml/2006/main">
              <a:ext uri="{FF2B5EF4-FFF2-40B4-BE49-F238E27FC236}">
                <a16:creationId xmlns:a16="http://schemas.microsoft.com/office/drawing/2014/main" id="{C616B305-D674-47A7-843B-73F2782E2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333375"/>
            <a:ext cx="381000" cy="3810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31684B"/>
            </a:solidFill>
            <a:prstDash val="solid"/>
          </a:ln>
        </p:spPr>
      </p:sp>
      <p:sp>
        <p:nvSpPr>
          <p:cNvPr id="2" name="Hormuz mark bar 1">
            <a:extLst xmlns:a="http://schemas.openxmlformats.org/drawingml/2006/main">
              <a:ext uri="{FF2B5EF4-FFF2-40B4-BE49-F238E27FC236}">
                <a16:creationId xmlns:a16="http://schemas.microsoft.com/office/drawing/2014/main" id="{F2620ED3-5197-48AD-857A-E734EB7C9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476250"/>
            <a:ext cx="47625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1684B"/>
          </a:solidFill>
          <a:ln xmlns:a="http://schemas.openxmlformats.org/drawingml/2006/main" w="0">
            <a:noFill/>
          </a:ln>
        </p:spPr>
      </p:sp>
      <p:sp>
        <p:nvSpPr>
          <p:cNvPr id="3" name="Hormuz mark bar 2">
            <a:extLst xmlns:a="http://schemas.openxmlformats.org/drawingml/2006/main">
              <a:ext uri="{FF2B5EF4-FFF2-40B4-BE49-F238E27FC236}">
                <a16:creationId xmlns:a16="http://schemas.microsoft.com/office/drawing/2014/main" id="{A1F88F53-8E71-4813-9EA8-ACB15D614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63325" y="428625"/>
            <a:ext cx="47625" cy="190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1684B"/>
          </a:solidFill>
          <a:ln xmlns:a="http://schemas.openxmlformats.org/drawingml/2006/main" w="0">
            <a:noFill/>
          </a:ln>
        </p:spPr>
      </p:sp>
      <p:sp>
        <p:nvSpPr>
          <p:cNvPr id="4" name="Hormuz mark bar 3">
            <a:extLst xmlns:a="http://schemas.openxmlformats.org/drawingml/2006/main">
              <a:ext uri="{FF2B5EF4-FFF2-40B4-BE49-F238E27FC236}">
                <a16:creationId xmlns:a16="http://schemas.microsoft.com/office/drawing/2014/main" id="{6D49C5F2-DDE0-4C3D-A31C-50C116717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9525" y="457200"/>
            <a:ext cx="47625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1684B"/>
          </a:solidFill>
          <a:ln xmlns:a="http://schemas.openxmlformats.org/drawingml/2006/main" w="0">
            <a:noFill/>
          </a:ln>
        </p:spPr>
      </p:sp>
      <p:sp>
        <p:nvSpPr>
          <p:cNvPr id="5" name="section">
            <a:extLst xmlns:a="http://schemas.openxmlformats.org/drawingml/2006/main">
              <a:ext uri="{FF2B5EF4-FFF2-40B4-BE49-F238E27FC236}">
                <a16:creationId xmlns:a16="http://schemas.microsoft.com/office/drawing/2014/main" id="{5F583A0B-7F92-408F-B34A-13E9CCB8E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76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31684B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31684B"/>
                </a:solidFill>
                <a:latin typeface="Arial"/>
                <a:ea typeface="Arial"/>
                <a:cs typeface="Arial"/>
              </a:rPr>
              <a:t>THE CONTROL POINT</a:t>
            </a:r>
          </a:p>
        </p:txBody>
      </p:sp>
      <p:sp>
        <p:nvSpPr>
          <p:cNvPr id="6" name="takeaway">
            <a:extLst xmlns:a="http://schemas.openxmlformats.org/drawingml/2006/main">
              <a:ext uri="{FF2B5EF4-FFF2-40B4-BE49-F238E27FC236}">
                <a16:creationId xmlns:a16="http://schemas.microsoft.com/office/drawing/2014/main" id="{89294B07-40D8-4888-B1B7-8DAD5BCCD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09650"/>
            <a:ext cx="1097280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202723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202723"/>
                </a:solidFill>
                <a:latin typeface="Arial"/>
                <a:ea typeface="Arial"/>
                <a:cs typeface="Arial"/>
              </a:rPr>
              <a:t>Put policy in the model-request path.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63E1982C-E102-4D86-B9EB-7BB490E5E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C6758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C6758"/>
                </a:solidFill>
                <a:latin typeface="Arial"/>
                <a:ea typeface="Arial"/>
                <a:cs typeface="Arial"/>
              </a:rPr>
              <a:t>HORMUZ  /  A product of Neuralint  /  Mehrdad Zaker  /  September 2026</a:t>
            </a:r>
          </a:p>
        </p:txBody>
      </p:sp>
      <p:sp>
        <p:nvSpPr>
          <p:cNvPr id="8" name="page-number">
            <a:extLst xmlns:a="http://schemas.openxmlformats.org/drawingml/2006/main">
              <a:ext uri="{FF2B5EF4-FFF2-40B4-BE49-F238E27FC236}">
                <a16:creationId xmlns:a16="http://schemas.microsoft.com/office/drawing/2014/main" id="{20E6A3A5-0105-4711-A6F9-55750AF8F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400800"/>
            <a:ext cx="609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C6758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C6758"/>
                </a:solidFill>
                <a:latin typeface="Arial"/>
                <a:ea typeface="Arial"/>
                <a:cs typeface="Arial"/>
              </a:rPr>
              <a:t>02 / 07</a:t>
            </a:r>
          </a:p>
        </p:txBody>
      </p:sp>
      <p:sp>
        <p:nvSpPr>
          <p:cNvPr id="9" name="arrow-one">
            <a:extLst xmlns:a="http://schemas.openxmlformats.org/drawingml/2006/main">
              <a:ext uri="{FF2B5EF4-FFF2-40B4-BE49-F238E27FC236}">
                <a16:creationId xmlns:a16="http://schemas.microsoft.com/office/drawing/2014/main" id="{7B53CAF2-30C5-488F-8E30-959273B21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2962275"/>
            <a:ext cx="571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450" b="0">
                <a:solidFill>
                  <a:srgbClr val="31684B"/>
                </a:solidFill>
                <a:latin typeface="Arial"/>
                <a:ea typeface="Arial"/>
                <a:cs typeface="Arial"/>
              </a:defRPr>
            </a:pPr>
            <a:r>
              <a:rPr sz="3450" b="0">
                <a:solidFill>
                  <a:srgbClr val="31684B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0" name="arrow-two">
            <a:extLst xmlns:a="http://schemas.openxmlformats.org/drawingml/2006/main">
              <a:ext uri="{FF2B5EF4-FFF2-40B4-BE49-F238E27FC236}">
                <a16:creationId xmlns:a16="http://schemas.microsoft.com/office/drawing/2014/main" id="{C245EF8B-E895-421E-A83F-ADB476863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39075" y="2962275"/>
            <a:ext cx="571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450" b="0">
                <a:solidFill>
                  <a:srgbClr val="31684B"/>
                </a:solidFill>
                <a:latin typeface="Arial"/>
                <a:ea typeface="Arial"/>
                <a:cs typeface="Arial"/>
              </a:defRPr>
            </a:pPr>
            <a:r>
              <a:rPr sz="3450" b="0">
                <a:solidFill>
                  <a:srgbClr val="31684B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1" name="EMPLOYEE CLIENT">
            <a:extLst xmlns:a="http://schemas.openxmlformats.org/drawingml/2006/main">
              <a:ext uri="{FF2B5EF4-FFF2-40B4-BE49-F238E27FC236}">
                <a16:creationId xmlns:a16="http://schemas.microsoft.com/office/drawing/2014/main" id="{EBA64CCD-4C42-47AB-A18A-3AF042D2F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0325"/>
            <a:ext cx="28575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BF6"/>
          </a:solidFill>
          <a:ln xmlns:a="http://schemas.openxmlformats.org/drawingml/2006/main" w="9525">
            <a:solidFill>
              <a:srgbClr val="D4DBCC"/>
            </a:solidFill>
            <a:prstDash val="solid"/>
          </a:ln>
        </p:spPr>
      </p:sp>
      <p:sp>
        <p:nvSpPr>
          <p:cNvPr id="12" name="EMPLOYEE CLIENT-title">
            <a:extLst xmlns:a="http://schemas.openxmlformats.org/drawingml/2006/main">
              <a:ext uri="{FF2B5EF4-FFF2-40B4-BE49-F238E27FC236}">
                <a16:creationId xmlns:a16="http://schemas.microsoft.com/office/drawing/2014/main" id="{1C5E2250-BD72-4A8A-AFE2-F1B22E602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8194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31684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31684B"/>
                </a:solidFill>
                <a:latin typeface="Arial"/>
                <a:ea typeface="Arial"/>
                <a:cs typeface="Arial"/>
              </a:rPr>
              <a:t>EMPLOYEE CLIENT</a:t>
            </a:r>
          </a:p>
        </p:txBody>
      </p:sp>
      <p:sp>
        <p:nvSpPr>
          <p:cNvPr id="13" name="EMPLOYEE CLIENT-body">
            <a:extLst xmlns:a="http://schemas.openxmlformats.org/drawingml/2006/main">
              <a:ext uri="{FF2B5EF4-FFF2-40B4-BE49-F238E27FC236}">
                <a16:creationId xmlns:a16="http://schemas.microsoft.com/office/drawing/2014/main" id="{FABEBE93-2670-4B15-93C8-B6FB4D046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371850"/>
            <a:ext cx="2476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202723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202723"/>
                </a:solidFill>
                <a:latin typeface="Arial"/>
                <a:ea typeface="Arial"/>
                <a:cs typeface="Arial"/>
              </a:rPr>
              <a:t>Codex / Claude Code</a:t>
            </a:r>
          </a:p>
          <a:p xmlns:a="http://schemas.openxmlformats.org/drawingml/2006/main">
            <a:pPr>
              <a:defRPr sz="1800" b="0">
                <a:solidFill>
                  <a:srgbClr val="202723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202723"/>
                </a:solidFill>
                <a:latin typeface="Arial"/>
                <a:ea typeface="Arial"/>
                <a:cs typeface="Arial"/>
              </a:rPr>
              <a:t>Unique Hormuz identity</a:t>
            </a:r>
          </a:p>
        </p:txBody>
      </p:sp>
      <p:sp>
        <p:nvSpPr>
          <p:cNvPr id="14" name="HORMUZ">
            <a:extLst xmlns:a="http://schemas.openxmlformats.org/drawingml/2006/main">
              <a:ext uri="{FF2B5EF4-FFF2-40B4-BE49-F238E27FC236}">
                <a16:creationId xmlns:a16="http://schemas.microsoft.com/office/drawing/2014/main" id="{8CB34AFD-36A7-4997-9CA3-A4BC4527E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600325"/>
            <a:ext cx="32385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BF6"/>
          </a:solidFill>
          <a:ln xmlns:a="http://schemas.openxmlformats.org/drawingml/2006/main" w="9525">
            <a:solidFill>
              <a:srgbClr val="D4DBCC"/>
            </a:solidFill>
            <a:prstDash val="solid"/>
          </a:ln>
        </p:spPr>
      </p:sp>
      <p:sp>
        <p:nvSpPr>
          <p:cNvPr id="15" name="HORMUZ-title">
            <a:extLst xmlns:a="http://schemas.openxmlformats.org/drawingml/2006/main">
              <a:ext uri="{FF2B5EF4-FFF2-40B4-BE49-F238E27FC236}">
                <a16:creationId xmlns:a16="http://schemas.microsoft.com/office/drawing/2014/main" id="{7849F456-3F2F-4FC6-A3AB-4129EC503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819400"/>
            <a:ext cx="285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31684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31684B"/>
                </a:solidFill>
                <a:latin typeface="Arial"/>
                <a:ea typeface="Arial"/>
                <a:cs typeface="Arial"/>
              </a:rPr>
              <a:t>HORMUZ</a:t>
            </a:r>
          </a:p>
        </p:txBody>
      </p:sp>
      <p:sp>
        <p:nvSpPr>
          <p:cNvPr id="16" name="HORMUZ-body">
            <a:extLst xmlns:a="http://schemas.openxmlformats.org/drawingml/2006/main">
              <a:ext uri="{FF2B5EF4-FFF2-40B4-BE49-F238E27FC236}">
                <a16:creationId xmlns:a16="http://schemas.microsoft.com/office/drawing/2014/main" id="{68B17EBC-7A76-4FB3-A33B-DE1B51596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3371850"/>
            <a:ext cx="2857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202723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202723"/>
                </a:solidFill>
                <a:latin typeface="Arial"/>
                <a:ea typeface="Arial"/>
                <a:cs typeface="Arial"/>
              </a:rPr>
              <a:t>Identity + policy + secrets</a:t>
            </a:r>
          </a:p>
          <a:p xmlns:a="http://schemas.openxmlformats.org/drawingml/2006/main">
            <a:pPr>
              <a:defRPr sz="1800" b="0">
                <a:solidFill>
                  <a:srgbClr val="202723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202723"/>
                </a:solidFill>
                <a:latin typeface="Arial"/>
                <a:ea typeface="Arial"/>
                <a:cs typeface="Arial"/>
              </a:rPr>
              <a:t>Budget before egress</a:t>
            </a:r>
          </a:p>
        </p:txBody>
      </p:sp>
      <p:sp>
        <p:nvSpPr>
          <p:cNvPr id="17" name="MODEL PROVIDER">
            <a:extLst xmlns:a="http://schemas.openxmlformats.org/drawingml/2006/main">
              <a:ext uri="{FF2B5EF4-FFF2-40B4-BE49-F238E27FC236}">
                <a16:creationId xmlns:a16="http://schemas.microsoft.com/office/drawing/2014/main" id="{0A344401-14F5-45F2-B130-9A4B15F44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600325"/>
            <a:ext cx="30861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BF6"/>
          </a:solidFill>
          <a:ln xmlns:a="http://schemas.openxmlformats.org/drawingml/2006/main" w="9525">
            <a:solidFill>
              <a:srgbClr val="D4DBCC"/>
            </a:solidFill>
            <a:prstDash val="solid"/>
          </a:ln>
        </p:spPr>
      </p:sp>
      <p:sp>
        <p:nvSpPr>
          <p:cNvPr id="18" name="MODEL PROVIDER-title">
            <a:extLst xmlns:a="http://schemas.openxmlformats.org/drawingml/2006/main">
              <a:ext uri="{FF2B5EF4-FFF2-40B4-BE49-F238E27FC236}">
                <a16:creationId xmlns:a16="http://schemas.microsoft.com/office/drawing/2014/main" id="{5B9EA19E-1824-4CDA-A304-F94437514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2819400"/>
            <a:ext cx="2705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31684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31684B"/>
                </a:solidFill>
                <a:latin typeface="Arial"/>
                <a:ea typeface="Arial"/>
                <a:cs typeface="Arial"/>
              </a:rPr>
              <a:t>MODEL PROVIDER</a:t>
            </a:r>
          </a:p>
        </p:txBody>
      </p:sp>
      <p:sp>
        <p:nvSpPr>
          <p:cNvPr id="19" name="MODEL PROVIDER-body">
            <a:extLst xmlns:a="http://schemas.openxmlformats.org/drawingml/2006/main">
              <a:ext uri="{FF2B5EF4-FFF2-40B4-BE49-F238E27FC236}">
                <a16:creationId xmlns:a16="http://schemas.microsoft.com/office/drawing/2014/main" id="{B9F38047-5181-4262-8CF6-AF5F58EB1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3371850"/>
            <a:ext cx="27051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202723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202723"/>
                </a:solidFill>
                <a:latin typeface="Arial"/>
                <a:ea typeface="Arial"/>
                <a:cs typeface="Arial"/>
              </a:rPr>
              <a:t>Company account</a:t>
            </a:r>
          </a:p>
          <a:p xmlns:a="http://schemas.openxmlformats.org/drawingml/2006/main">
            <a:pPr>
              <a:defRPr sz="1800" b="0">
                <a:solidFill>
                  <a:srgbClr val="202723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202723"/>
                </a:solidFill>
                <a:latin typeface="Arial"/>
                <a:ea typeface="Arial"/>
                <a:cs typeface="Arial"/>
              </a:rPr>
              <a:t>Server-side provider key</a:t>
            </a:r>
          </a:p>
        </p:txBody>
      </p:sp>
      <p:sp>
        <p:nvSpPr>
          <p:cNvPr id="20" name="metadata">
            <a:extLst xmlns:a="http://schemas.openxmlformats.org/drawingml/2006/main">
              <a:ext uri="{FF2B5EF4-FFF2-40B4-BE49-F238E27FC236}">
                <a16:creationId xmlns:a16="http://schemas.microsoft.com/office/drawing/2014/main" id="{DD3377E4-448F-41CC-B9C1-A1AB8D1AD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76800"/>
            <a:ext cx="109728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202723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202723"/>
                </a:solidFill>
                <a:latin typeface="Arial"/>
                <a:ea typeface="Arial"/>
                <a:cs typeface="Arial"/>
              </a:rPr>
              <a:t>Retain the control record, not the conversation.</a:t>
            </a:r>
          </a:p>
        </p:txBody>
      </p:sp>
      <p:sp>
        <p:nvSpPr>
          <p:cNvPr id="21" name="boundary">
            <a:extLst xmlns:a="http://schemas.openxmlformats.org/drawingml/2006/main">
              <a:ext uri="{FF2B5EF4-FFF2-40B4-BE49-F238E27FC236}">
                <a16:creationId xmlns:a16="http://schemas.microsoft.com/office/drawing/2014/main" id="{1FA0D41D-CAB6-4F35-B856-21E57CF9D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5C6758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C6758"/>
                </a:solidFill>
                <a:latin typeface="Arial"/>
                <a:ea typeface="Arial"/>
                <a:cs typeface="Arial"/>
              </a:rPr>
              <a:t>Allowed content still reaches the provider. Bypassed requests and client-side shell, MCP, Git, or browser activity are outside Hormuz’s coverage.</a:t>
            </a:r>
          </a:p>
        </p:txBody>
      </p:sp>
    </p:spTree>
    <p:extLst>
      <p:ext uri="{BB962C8B-B14F-4D97-AF65-F5344CB8AC3E}">
        <p14:creationId xmlns:p14="http://schemas.microsoft.com/office/powerpoint/2010/main" val="209327617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24392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Hormuz mark boundary">
            <a:extLst xmlns:a="http://schemas.openxmlformats.org/drawingml/2006/main">
              <a:ext uri="{FF2B5EF4-FFF2-40B4-BE49-F238E27FC236}">
                <a16:creationId xmlns:a16="http://schemas.microsoft.com/office/drawing/2014/main" id="{279A3BFD-BF0E-42C1-B1B1-0983E9ACE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333375"/>
            <a:ext cx="381000" cy="3810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CEDA6"/>
            </a:solidFill>
            <a:prstDash val="solid"/>
          </a:ln>
        </p:spPr>
      </p:sp>
      <p:sp>
        <p:nvSpPr>
          <p:cNvPr id="2" name="Hormuz mark bar 1">
            <a:extLst xmlns:a="http://schemas.openxmlformats.org/drawingml/2006/main">
              <a:ext uri="{FF2B5EF4-FFF2-40B4-BE49-F238E27FC236}">
                <a16:creationId xmlns:a16="http://schemas.microsoft.com/office/drawing/2014/main" id="{242500A5-A78C-4276-BE7A-F14290406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476250"/>
            <a:ext cx="47625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CEDA6"/>
          </a:solidFill>
          <a:ln xmlns:a="http://schemas.openxmlformats.org/drawingml/2006/main" w="0">
            <a:noFill/>
          </a:ln>
        </p:spPr>
      </p:sp>
      <p:sp>
        <p:nvSpPr>
          <p:cNvPr id="3" name="Hormuz mark bar 2">
            <a:extLst xmlns:a="http://schemas.openxmlformats.org/drawingml/2006/main">
              <a:ext uri="{FF2B5EF4-FFF2-40B4-BE49-F238E27FC236}">
                <a16:creationId xmlns:a16="http://schemas.microsoft.com/office/drawing/2014/main" id="{B3AC06E0-0B74-4BCC-8C92-319A03C6B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63325" y="428625"/>
            <a:ext cx="47625" cy="190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CEDA6"/>
          </a:solidFill>
          <a:ln xmlns:a="http://schemas.openxmlformats.org/drawingml/2006/main" w="0">
            <a:noFill/>
          </a:ln>
        </p:spPr>
      </p:sp>
      <p:sp>
        <p:nvSpPr>
          <p:cNvPr id="4" name="Hormuz mark bar 3">
            <a:extLst xmlns:a="http://schemas.openxmlformats.org/drawingml/2006/main">
              <a:ext uri="{FF2B5EF4-FFF2-40B4-BE49-F238E27FC236}">
                <a16:creationId xmlns:a16="http://schemas.microsoft.com/office/drawing/2014/main" id="{78790558-2A3B-4A11-B07C-4AD2F0003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9525" y="457200"/>
            <a:ext cx="47625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CEDA6"/>
          </a:solidFill>
          <a:ln xmlns:a="http://schemas.openxmlformats.org/drawingml/2006/main" w="0">
            <a:noFill/>
          </a:ln>
        </p:spPr>
      </p:sp>
      <p:sp>
        <p:nvSpPr>
          <p:cNvPr id="5" name="section">
            <a:extLst xmlns:a="http://schemas.openxmlformats.org/drawingml/2006/main">
              <a:ext uri="{FF2B5EF4-FFF2-40B4-BE49-F238E27FC236}">
                <a16:creationId xmlns:a16="http://schemas.microsoft.com/office/drawing/2014/main" id="{C1ECAE55-81F7-4950-8F59-362475F72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76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DCEDA6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DCEDA6"/>
                </a:solidFill>
                <a:latin typeface="Arial"/>
                <a:ea typeface="Arial"/>
                <a:cs typeface="Arial"/>
              </a:rPr>
              <a:t>INSPECT THE PROOF</a:t>
            </a:r>
          </a:p>
        </p:txBody>
      </p:sp>
      <p:sp>
        <p:nvSpPr>
          <p:cNvPr id="6" name="takeaway">
            <a:extLst xmlns:a="http://schemas.openxmlformats.org/drawingml/2006/main">
              <a:ext uri="{FF2B5EF4-FFF2-40B4-BE49-F238E27FC236}">
                <a16:creationId xmlns:a16="http://schemas.microsoft.com/office/drawing/2014/main" id="{BDD23D6F-7B13-4717-967F-6D7E81311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09650"/>
            <a:ext cx="1097280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FAFBF6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FAFBF6"/>
                </a:solidFill>
                <a:latin typeface="Arial"/>
                <a:ea typeface="Arial"/>
                <a:cs typeface="Arial"/>
              </a:rPr>
              <a:t>A real demo. Synthetic inputs.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D86C3A45-C9E4-4329-ADFB-2F06E4364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DCE6D5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DCE6D5"/>
                </a:solidFill>
                <a:latin typeface="Arial"/>
                <a:ea typeface="Arial"/>
                <a:cs typeface="Arial"/>
              </a:rPr>
              <a:t>HORMUZ  /  A product of Neuralint  /  Mehrdad Zaker  /  September 2026</a:t>
            </a:r>
          </a:p>
        </p:txBody>
      </p:sp>
      <p:sp>
        <p:nvSpPr>
          <p:cNvPr id="8" name="page-number">
            <a:extLst xmlns:a="http://schemas.openxmlformats.org/drawingml/2006/main">
              <a:ext uri="{FF2B5EF4-FFF2-40B4-BE49-F238E27FC236}">
                <a16:creationId xmlns:a16="http://schemas.microsoft.com/office/drawing/2014/main" id="{5E738AA0-F411-4D81-926F-B60EEBFC2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400800"/>
            <a:ext cx="609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DCE6D5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DCE6D5"/>
                </a:solidFill>
                <a:latin typeface="Arial"/>
                <a:ea typeface="Arial"/>
                <a:cs typeface="Arial"/>
              </a:rPr>
              <a:t>03 / 07</a:t>
            </a:r>
          </a:p>
        </p:txBody>
      </p:sp>
      <p:sp>
        <p:nvSpPr>
          <p:cNvPr id="9" name="zero">
            <a:extLst xmlns:a="http://schemas.openxmlformats.org/drawingml/2006/main">
              <a:ext uri="{FF2B5EF4-FFF2-40B4-BE49-F238E27FC236}">
                <a16:creationId xmlns:a16="http://schemas.microsoft.com/office/drawing/2014/main" id="{C84849C1-7A7D-462D-8DA5-76DDBF7ED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52700"/>
            <a:ext cx="2095500" cy="1543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0500" b="1">
                <a:solidFill>
                  <a:srgbClr val="DCEDA6"/>
                </a:solidFill>
                <a:latin typeface="Arial"/>
                <a:ea typeface="Arial"/>
                <a:cs typeface="Arial"/>
              </a:defRPr>
            </a:pPr>
            <a:r>
              <a:rPr sz="10500" b="1">
                <a:solidFill>
                  <a:srgbClr val="DCEDA6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10" name="zero-label">
            <a:extLst xmlns:a="http://schemas.openxmlformats.org/drawingml/2006/main">
              <a:ext uri="{FF2B5EF4-FFF2-40B4-BE49-F238E27FC236}">
                <a16:creationId xmlns:a16="http://schemas.microsoft.com/office/drawing/2014/main" id="{0EA22C6B-5151-426B-8934-4A4D4C35C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48150"/>
            <a:ext cx="342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FAFBF6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FAFBF6"/>
                </a:solidFill>
                <a:latin typeface="Arial"/>
                <a:ea typeface="Arial"/>
                <a:cs typeface="Arial"/>
              </a:rPr>
              <a:t>external provider calls</a:t>
            </a:r>
          </a:p>
        </p:txBody>
      </p:sp>
      <p:sp>
        <p:nvSpPr>
          <p:cNvPr id="11" name="checks">
            <a:extLst xmlns:a="http://schemas.openxmlformats.org/drawingml/2006/main">
              <a:ext uri="{FF2B5EF4-FFF2-40B4-BE49-F238E27FC236}">
                <a16:creationId xmlns:a16="http://schemas.microsoft.com/office/drawing/2014/main" id="{5004E058-0859-48BA-869B-93098F969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533650"/>
            <a:ext cx="6705600" cy="2400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FAFBF6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FAFBF6"/>
                </a:solidFill>
                <a:latin typeface="Arial"/>
                <a:ea typeface="Arial"/>
                <a:cs typeface="Arial"/>
              </a:rPr>
              <a:t>Allow an approved request</a:t>
            </a:r>
          </a:p>
          <a:p xmlns:a="http://schemas.openxmlformats.org/drawingml/2006/main">
            <a:pPr>
              <a:defRPr sz="2325" b="0">
                <a:solidFill>
                  <a:srgbClr val="FAFBF6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FAFBF6"/>
                </a:solidFill>
                <a:latin typeface="Arial"/>
                <a:ea typeface="Arial"/>
                <a:cs typeface="Arial"/>
              </a:rPr>
              <a:t>Reroute and cap an unapproved model</a:t>
            </a:r>
          </a:p>
          <a:p xmlns:a="http://schemas.openxmlformats.org/drawingml/2006/main">
            <a:pPr>
              <a:defRPr sz="2325" b="0">
                <a:solidFill>
                  <a:srgbClr val="FAFBF6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FAFBF6"/>
                </a:solidFill>
                <a:latin typeface="Arial"/>
                <a:ea typeface="Arial"/>
                <a:cs typeface="Arial"/>
              </a:rPr>
              <a:t>Redact a detected secret before egress</a:t>
            </a:r>
          </a:p>
          <a:p xmlns:a="http://schemas.openxmlformats.org/drawingml/2006/main">
            <a:pPr>
              <a:defRPr sz="2325" b="0">
                <a:solidFill>
                  <a:srgbClr val="FAFBF6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FAFBF6"/>
                </a:solidFill>
                <a:latin typeface="Arial"/>
                <a:ea typeface="Arial"/>
                <a:cs typeface="Arial"/>
              </a:rPr>
              <a:t>Deny without an upstream call</a:t>
            </a:r>
          </a:p>
        </p:txBody>
      </p:sp>
      <p:sp>
        <p:nvSpPr>
          <p:cNvPr id="12" name="proof-boundary">
            <a:extLst xmlns:a="http://schemas.openxmlformats.org/drawingml/2006/main">
              <a:ext uri="{FF2B5EF4-FFF2-40B4-BE49-F238E27FC236}">
                <a16:creationId xmlns:a16="http://schemas.microsoft.com/office/drawing/2014/main" id="{0FAACA9B-D1CD-44F6-92A8-4BCEFDDB4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6732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D9E1D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D9E1DF"/>
                </a:solidFill>
                <a:latin typeface="Arial"/>
                <a:ea typeface="Arial"/>
                <a:cs typeface="Arial"/>
              </a:rPr>
              <a:t>Four usage events + one secret-control event. Download the real recording and a schema-checked synthetic export. Not a benchmark, customer case study, or independent-user result.</a:t>
            </a:r>
          </a:p>
        </p:txBody>
      </p:sp>
    </p:spTree>
    <p:extLst>
      <p:ext uri="{BB962C8B-B14F-4D97-AF65-F5344CB8AC3E}">
        <p14:creationId xmlns:p14="http://schemas.microsoft.com/office/powerpoint/2010/main" val="105759503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4F3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Hormuz mark boundary">
            <a:extLst xmlns:a="http://schemas.openxmlformats.org/drawingml/2006/main">
              <a:ext uri="{FF2B5EF4-FFF2-40B4-BE49-F238E27FC236}">
                <a16:creationId xmlns:a16="http://schemas.microsoft.com/office/drawing/2014/main" id="{D002D86A-4D7D-4013-9413-4BC45C5C9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333375"/>
            <a:ext cx="381000" cy="3810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31684B"/>
            </a:solidFill>
            <a:prstDash val="solid"/>
          </a:ln>
        </p:spPr>
      </p:sp>
      <p:sp>
        <p:nvSpPr>
          <p:cNvPr id="2" name="Hormuz mark bar 1">
            <a:extLst xmlns:a="http://schemas.openxmlformats.org/drawingml/2006/main">
              <a:ext uri="{FF2B5EF4-FFF2-40B4-BE49-F238E27FC236}">
                <a16:creationId xmlns:a16="http://schemas.microsoft.com/office/drawing/2014/main" id="{8DF9FF7F-CF66-467A-AF40-DAEA03F32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476250"/>
            <a:ext cx="47625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1684B"/>
          </a:solidFill>
          <a:ln xmlns:a="http://schemas.openxmlformats.org/drawingml/2006/main" w="0">
            <a:noFill/>
          </a:ln>
        </p:spPr>
      </p:sp>
      <p:sp>
        <p:nvSpPr>
          <p:cNvPr id="3" name="Hormuz mark bar 2">
            <a:extLst xmlns:a="http://schemas.openxmlformats.org/drawingml/2006/main">
              <a:ext uri="{FF2B5EF4-FFF2-40B4-BE49-F238E27FC236}">
                <a16:creationId xmlns:a16="http://schemas.microsoft.com/office/drawing/2014/main" id="{DABAFD9D-1C7B-4ADB-9B31-C6F6F9EBB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63325" y="428625"/>
            <a:ext cx="47625" cy="190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1684B"/>
          </a:solidFill>
          <a:ln xmlns:a="http://schemas.openxmlformats.org/drawingml/2006/main" w="0">
            <a:noFill/>
          </a:ln>
        </p:spPr>
      </p:sp>
      <p:sp>
        <p:nvSpPr>
          <p:cNvPr id="4" name="Hormuz mark bar 3">
            <a:extLst xmlns:a="http://schemas.openxmlformats.org/drawingml/2006/main">
              <a:ext uri="{FF2B5EF4-FFF2-40B4-BE49-F238E27FC236}">
                <a16:creationId xmlns:a16="http://schemas.microsoft.com/office/drawing/2014/main" id="{96F04905-E795-4140-9483-AE835B899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9525" y="457200"/>
            <a:ext cx="47625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1684B"/>
          </a:solidFill>
          <a:ln xmlns:a="http://schemas.openxmlformats.org/drawingml/2006/main" w="0">
            <a:noFill/>
          </a:ln>
        </p:spPr>
      </p:sp>
      <p:sp>
        <p:nvSpPr>
          <p:cNvPr id="5" name="section">
            <a:extLst xmlns:a="http://schemas.openxmlformats.org/drawingml/2006/main">
              <a:ext uri="{FF2B5EF4-FFF2-40B4-BE49-F238E27FC236}">
                <a16:creationId xmlns:a16="http://schemas.microsoft.com/office/drawing/2014/main" id="{A6DEB700-49C4-49A4-AF2F-C220173C0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76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31684B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31684B"/>
                </a:solidFill>
                <a:latin typeface="Arial"/>
                <a:ea typeface="Arial"/>
                <a:cs typeface="Arial"/>
              </a:rPr>
              <a:t>WHAT IS FREE. WHAT IS PAID.</a:t>
            </a:r>
          </a:p>
        </p:txBody>
      </p:sp>
      <p:sp>
        <p:nvSpPr>
          <p:cNvPr id="6" name="takeaway">
            <a:extLst xmlns:a="http://schemas.openxmlformats.org/drawingml/2006/main">
              <a:ext uri="{FF2B5EF4-FFF2-40B4-BE49-F238E27FC236}">
                <a16:creationId xmlns:a16="http://schemas.microsoft.com/office/drawing/2014/main" id="{C4DBF591-92E5-4CD4-8FA8-1BFE844AA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09650"/>
            <a:ext cx="1097280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202723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202723"/>
                </a:solidFill>
                <a:latin typeface="Arial"/>
                <a:ea typeface="Arial"/>
                <a:cs typeface="Arial"/>
              </a:rPr>
              <a:t>Keep a useful core open source.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FB81E9A3-EB12-41CA-99DE-7AA523003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C6758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C6758"/>
                </a:solidFill>
                <a:latin typeface="Arial"/>
                <a:ea typeface="Arial"/>
                <a:cs typeface="Arial"/>
              </a:rPr>
              <a:t>HORMUZ  /  A product of Neuralint  /  Mehrdad Zaker  /  September 2026</a:t>
            </a:r>
          </a:p>
        </p:txBody>
      </p:sp>
      <p:sp>
        <p:nvSpPr>
          <p:cNvPr id="8" name="page-number">
            <a:extLst xmlns:a="http://schemas.openxmlformats.org/drawingml/2006/main">
              <a:ext uri="{FF2B5EF4-FFF2-40B4-BE49-F238E27FC236}">
                <a16:creationId xmlns:a16="http://schemas.microsoft.com/office/drawing/2014/main" id="{91057037-058E-47AD-A9D0-0BCD9D03E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400800"/>
            <a:ext cx="609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C6758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C6758"/>
                </a:solidFill>
                <a:latin typeface="Arial"/>
                <a:ea typeface="Arial"/>
                <a:cs typeface="Arial"/>
              </a:rPr>
              <a:t>04 / 07</a:t>
            </a:r>
          </a:p>
        </p:txBody>
      </p:sp>
      <p:sp>
        <p:nvSpPr>
          <p:cNvPr id="9" name="oss-title">
            <a:extLst xmlns:a="http://schemas.openxmlformats.org/drawingml/2006/main">
              <a:ext uri="{FF2B5EF4-FFF2-40B4-BE49-F238E27FC236}">
                <a16:creationId xmlns:a16="http://schemas.microsoft.com/office/drawing/2014/main" id="{2BE7EA69-4982-44A9-AF60-0B214D482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52700"/>
            <a:ext cx="4895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31684B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31684B"/>
                </a:solidFill>
                <a:latin typeface="Arial"/>
                <a:ea typeface="Arial"/>
                <a:cs typeface="Arial"/>
              </a:rPr>
              <a:t>Apache-2.0 product</a:t>
            </a:r>
          </a:p>
        </p:txBody>
      </p:sp>
      <p:sp>
        <p:nvSpPr>
          <p:cNvPr id="10" name="oss-body">
            <a:extLst xmlns:a="http://schemas.openxmlformats.org/drawingml/2006/main">
              <a:ext uri="{FF2B5EF4-FFF2-40B4-BE49-F238E27FC236}">
                <a16:creationId xmlns:a16="http://schemas.microsoft.com/office/drawing/2014/main" id="{48B82B0E-A82C-4C5B-8A5E-3452E70C3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09925"/>
            <a:ext cx="4914900" cy="213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202723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02723"/>
                </a:solidFill>
                <a:latin typeface="Arial"/>
                <a:ea typeface="Arial"/>
                <a:cs typeface="Arial"/>
              </a:rPr>
              <a:t>Gateway and client paths</a:t>
            </a:r>
          </a:p>
          <a:p xmlns:a="http://schemas.openxmlformats.org/drawingml/2006/main">
            <a:pPr>
              <a:defRPr sz="2100" b="0">
                <a:solidFill>
                  <a:srgbClr val="202723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02723"/>
                </a:solidFill>
                <a:latin typeface="Arial"/>
                <a:ea typeface="Arial"/>
                <a:cs typeface="Arial"/>
              </a:rPr>
              <a:t>OIDC JWT verification</a:t>
            </a:r>
          </a:p>
          <a:p xmlns:a="http://schemas.openxmlformats.org/drawingml/2006/main">
            <a:pPr>
              <a:defRPr sz="2100" b="0">
                <a:solidFill>
                  <a:srgbClr val="202723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02723"/>
                </a:solidFill>
                <a:latin typeface="Arial"/>
                <a:ea typeface="Arial"/>
                <a:cs typeface="Arial"/>
              </a:rPr>
              <a:t>Policy overlays and budgets</a:t>
            </a:r>
          </a:p>
          <a:p xmlns:a="http://schemas.openxmlformats.org/drawingml/2006/main">
            <a:pPr>
              <a:defRPr sz="2100" b="0">
                <a:solidFill>
                  <a:srgbClr val="202723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02723"/>
                </a:solidFill>
                <a:latin typeface="Arial"/>
                <a:ea typeface="Arial"/>
                <a:cs typeface="Arial"/>
              </a:rPr>
              <a:t>Deterministic secret controls</a:t>
            </a:r>
          </a:p>
          <a:p xmlns:a="http://schemas.openxmlformats.org/drawingml/2006/main">
            <a:pPr>
              <a:defRPr sz="2100" b="0">
                <a:solidFill>
                  <a:srgbClr val="202723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02723"/>
                </a:solidFill>
                <a:latin typeface="Arial"/>
                <a:ea typeface="Arial"/>
                <a:cs typeface="Arial"/>
              </a:rPr>
              <a:t>Usage reports and evidence</a:t>
            </a:r>
          </a:p>
        </p:txBody>
      </p:sp>
      <p:sp>
        <p:nvSpPr>
          <p:cNvPr id="11" name="paid-title">
            <a:extLst xmlns:a="http://schemas.openxmlformats.org/drawingml/2006/main">
              <a:ext uri="{FF2B5EF4-FFF2-40B4-BE49-F238E27FC236}">
                <a16:creationId xmlns:a16="http://schemas.microsoft.com/office/drawing/2014/main" id="{25145E82-B9E9-493A-8AE9-5D9CE411C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552700"/>
            <a:ext cx="5067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31684B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31684B"/>
                </a:solidFill>
                <a:latin typeface="Arial"/>
                <a:ea typeface="Arial"/>
                <a:cs typeface="Arial"/>
              </a:rPr>
              <a:t>90-day pilot · $15,000</a:t>
            </a:r>
          </a:p>
        </p:txBody>
      </p:sp>
      <p:sp>
        <p:nvSpPr>
          <p:cNvPr id="12" name="paid-body">
            <a:extLst xmlns:a="http://schemas.openxmlformats.org/drawingml/2006/main">
              <a:ext uri="{FF2B5EF4-FFF2-40B4-BE49-F238E27FC236}">
                <a16:creationId xmlns:a16="http://schemas.microsoft.com/office/drawing/2014/main" id="{E64D9F00-E499-4918-B60C-C0B6C81C8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209925"/>
            <a:ext cx="5067300" cy="213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202723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02723"/>
                </a:solidFill>
                <a:latin typeface="Arial"/>
                <a:ea typeface="Arial"/>
                <a:cs typeface="Arial"/>
              </a:rPr>
              <a:t>Workflow and control mapping</a:t>
            </a:r>
          </a:p>
          <a:p xmlns:a="http://schemas.openxmlformats.org/drawingml/2006/main">
            <a:pPr>
              <a:defRPr sz="2100" b="0">
                <a:solidFill>
                  <a:srgbClr val="202723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02723"/>
                </a:solidFill>
                <a:latin typeface="Arial"/>
                <a:ea typeface="Arial"/>
                <a:cs typeface="Arial"/>
              </a:rPr>
              <a:t>Configuration and integration help</a:t>
            </a:r>
          </a:p>
          <a:p xmlns:a="http://schemas.openxmlformats.org/drawingml/2006/main">
            <a:pPr>
              <a:defRPr sz="2100" b="0">
                <a:solidFill>
                  <a:srgbClr val="202723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02723"/>
                </a:solidFill>
                <a:latin typeface="Arial"/>
                <a:ea typeface="Arial"/>
                <a:cs typeface="Arial"/>
              </a:rPr>
              <a:t>Agreed non-production checks</a:t>
            </a:r>
          </a:p>
          <a:p xmlns:a="http://schemas.openxmlformats.org/drawingml/2006/main">
            <a:pPr>
              <a:defRPr sz="2100" b="0">
                <a:solidFill>
                  <a:srgbClr val="202723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02723"/>
                </a:solidFill>
                <a:latin typeface="Arial"/>
                <a:ea typeface="Arial"/>
                <a:cs typeface="Arial"/>
              </a:rPr>
              <a:t>Evidence pack and gap review</a:t>
            </a:r>
          </a:p>
          <a:p xmlns:a="http://schemas.openxmlformats.org/drawingml/2006/main">
            <a:pPr>
              <a:defRPr sz="2100" b="0">
                <a:solidFill>
                  <a:srgbClr val="202723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02723"/>
                </a:solidFill>
                <a:latin typeface="Arial"/>
                <a:ea typeface="Arial"/>
                <a:cs typeface="Arial"/>
              </a:rPr>
              <a:t>Operator handoff</a:t>
            </a:r>
          </a:p>
        </p:txBody>
      </p:sp>
      <p:sp>
        <p:nvSpPr>
          <p:cNvPr id="13" name="same-core">
            <a:extLst xmlns:a="http://schemas.openxmlformats.org/drawingml/2006/main">
              <a:ext uri="{FF2B5EF4-FFF2-40B4-BE49-F238E27FC236}">
                <a16:creationId xmlns:a16="http://schemas.microsoft.com/office/drawing/2014/main" id="{AB4CC30F-EACE-4E3C-A585-BDBB418B5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00700"/>
            <a:ext cx="109728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5C6758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C6758"/>
                </a:solidFill>
                <a:latin typeface="Arial"/>
                <a:ea typeface="Arial"/>
                <a:cs typeface="Arial"/>
              </a:rPr>
              <a:t>USD · one team, one workflow. Optional support from $2,000/month. Provider usage, infrastructure, and applicable taxes are additional.</a:t>
            </a:r>
          </a:p>
        </p:txBody>
      </p:sp>
    </p:spTree>
    <p:extLst>
      <p:ext uri="{BB962C8B-B14F-4D97-AF65-F5344CB8AC3E}">
        <p14:creationId xmlns:p14="http://schemas.microsoft.com/office/powerpoint/2010/main" val="102764287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4F3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Hormuz mark boundary">
            <a:extLst xmlns:a="http://schemas.openxmlformats.org/drawingml/2006/main">
              <a:ext uri="{FF2B5EF4-FFF2-40B4-BE49-F238E27FC236}">
                <a16:creationId xmlns:a16="http://schemas.microsoft.com/office/drawing/2014/main" id="{38529B8C-6DD1-48AB-A155-EC9C83666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333375"/>
            <a:ext cx="381000" cy="3810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31684B"/>
            </a:solidFill>
            <a:prstDash val="solid"/>
          </a:ln>
        </p:spPr>
      </p:sp>
      <p:sp>
        <p:nvSpPr>
          <p:cNvPr id="2" name="Hormuz mark bar 1">
            <a:extLst xmlns:a="http://schemas.openxmlformats.org/drawingml/2006/main">
              <a:ext uri="{FF2B5EF4-FFF2-40B4-BE49-F238E27FC236}">
                <a16:creationId xmlns:a16="http://schemas.microsoft.com/office/drawing/2014/main" id="{FC629D12-FF25-4EE5-8FCC-FD71EAD84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476250"/>
            <a:ext cx="47625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1684B"/>
          </a:solidFill>
          <a:ln xmlns:a="http://schemas.openxmlformats.org/drawingml/2006/main" w="0">
            <a:noFill/>
          </a:ln>
        </p:spPr>
      </p:sp>
      <p:sp>
        <p:nvSpPr>
          <p:cNvPr id="3" name="Hormuz mark bar 2">
            <a:extLst xmlns:a="http://schemas.openxmlformats.org/drawingml/2006/main">
              <a:ext uri="{FF2B5EF4-FFF2-40B4-BE49-F238E27FC236}">
                <a16:creationId xmlns:a16="http://schemas.microsoft.com/office/drawing/2014/main" id="{03522793-D55F-4DE7-8410-35596C92B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63325" y="428625"/>
            <a:ext cx="47625" cy="190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1684B"/>
          </a:solidFill>
          <a:ln xmlns:a="http://schemas.openxmlformats.org/drawingml/2006/main" w="0">
            <a:noFill/>
          </a:ln>
        </p:spPr>
      </p:sp>
      <p:sp>
        <p:nvSpPr>
          <p:cNvPr id="4" name="Hormuz mark bar 3">
            <a:extLst xmlns:a="http://schemas.openxmlformats.org/drawingml/2006/main">
              <a:ext uri="{FF2B5EF4-FFF2-40B4-BE49-F238E27FC236}">
                <a16:creationId xmlns:a16="http://schemas.microsoft.com/office/drawing/2014/main" id="{CEAB5B2D-50DC-46B3-80EC-E977FB5DB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9525" y="457200"/>
            <a:ext cx="47625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1684B"/>
          </a:solidFill>
          <a:ln xmlns:a="http://schemas.openxmlformats.org/drawingml/2006/main" w="0">
            <a:noFill/>
          </a:ln>
        </p:spPr>
      </p:sp>
      <p:sp>
        <p:nvSpPr>
          <p:cNvPr id="5" name="section">
            <a:extLst xmlns:a="http://schemas.openxmlformats.org/drawingml/2006/main">
              <a:ext uri="{FF2B5EF4-FFF2-40B4-BE49-F238E27FC236}">
                <a16:creationId xmlns:a16="http://schemas.microsoft.com/office/drawing/2014/main" id="{57E2B7DB-A528-4B5D-A7AD-9F4419883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76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31684B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31684B"/>
                </a:solidFill>
                <a:latin typeface="Arial"/>
                <a:ea typeface="Arial"/>
                <a:cs typeface="Arial"/>
              </a:rPr>
              <a:t>MATURITY AND RESPONSIBILITY</a:t>
            </a:r>
          </a:p>
        </p:txBody>
      </p:sp>
      <p:sp>
        <p:nvSpPr>
          <p:cNvPr id="6" name="takeaway">
            <a:extLst xmlns:a="http://schemas.openxmlformats.org/drawingml/2006/main">
              <a:ext uri="{FF2B5EF4-FFF2-40B4-BE49-F238E27FC236}">
                <a16:creationId xmlns:a16="http://schemas.microsoft.com/office/drawing/2014/main" id="{4C59ABBD-6CA8-4C06-B334-DDC180591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09650"/>
            <a:ext cx="1097280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202723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202723"/>
                </a:solidFill>
                <a:latin typeface="Arial"/>
                <a:ea typeface="Arial"/>
                <a:cs typeface="Arial"/>
              </a:rPr>
              <a:t>Stable contracts are not certification.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13970EDB-2AFC-4B9B-8D86-1F55CF47B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C6758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C6758"/>
                </a:solidFill>
                <a:latin typeface="Arial"/>
                <a:ea typeface="Arial"/>
                <a:cs typeface="Arial"/>
              </a:rPr>
              <a:t>HORMUZ  /  A product of Neuralint  /  Mehrdad Zaker  /  September 2026</a:t>
            </a:r>
          </a:p>
        </p:txBody>
      </p:sp>
      <p:sp>
        <p:nvSpPr>
          <p:cNvPr id="8" name="page-number">
            <a:extLst xmlns:a="http://schemas.openxmlformats.org/drawingml/2006/main">
              <a:ext uri="{FF2B5EF4-FFF2-40B4-BE49-F238E27FC236}">
                <a16:creationId xmlns:a16="http://schemas.microsoft.com/office/drawing/2014/main" id="{789160AD-0629-490C-9B1B-F9E898C30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400800"/>
            <a:ext cx="609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C6758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C6758"/>
                </a:solidFill>
                <a:latin typeface="Arial"/>
                <a:ea typeface="Arial"/>
                <a:cs typeface="Arial"/>
              </a:rPr>
              <a:t>05 / 07</a:t>
            </a:r>
          </a:p>
        </p:txBody>
      </p:sp>
      <p:sp>
        <p:nvSpPr>
          <p:cNvPr id="9" name="release">
            <a:extLst xmlns:a="http://schemas.openxmlformats.org/drawingml/2006/main">
              <a:ext uri="{FF2B5EF4-FFF2-40B4-BE49-F238E27FC236}">
                <a16:creationId xmlns:a16="http://schemas.microsoft.com/office/drawing/2014/main" id="{04995EB8-AF83-4A42-95F4-E09ADA394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527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31684B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31684B"/>
                </a:solidFill>
                <a:latin typeface="Arial"/>
                <a:ea typeface="Arial"/>
                <a:cs typeface="Arial"/>
              </a:rPr>
              <a:t>v1.0.0 source contracts</a:t>
            </a:r>
          </a:p>
        </p:txBody>
      </p:sp>
      <p:sp>
        <p:nvSpPr>
          <p:cNvPr id="10" name="oci">
            <a:extLst xmlns:a="http://schemas.openxmlformats.org/drawingml/2006/main">
              <a:ext uri="{FF2B5EF4-FFF2-40B4-BE49-F238E27FC236}">
                <a16:creationId xmlns:a16="http://schemas.microsoft.com/office/drawing/2014/main" id="{446426B3-E045-4995-87E3-34E43FA82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9565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202723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02723"/>
                </a:solidFill>
                <a:latin typeface="Arial"/>
                <a:ea typeface="Arial"/>
                <a:cs typeface="Arial"/>
              </a:rPr>
              <a:t>Signed OCI v0.1.3 linux/amd64 is a separate reference stream.</a:t>
            </a:r>
          </a:p>
        </p:txBody>
      </p:sp>
      <p:sp>
        <p:nvSpPr>
          <p:cNvPr id="11" name="operators">
            <a:extLst xmlns:a="http://schemas.openxmlformats.org/drawingml/2006/main">
              <a:ext uri="{FF2B5EF4-FFF2-40B4-BE49-F238E27FC236}">
                <a16:creationId xmlns:a16="http://schemas.microsoft.com/office/drawing/2014/main" id="{5E0B17BE-F452-4E0B-9523-EDCBD118E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14800"/>
            <a:ext cx="109728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202723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202723"/>
                </a:solidFill>
                <a:latin typeface="Arial"/>
                <a:ea typeface="Arial"/>
                <a:cs typeface="Arial"/>
              </a:rPr>
              <a:t>You still qualify TLS, custody, retention, backups, recovery, availability, access controls, and independent security review in your environment.</a:t>
            </a:r>
          </a:p>
        </p:txBody>
      </p:sp>
      <p:sp>
        <p:nvSpPr>
          <p:cNvPr id="12" name="nonclaims">
            <a:extLst xmlns:a="http://schemas.openxmlformats.org/drawingml/2006/main">
              <a:ext uri="{FF2B5EF4-FFF2-40B4-BE49-F238E27FC236}">
                <a16:creationId xmlns:a16="http://schemas.microsoft.com/office/drawing/2014/main" id="{55714865-0A4D-4D4D-92CF-4C8C0A90C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19725"/>
            <a:ext cx="10972800" cy="771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5C6758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C6758"/>
                </a:solidFill>
                <a:latin typeface="Arial"/>
                <a:ea typeface="Arial"/>
                <a:cs typeface="Arial"/>
              </a:rPr>
              <a:t>Not claimed: native Hormuz login/refresh sessions, complete semantic DLP, per-inference human approval, reconciled provider invoices, managed SaaS, or a 24/7 SLA.</a:t>
            </a:r>
          </a:p>
        </p:txBody>
      </p:sp>
    </p:spTree>
    <p:extLst>
      <p:ext uri="{BB962C8B-B14F-4D97-AF65-F5344CB8AC3E}">
        <p14:creationId xmlns:p14="http://schemas.microsoft.com/office/powerpoint/2010/main" val="122354395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4F3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Hormuz mark boundary">
            <a:extLst xmlns:a="http://schemas.openxmlformats.org/drawingml/2006/main">
              <a:ext uri="{FF2B5EF4-FFF2-40B4-BE49-F238E27FC236}">
                <a16:creationId xmlns:a16="http://schemas.microsoft.com/office/drawing/2014/main" id="{E8000EB6-088A-4268-84B4-9DC862C37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333375"/>
            <a:ext cx="381000" cy="3810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31684B"/>
            </a:solidFill>
            <a:prstDash val="solid"/>
          </a:ln>
        </p:spPr>
      </p:sp>
      <p:sp>
        <p:nvSpPr>
          <p:cNvPr id="2" name="Hormuz mark bar 1">
            <a:extLst xmlns:a="http://schemas.openxmlformats.org/drawingml/2006/main">
              <a:ext uri="{FF2B5EF4-FFF2-40B4-BE49-F238E27FC236}">
                <a16:creationId xmlns:a16="http://schemas.microsoft.com/office/drawing/2014/main" id="{52EBD7E2-070D-47B7-AD51-DD36EB7A3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476250"/>
            <a:ext cx="47625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1684B"/>
          </a:solidFill>
          <a:ln xmlns:a="http://schemas.openxmlformats.org/drawingml/2006/main" w="0">
            <a:noFill/>
          </a:ln>
        </p:spPr>
      </p:sp>
      <p:sp>
        <p:nvSpPr>
          <p:cNvPr id="3" name="Hormuz mark bar 2">
            <a:extLst xmlns:a="http://schemas.openxmlformats.org/drawingml/2006/main">
              <a:ext uri="{FF2B5EF4-FFF2-40B4-BE49-F238E27FC236}">
                <a16:creationId xmlns:a16="http://schemas.microsoft.com/office/drawing/2014/main" id="{06F3567A-B671-4C99-BD52-FF1E7F53E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63325" y="428625"/>
            <a:ext cx="47625" cy="190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1684B"/>
          </a:solidFill>
          <a:ln xmlns:a="http://schemas.openxmlformats.org/drawingml/2006/main" w="0">
            <a:noFill/>
          </a:ln>
        </p:spPr>
      </p:sp>
      <p:sp>
        <p:nvSpPr>
          <p:cNvPr id="4" name="Hormuz mark bar 3">
            <a:extLst xmlns:a="http://schemas.openxmlformats.org/drawingml/2006/main">
              <a:ext uri="{FF2B5EF4-FFF2-40B4-BE49-F238E27FC236}">
                <a16:creationId xmlns:a16="http://schemas.microsoft.com/office/drawing/2014/main" id="{2226E4F3-627D-4A7B-9DB3-D8391D512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9525" y="457200"/>
            <a:ext cx="47625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1684B"/>
          </a:solidFill>
          <a:ln xmlns:a="http://schemas.openxmlformats.org/drawingml/2006/main" w="0">
            <a:noFill/>
          </a:ln>
        </p:spPr>
      </p:sp>
      <p:sp>
        <p:nvSpPr>
          <p:cNvPr id="5" name="section">
            <a:extLst xmlns:a="http://schemas.openxmlformats.org/drawingml/2006/main">
              <a:ext uri="{FF2B5EF4-FFF2-40B4-BE49-F238E27FC236}">
                <a16:creationId xmlns:a16="http://schemas.microsoft.com/office/drawing/2014/main" id="{443588CD-FF48-44F7-8A1A-436B829D0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76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31684B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31684B"/>
                </a:solidFill>
                <a:latin typeface="Arial"/>
                <a:ea typeface="Arial"/>
                <a:cs typeface="Arial"/>
              </a:rPr>
              <a:t>PROPOSED 90-DAY PILOT</a:t>
            </a:r>
          </a:p>
        </p:txBody>
      </p:sp>
      <p:sp>
        <p:nvSpPr>
          <p:cNvPr id="6" name="takeaway">
            <a:extLst xmlns:a="http://schemas.openxmlformats.org/drawingml/2006/main">
              <a:ext uri="{FF2B5EF4-FFF2-40B4-BE49-F238E27FC236}">
                <a16:creationId xmlns:a16="http://schemas.microsoft.com/office/drawing/2014/main" id="{4AAD8345-0483-49CA-A1DB-538123B26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09650"/>
            <a:ext cx="1097280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202723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202723"/>
                </a:solidFill>
                <a:latin typeface="Arial"/>
                <a:ea typeface="Arial"/>
                <a:cs typeface="Arial"/>
              </a:rPr>
              <a:t>Prove one workflow before expanding.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5253A6CD-434B-4A81-B858-1C3E1C022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C6758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C6758"/>
                </a:solidFill>
                <a:latin typeface="Arial"/>
                <a:ea typeface="Arial"/>
                <a:cs typeface="Arial"/>
              </a:rPr>
              <a:t>HORMUZ  /  A product of Neuralint  /  Mehrdad Zaker  /  September 2026</a:t>
            </a:r>
          </a:p>
        </p:txBody>
      </p:sp>
      <p:sp>
        <p:nvSpPr>
          <p:cNvPr id="8" name="page-number">
            <a:extLst xmlns:a="http://schemas.openxmlformats.org/drawingml/2006/main">
              <a:ext uri="{FF2B5EF4-FFF2-40B4-BE49-F238E27FC236}">
                <a16:creationId xmlns:a16="http://schemas.microsoft.com/office/drawing/2014/main" id="{31F78D1C-806A-434F-BE45-C624446FA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400800"/>
            <a:ext cx="609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C6758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C6758"/>
                </a:solidFill>
                <a:latin typeface="Arial"/>
                <a:ea typeface="Arial"/>
                <a:cs typeface="Arial"/>
              </a:rPr>
              <a:t>06 / 07</a:t>
            </a:r>
          </a:p>
        </p:txBody>
      </p:sp>
      <p:sp>
        <p:nvSpPr>
          <p:cNvPr id="9" name="phase-01">
            <a:extLst xmlns:a="http://schemas.openxmlformats.org/drawingml/2006/main">
              <a:ext uri="{FF2B5EF4-FFF2-40B4-BE49-F238E27FC236}">
                <a16:creationId xmlns:a16="http://schemas.microsoft.com/office/drawing/2014/main" id="{550DB0B3-C7D9-41C3-B443-08DD41398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43175"/>
            <a:ext cx="990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31684B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31684B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10" name="phase-title-01">
            <a:extLst xmlns:a="http://schemas.openxmlformats.org/drawingml/2006/main">
              <a:ext uri="{FF2B5EF4-FFF2-40B4-BE49-F238E27FC236}">
                <a16:creationId xmlns:a16="http://schemas.microsoft.com/office/drawing/2014/main" id="{E7B8A1F9-4FDC-4FE1-83B8-2535C3183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2543175"/>
            <a:ext cx="9639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202723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202723"/>
                </a:solidFill>
                <a:latin typeface="Arial"/>
                <a:ea typeface="Arial"/>
                <a:cs typeface="Arial"/>
              </a:rPr>
              <a:t>Days 1–15 / Map</a:t>
            </a:r>
          </a:p>
        </p:txBody>
      </p:sp>
      <p:sp>
        <p:nvSpPr>
          <p:cNvPr id="11" name="phase-body-01">
            <a:extLst xmlns:a="http://schemas.openxmlformats.org/drawingml/2006/main">
              <a:ext uri="{FF2B5EF4-FFF2-40B4-BE49-F238E27FC236}">
                <a16:creationId xmlns:a16="http://schemas.microsoft.com/office/drawing/2014/main" id="{9BC4AD9D-D9C7-46F5-AA12-0F8580535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3019425"/>
            <a:ext cx="96393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202723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202723"/>
                </a:solidFill>
                <a:latin typeface="Arial"/>
                <a:ea typeface="Arial"/>
                <a:cs typeface="Arial"/>
              </a:rPr>
              <a:t>Control map, prerequisites, and agreed acceptance criteria.</a:t>
            </a:r>
          </a:p>
        </p:txBody>
      </p:sp>
      <p:sp>
        <p:nvSpPr>
          <p:cNvPr id="12" name="phase-02">
            <a:extLst xmlns:a="http://schemas.openxmlformats.org/drawingml/2006/main">
              <a:ext uri="{FF2B5EF4-FFF2-40B4-BE49-F238E27FC236}">
                <a16:creationId xmlns:a16="http://schemas.microsoft.com/office/drawing/2014/main" id="{101BF7FB-437F-46BF-A691-817191BC4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09975"/>
            <a:ext cx="990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31684B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31684B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3" name="phase-title-02">
            <a:extLst xmlns:a="http://schemas.openxmlformats.org/drawingml/2006/main">
              <a:ext uri="{FF2B5EF4-FFF2-40B4-BE49-F238E27FC236}">
                <a16:creationId xmlns:a16="http://schemas.microsoft.com/office/drawing/2014/main" id="{3B199FC9-34F7-4CF8-A737-831D32B26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3609975"/>
            <a:ext cx="9639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202723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202723"/>
                </a:solidFill>
                <a:latin typeface="Arial"/>
                <a:ea typeface="Arial"/>
                <a:cs typeface="Arial"/>
              </a:rPr>
              <a:t>Days 16–45 / Prove</a:t>
            </a:r>
          </a:p>
        </p:txBody>
      </p:sp>
      <p:sp>
        <p:nvSpPr>
          <p:cNvPr id="14" name="phase-body-02">
            <a:extLst xmlns:a="http://schemas.openxmlformats.org/drawingml/2006/main">
              <a:ext uri="{FF2B5EF4-FFF2-40B4-BE49-F238E27FC236}">
                <a16:creationId xmlns:a16="http://schemas.microsoft.com/office/drawing/2014/main" id="{92DE5B6D-1764-4BBD-9D74-B92EE4AA2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4086225"/>
            <a:ext cx="96393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202723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202723"/>
                </a:solidFill>
                <a:latin typeface="Arial"/>
                <a:ea typeface="Arial"/>
                <a:cs typeface="Arial"/>
              </a:rPr>
              <a:t>One non-production integration, evidence pack, and issue log.</a:t>
            </a:r>
          </a:p>
        </p:txBody>
      </p:sp>
      <p:sp>
        <p:nvSpPr>
          <p:cNvPr id="15" name="phase-03">
            <a:extLst xmlns:a="http://schemas.openxmlformats.org/drawingml/2006/main">
              <a:ext uri="{FF2B5EF4-FFF2-40B4-BE49-F238E27FC236}">
                <a16:creationId xmlns:a16="http://schemas.microsoft.com/office/drawing/2014/main" id="{20CD735D-8E03-4493-8673-BD2692060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76775"/>
            <a:ext cx="990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31684B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31684B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6" name="phase-title-03">
            <a:extLst xmlns:a="http://schemas.openxmlformats.org/drawingml/2006/main">
              <a:ext uri="{FF2B5EF4-FFF2-40B4-BE49-F238E27FC236}">
                <a16:creationId xmlns:a16="http://schemas.microsoft.com/office/drawing/2014/main" id="{7440107E-FC99-4BFE-A6C7-176829F16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4676775"/>
            <a:ext cx="9639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202723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202723"/>
                </a:solidFill>
                <a:latin typeface="Arial"/>
                <a:ea typeface="Arial"/>
                <a:cs typeface="Arial"/>
              </a:rPr>
              <a:t>Days 46–90 / Decide</a:t>
            </a:r>
          </a:p>
        </p:txBody>
      </p:sp>
      <p:sp>
        <p:nvSpPr>
          <p:cNvPr id="17" name="phase-body-03">
            <a:extLst xmlns:a="http://schemas.openxmlformats.org/drawingml/2006/main">
              <a:ext uri="{FF2B5EF4-FFF2-40B4-BE49-F238E27FC236}">
                <a16:creationId xmlns:a16="http://schemas.microsoft.com/office/drawing/2014/main" id="{817F79B8-028B-4D34-B34D-6C27C8205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5153025"/>
            <a:ext cx="96393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202723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202723"/>
                </a:solidFill>
                <a:latin typeface="Arial"/>
                <a:ea typeface="Arial"/>
                <a:cs typeface="Arial"/>
              </a:rPr>
              <a:t>Go/no-go decision, named gap owners, and operator handoff.</a:t>
            </a:r>
          </a:p>
        </p:txBody>
      </p:sp>
      <p:sp>
        <p:nvSpPr>
          <p:cNvPr id="18" name="pilot-boundary">
            <a:extLst xmlns:a="http://schemas.openxmlformats.org/drawingml/2006/main">
              <a:ext uri="{FF2B5EF4-FFF2-40B4-BE49-F238E27FC236}">
                <a16:creationId xmlns:a16="http://schemas.microsoft.com/office/drawing/2014/main" id="{C764D2E0-5168-4BEF-A09C-96560F467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0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5C6758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C6758"/>
                </a:solidFill>
                <a:latin typeface="Arial"/>
                <a:ea typeface="Arial"/>
                <a:cs typeface="Arial"/>
              </a:rPr>
              <a:t>Start with fit and scope. A shorter evaluation may come first. No work is confirmed by an inquiry.</a:t>
            </a:r>
          </a:p>
        </p:txBody>
      </p:sp>
    </p:spTree>
    <p:extLst>
      <p:ext uri="{BB962C8B-B14F-4D97-AF65-F5344CB8AC3E}">
        <p14:creationId xmlns:p14="http://schemas.microsoft.com/office/powerpoint/2010/main" val="154489685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24392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Hormuz mark boundary">
            <a:extLst xmlns:a="http://schemas.openxmlformats.org/drawingml/2006/main">
              <a:ext uri="{FF2B5EF4-FFF2-40B4-BE49-F238E27FC236}">
                <a16:creationId xmlns:a16="http://schemas.microsoft.com/office/drawing/2014/main" id="{1866E042-7D9E-4508-B94C-C97686025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333375"/>
            <a:ext cx="381000" cy="3810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CEDA6"/>
            </a:solidFill>
            <a:prstDash val="solid"/>
          </a:ln>
        </p:spPr>
      </p:sp>
      <p:sp>
        <p:nvSpPr>
          <p:cNvPr id="2" name="Hormuz mark bar 1">
            <a:extLst xmlns:a="http://schemas.openxmlformats.org/drawingml/2006/main">
              <a:ext uri="{FF2B5EF4-FFF2-40B4-BE49-F238E27FC236}">
                <a16:creationId xmlns:a16="http://schemas.microsoft.com/office/drawing/2014/main" id="{1A0EB7BF-3228-46EC-8247-FC4C9CAB6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476250"/>
            <a:ext cx="47625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CEDA6"/>
          </a:solidFill>
          <a:ln xmlns:a="http://schemas.openxmlformats.org/drawingml/2006/main" w="0">
            <a:noFill/>
          </a:ln>
        </p:spPr>
      </p:sp>
      <p:sp>
        <p:nvSpPr>
          <p:cNvPr id="3" name="Hormuz mark bar 2">
            <a:extLst xmlns:a="http://schemas.openxmlformats.org/drawingml/2006/main">
              <a:ext uri="{FF2B5EF4-FFF2-40B4-BE49-F238E27FC236}">
                <a16:creationId xmlns:a16="http://schemas.microsoft.com/office/drawing/2014/main" id="{EE9D4311-9E6E-4A1C-91D9-66A35E74A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63325" y="428625"/>
            <a:ext cx="47625" cy="190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CEDA6"/>
          </a:solidFill>
          <a:ln xmlns:a="http://schemas.openxmlformats.org/drawingml/2006/main" w="0">
            <a:noFill/>
          </a:ln>
        </p:spPr>
      </p:sp>
      <p:sp>
        <p:nvSpPr>
          <p:cNvPr id="4" name="Hormuz mark bar 3">
            <a:extLst xmlns:a="http://schemas.openxmlformats.org/drawingml/2006/main">
              <a:ext uri="{FF2B5EF4-FFF2-40B4-BE49-F238E27FC236}">
                <a16:creationId xmlns:a16="http://schemas.microsoft.com/office/drawing/2014/main" id="{35EB695D-A5F9-458B-A10E-FE8D9397D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9525" y="457200"/>
            <a:ext cx="47625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CEDA6"/>
          </a:solidFill>
          <a:ln xmlns:a="http://schemas.openxmlformats.org/drawingml/2006/main" w="0">
            <a:noFill/>
          </a:ln>
        </p:spPr>
      </p:sp>
      <p:sp>
        <p:nvSpPr>
          <p:cNvPr id="5" name="section">
            <a:extLst xmlns:a="http://schemas.openxmlformats.org/drawingml/2006/main">
              <a:ext uri="{FF2B5EF4-FFF2-40B4-BE49-F238E27FC236}">
                <a16:creationId xmlns:a16="http://schemas.microsoft.com/office/drawing/2014/main" id="{34A8E6D3-DBF9-4998-AC5C-772616443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76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DCEDA6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DCEDA6"/>
                </a:solidFill>
                <a:latin typeface="Arial"/>
                <a:ea typeface="Arial"/>
                <a:cs typeface="Arial"/>
              </a:rPr>
              <a:t>A BOUNDED NEXT STEP</a:t>
            </a:r>
          </a:p>
        </p:txBody>
      </p:sp>
      <p:sp>
        <p:nvSpPr>
          <p:cNvPr id="6" name="takeaway">
            <a:extLst xmlns:a="http://schemas.openxmlformats.org/drawingml/2006/main">
              <a:ext uri="{FF2B5EF4-FFF2-40B4-BE49-F238E27FC236}">
                <a16:creationId xmlns:a16="http://schemas.microsoft.com/office/drawing/2014/main" id="{5F284DE5-2CBE-44BC-AF5D-7FCCFAB9D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09650"/>
            <a:ext cx="1097280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FAFBF6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FAFBF6"/>
                </a:solidFill>
                <a:latin typeface="Arial"/>
                <a:ea typeface="Arial"/>
                <a:cs typeface="Arial"/>
              </a:rPr>
              <a:t>Name one workflow worth governing.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89E207F7-81C6-437A-B775-B727A211A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DCE6D5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DCE6D5"/>
                </a:solidFill>
                <a:latin typeface="Arial"/>
                <a:ea typeface="Arial"/>
                <a:cs typeface="Arial"/>
              </a:rPr>
              <a:t>HORMUZ  /  A product of Neuralint  /  Mehrdad Zaker  /  September 2026</a:t>
            </a:r>
          </a:p>
        </p:txBody>
      </p:sp>
      <p:sp>
        <p:nvSpPr>
          <p:cNvPr id="8" name="page-number">
            <a:extLst xmlns:a="http://schemas.openxmlformats.org/drawingml/2006/main">
              <a:ext uri="{FF2B5EF4-FFF2-40B4-BE49-F238E27FC236}">
                <a16:creationId xmlns:a16="http://schemas.microsoft.com/office/drawing/2014/main" id="{774D8CBC-73B1-4CBE-99C5-891603F84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400800"/>
            <a:ext cx="609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DCE6D5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DCE6D5"/>
                </a:solidFill>
                <a:latin typeface="Arial"/>
                <a:ea typeface="Arial"/>
                <a:cs typeface="Arial"/>
              </a:rPr>
              <a:t>07 / 07</a:t>
            </a:r>
          </a:p>
        </p:txBody>
      </p:sp>
      <p:sp>
        <p:nvSpPr>
          <p:cNvPr id="9" name="next-step">
            <a:extLst xmlns:a="http://schemas.openxmlformats.org/drawingml/2006/main">
              <a:ext uri="{FF2B5EF4-FFF2-40B4-BE49-F238E27FC236}">
                <a16:creationId xmlns:a16="http://schemas.microsoft.com/office/drawing/2014/main" id="{89EE2300-DF5F-4A39-AD60-53C0BF2F4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0"/>
            <a:ext cx="10858500" cy="1885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300" b="0">
                <a:solidFill>
                  <a:srgbClr val="FAFBF6"/>
                </a:solidFill>
                <a:latin typeface="Arial"/>
                <a:ea typeface="Arial"/>
                <a:cs typeface="Arial"/>
              </a:defRPr>
            </a:pPr>
            <a:r>
              <a:rPr sz="3300" b="0">
                <a:solidFill>
                  <a:srgbClr val="FAFBF6"/>
                </a:solidFill>
                <a:latin typeface="Arial"/>
                <a:ea typeface="Arial"/>
                <a:cs typeface="Arial"/>
              </a:rPr>
              <a:t>Which client? Which team?</a:t>
            </a:r>
          </a:p>
          <a:p xmlns:a="http://schemas.openxmlformats.org/drawingml/2006/main">
            <a:pPr>
              <a:defRPr sz="3300" b="0">
                <a:solidFill>
                  <a:srgbClr val="FAFBF6"/>
                </a:solidFill>
                <a:latin typeface="Arial"/>
                <a:ea typeface="Arial"/>
                <a:cs typeface="Arial"/>
              </a:defRPr>
            </a:pPr>
            <a:r>
              <a:rPr sz="3300" b="0">
                <a:solidFill>
                  <a:srgbClr val="FAFBF6"/>
                </a:solidFill>
                <a:latin typeface="Arial"/>
                <a:ea typeface="Arial"/>
                <a:cs typeface="Arial"/>
              </a:rPr>
              <a:t>Which control is missing?</a:t>
            </a:r>
          </a:p>
          <a:p xmlns:a="http://schemas.openxmlformats.org/drawingml/2006/main">
            <a:pPr>
              <a:defRPr sz="3300" b="0">
                <a:solidFill>
                  <a:srgbClr val="FAFBF6"/>
                </a:solidFill>
                <a:latin typeface="Arial"/>
                <a:ea typeface="Arial"/>
                <a:cs typeface="Arial"/>
              </a:defRPr>
            </a:pPr>
            <a:r>
              <a:rPr sz="3300" b="0">
                <a:solidFill>
                  <a:srgbClr val="FAFBF6"/>
                </a:solidFill>
                <a:latin typeface="Arial"/>
                <a:ea typeface="Arial"/>
                <a:cs typeface="Arial"/>
              </a:rPr>
              <a:t>Who operates the route?</a:t>
            </a:r>
          </a:p>
        </p:txBody>
      </p:sp>
      <p:sp>
        <p:nvSpPr>
          <p:cNvPr id="10" name="contact">
            <a:extLst xmlns:a="http://schemas.openxmlformats.org/drawingml/2006/main">
              <a:ext uri="{FF2B5EF4-FFF2-40B4-BE49-F238E27FC236}">
                <a16:creationId xmlns:a16="http://schemas.microsoft.com/office/drawing/2014/main" id="{C47A4B12-591F-4DDA-9272-214E7A253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57750"/>
            <a:ext cx="10858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DCEDA6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DCEDA6"/>
                </a:solidFill>
                <a:latin typeface="Arial"/>
                <a:ea typeface="Arial"/>
                <a:cs typeface="Arial"/>
              </a:rPr>
              <a:t>Mehrdad Zaker</a:t>
            </a:r>
          </a:p>
          <a:p xmlns:a="http://schemas.openxmlformats.org/drawingml/2006/main">
            <a:pPr>
              <a:defRPr sz="2325" b="1">
                <a:solidFill>
                  <a:srgbClr val="DCEDA6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DCEDA6"/>
                </a:solidFill>
                <a:latin typeface="Arial"/>
                <a:ea typeface="Arial"/>
                <a:cs typeface="Arial"/>
              </a:rPr>
              <a:t>mehrdadz@neuralint.io</a:t>
            </a:r>
          </a:p>
        </p:txBody>
      </p:sp>
      <p:sp>
        <p:nvSpPr>
          <p:cNvPr id="11" name="website">
            <a:extLst xmlns:a="http://schemas.openxmlformats.org/drawingml/2006/main">
              <a:ext uri="{FF2B5EF4-FFF2-40B4-BE49-F238E27FC236}">
                <a16:creationId xmlns:a16="http://schemas.microsoft.com/office/drawing/2014/main" id="{82219D55-44ED-4DC5-8BD8-2EFFA6F8C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38825"/>
            <a:ext cx="10858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D9E1D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D9E1DF"/>
                </a:solidFill>
                <a:latin typeface="Arial"/>
                <a:ea typeface="Arial"/>
                <a:cs typeface="Arial"/>
              </a:rPr>
              <a:t>usehormuz.github.io</a:t>
            </a:r>
          </a:p>
        </p:txBody>
      </p:sp>
    </p:spTree>
    <p:extLst>
      <p:ext uri="{BB962C8B-B14F-4D97-AF65-F5344CB8AC3E}">
        <p14:creationId xmlns:p14="http://schemas.microsoft.com/office/powerpoint/2010/main" val="177948287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2026-09-06T20:55:16.1680000Z</dcterms:created>
  <dcterms:modified xsi:type="dcterms:W3CDTF">2026-09-06T20:55:16.1680000Z</dcterms:modified>
</coreProperties>
</file>