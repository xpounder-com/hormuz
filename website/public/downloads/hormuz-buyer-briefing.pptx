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9e0145d1354c37" /><Relationship Type="http://schemas.openxmlformats.org/officeDocument/2006/relationships/extended-properties" Target="/docProps/app.xml" Id="R833457587402436f" /><Relationship Type="http://schemas.openxmlformats.org/officeDocument/2006/relationships/officeDocument" Target="/ppt/presentation.xml" Id="R33a7c91b3efa43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41969821fc4574"/>
  </p:sldMasterIdLst>
  <p:notesMasterIdLst>
    <p:notesMasterId xmlns:r="http://schemas.openxmlformats.org/officeDocument/2006/relationships" r:id="R0307dc74f7a24c58"/>
  </p:notesMasterIdLst>
  <p:sldIdLst>
    <p:sldId xmlns:r="http://schemas.openxmlformats.org/officeDocument/2006/relationships" id="256" r:id="Re71d4f6438c34956"/>
    <p:sldId xmlns:r="http://schemas.openxmlformats.org/officeDocument/2006/relationships" id="257" r:id="R111556643ce04146"/>
    <p:sldId xmlns:r="http://schemas.openxmlformats.org/officeDocument/2006/relationships" id="258" r:id="R457f112c9291484f"/>
    <p:sldId xmlns:r="http://schemas.openxmlformats.org/officeDocument/2006/relationships" id="259" r:id="R3da72f236e4246b4"/>
    <p:sldId xmlns:r="http://schemas.openxmlformats.org/officeDocument/2006/relationships" id="260" r:id="R010ba966cb5c48df"/>
    <p:sldId xmlns:r="http://schemas.openxmlformats.org/officeDocument/2006/relationships" id="261" r:id="Rcfe58305d09c4218"/>
    <p:sldId xmlns:r="http://schemas.openxmlformats.org/officeDocument/2006/relationships" id="262" r:id="R68e280f7fc44487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592577a3eb741df" /><Relationship Type="http://schemas.openxmlformats.org/officeDocument/2006/relationships/slideMaster" Target="/ppt/slideMasters/slideMaster1.xml" Id="R4f41969821fc4574" /><Relationship Type="http://schemas.openxmlformats.org/officeDocument/2006/relationships/notesMaster" Target="/ppt/notesMasters/notesMaster1.xml" Id="R0307dc74f7a24c58" /><Relationship Type="http://schemas.openxmlformats.org/officeDocument/2006/relationships/presProps" Target="/ppt/presProps.xml" Id="Rf8c835df7b2b4a86" /><Relationship Type="http://schemas.openxmlformats.org/officeDocument/2006/relationships/tableStyles" Target="/ppt/tableStyles.xml" Id="R00c16d8ba4c64f43" /><Relationship Type="http://schemas.openxmlformats.org/officeDocument/2006/relationships/slide" Target="/ppt/slides/slide1.xml" Id="Re71d4f6438c34956" /><Relationship Type="http://schemas.openxmlformats.org/officeDocument/2006/relationships/slide" Target="/ppt/slides/slide2.xml" Id="R111556643ce04146" /><Relationship Type="http://schemas.openxmlformats.org/officeDocument/2006/relationships/slide" Target="/ppt/slides/slide3.xml" Id="R457f112c9291484f" /><Relationship Type="http://schemas.openxmlformats.org/officeDocument/2006/relationships/slide" Target="/ppt/slides/slide4.xml" Id="R3da72f236e4246b4" /><Relationship Type="http://schemas.openxmlformats.org/officeDocument/2006/relationships/slide" Target="/ppt/slides/slide5.xml" Id="R010ba966cb5c48df" /><Relationship Type="http://schemas.openxmlformats.org/officeDocument/2006/relationships/slide" Target="/ppt/slides/slide6.xml" Id="Rcfe58305d09c4218" /><Relationship Type="http://schemas.openxmlformats.org/officeDocument/2006/relationships/slide" Target="/ppt/slides/slide7.xml" Id="R68e280f7fc4448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f1484260ce4b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f150fdae8734cad" /><Relationship Type="http://schemas.openxmlformats.org/officeDocument/2006/relationships/notesMaster" Target="/ppt/notesMasters/notesMaster1.xml" Id="R94eee4b2536540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7a53b6f76134ab9" /><Relationship Type="http://schemas.openxmlformats.org/officeDocument/2006/relationships/notesMaster" Target="/ppt/notesMasters/notesMaster1.xml" Id="Rda886e37f0544f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018e274a38844af" /><Relationship Type="http://schemas.openxmlformats.org/officeDocument/2006/relationships/notesMaster" Target="/ppt/notesMasters/notesMaster1.xml" Id="Rc85e5fe8a4ed46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33eef6b1b64bf0" /><Relationship Type="http://schemas.openxmlformats.org/officeDocument/2006/relationships/notesMaster" Target="/ppt/notesMasters/notesMaster1.xml" Id="R0572590ce16b4a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9bff14d3824e98" /><Relationship Type="http://schemas.openxmlformats.org/officeDocument/2006/relationships/notesMaster" Target="/ppt/notesMasters/notesMaster1.xml" Id="R34250a0c346d48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d85b36ea594e37" /><Relationship Type="http://schemas.openxmlformats.org/officeDocument/2006/relationships/notesMaster" Target="/ppt/notesMasters/notesMaster1.xml" Id="R1d7c35d939b84c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adb295af5e4709" /><Relationship Type="http://schemas.openxmlformats.org/officeDocument/2006/relationships/notesMaster" Target="/ppt/notesMasters/notesMaster1.xml" Id="Re68d349ce3c046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https://github.com/Xpounder-com/hormuz/blob/main/marketing/OFFER.md</a:t>
            </a:r>
          </a:p>
          <a:p xmlns:a="http://schemas.openxmlformats.org/drawingml/2006/main">
            <a:r>
              <a:t>https://github.com/Xpounder-com/hormuz/blob/main/LICENSE</a:t>
            </a:r>
          </a:p>
          <a:p xmlns:a="http://schemas.openxmlformats.org/drawingml/2006/main">
            <a:r>
              <a:t>https://github.com/Xpounder-com/hormuz/blob/main/docs/CLIENTS.md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https://github.com/Xpounder-com/hormuz/blob/main/docs/ARCHITECTURE.md</a:t>
            </a:r>
          </a:p>
          <a:p xmlns:a="http://schemas.openxmlformats.org/drawingml/2006/main">
            <a:r>
              <a:t>https://github.com/Xpounder-com/hormuz/blob/main/docs/CLIENTS.md</a:t>
            </a:r>
          </a:p>
          <a:p xmlns:a="http://schemas.openxmlformats.org/drawingml/2006/main">
            <a:r>
              <a:t>https://github.com/Xpounder-com/hormuz/blob/main/docs/AUDIT.md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https://xpounder-com.github.io/hormuz/demo/</a:t>
            </a:r>
          </a:p>
          <a:p xmlns:a="http://schemas.openxmlformats.org/drawingml/2006/main">
            <a:r>
              <a:t>https://github.com/Xpounder-com/hormuz/blob/main/hormuz/demo.py</a:t>
            </a:r>
          </a:p>
          <a:p xmlns:a="http://schemas.openxmlformats.org/drawingml/2006/main">
            <a:r>
              <a:t>https://github.com/Xpounder-com/hormuz/blob/main/website/public/demo/gateway.json</a:t>
            </a:r>
          </a:p>
          <a:p xmlns:a="http://schemas.openxmlformats.org/drawingml/2006/main">
            <a:r>
              <a:t>https://github.com/Xpounder-com/hormuz/blob/main/website/public/demo/synthetic-evidence.jsonl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https://github.com/Xpounder-com/hormuz/blob/main/LICENSE</a:t>
            </a:r>
          </a:p>
          <a:p xmlns:a="http://schemas.openxmlformats.org/drawingml/2006/main">
            <a:r>
              <a:t>https://github.com/Xpounder-com/hormuz/blob/main/marketing/OFFER.md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https://github.com/Xpounder-com/hormuz/blob/main/SUPPORT.md</a:t>
            </a:r>
          </a:p>
          <a:p xmlns:a="http://schemas.openxmlformats.org/drawingml/2006/main">
            <a:r>
              <a:t>https://github.com/Xpounder-com/hormuz/blob/main/docs/OIDC.md</a:t>
            </a:r>
          </a:p>
          <a:p xmlns:a="http://schemas.openxmlformats.org/drawingml/2006/main">
            <a:r>
              <a:t>https://github.com/Xpounder-com/hormuz/blob/main/docs/SECRET_CONTROLS.md</a:t>
            </a:r>
          </a:p>
          <a:p xmlns:a="http://schemas.openxmlformats.org/drawingml/2006/main">
            <a:r>
              <a:t>https://github.com/Xpounder-com/hormuz/blob/main/docs/USAGE.md</a:t>
            </a:r>
          </a:p>
          <a:p xmlns:a="http://schemas.openxmlformats.org/drawingml/2006/main">
            <a:r>
              <a:t>https://github.com/Xpounder-com/hormuz/blob/main/marketing/TRUST.md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https://xpounder-com.github.io/hormuz/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https://github.com/Xpounder-com/hormuz/blob/main/marketing/TRUST.md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b630ed3af844a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a3be61a25ed48f2" /><Relationship Type="http://schemas.openxmlformats.org/officeDocument/2006/relationships/slideLayout" Target="/ppt/slideLayouts/slideLayout1.xml" Id="R44869c663f834a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869c663f834a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cb6d88558e4aab" /><Relationship Type="http://schemas.openxmlformats.org/officeDocument/2006/relationships/notesSlide" Target="/ppt/notesSlides/notesSlide1.xml" Id="R18e7c8f1143349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50f223ebd04b11" /><Relationship Type="http://schemas.openxmlformats.org/officeDocument/2006/relationships/notesSlide" Target="/ppt/notesSlides/notesSlide2.xml" Id="R354d240d0d464b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c676241984cde" /><Relationship Type="http://schemas.openxmlformats.org/officeDocument/2006/relationships/notesSlide" Target="/ppt/notesSlides/notesSlide3.xml" Id="R353869d0247e4d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498add3f764474" /><Relationship Type="http://schemas.openxmlformats.org/officeDocument/2006/relationships/notesSlide" Target="/ppt/notesSlides/notesSlide4.xml" Id="R6e4d9bff693440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27d2768f8b4de2" /><Relationship Type="http://schemas.openxmlformats.org/officeDocument/2006/relationships/notesSlide" Target="/ppt/notesSlides/notesSlide5.xml" Id="Rb2edfe9d55e14e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0b69140f374630" /><Relationship Type="http://schemas.openxmlformats.org/officeDocument/2006/relationships/notesSlide" Target="/ppt/notesSlides/notesSlide6.xml" Id="R2c80c87c98e14b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198b7455db4645" /><Relationship Type="http://schemas.openxmlformats.org/officeDocument/2006/relationships/notesSlide" Target="/ppt/notesSlides/notesSlide7.xml" Id="R26eef05132c24bf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7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ection">
            <a:extLst xmlns:a="http://schemas.openxmlformats.org/drawingml/2006/main">
              <a:ext uri="{FF2B5EF4-FFF2-40B4-BE49-F238E27FC236}">
                <a16:creationId xmlns:a16="http://schemas.microsoft.com/office/drawing/2014/main" id="{B6313DAF-C2D8-4A54-B78A-5B13336F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68E6D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8E6DD"/>
                </a:solidFill>
                <a:latin typeface="Arial"/>
                <a:ea typeface="Arial"/>
                <a:cs typeface="Arial"/>
              </a:rPr>
              <a:t>OPEN SOURCE + SUPPORTED EVALUATION</a:t>
            </a:r>
          </a:p>
        </p:txBody>
      </p:sp>
      <p:sp>
        <p:nvSpPr>
          <p:cNvPr id="2" name="footer">
            <a:extLst xmlns:a="http://schemas.openxmlformats.org/drawingml/2006/main">
              <a:ext uri="{FF2B5EF4-FFF2-40B4-BE49-F238E27FC236}">
                <a16:creationId xmlns:a16="http://schemas.microsoft.com/office/drawing/2014/main" id="{77F8F306-41B6-4F48-BC9F-13E4A0FDF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9CCC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9CCC7"/>
                </a:solidFill>
                <a:latin typeface="Arial"/>
                <a:ea typeface="Arial"/>
                <a:cs typeface="Arial"/>
              </a:rPr>
              <a:t>HORMUZ  /  Mehrdad Zaker  /  30 Aug 2026                                      01 / 07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CBF09BF-1C91-4C3C-A15E-E9C78B2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58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BFCF8"/>
                </a:solidFill>
                <a:latin typeface="Arial"/>
                <a:ea typeface="Arial"/>
                <a:cs typeface="Arial"/>
              </a:rPr>
              <a:t>Keep the coding clients.</a:t>
            </a:r>
          </a:p>
          <a:p xmlns:a="http://schemas.openxmlformats.org/drawingml/2006/main">
            <a:pPr>
              <a:defRPr sz="5100" b="1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BFCF8"/>
                </a:solidFill>
                <a:latin typeface="Arial"/>
                <a:ea typeface="Arial"/>
                <a:cs typeface="Arial"/>
              </a:rPr>
              <a:t>Govern their model requests.</a:t>
            </a:r>
          </a:p>
        </p:txBody>
      </p:sp>
      <p:sp>
        <p:nvSpPr>
          <p:cNvPr id="4" name="cover-summary">
            <a:extLst xmlns:a="http://schemas.openxmlformats.org/drawingml/2006/main">
              <a:ext uri="{FF2B5EF4-FFF2-40B4-BE49-F238E27FC236}">
                <a16:creationId xmlns:a16="http://schemas.microsoft.com/office/drawing/2014/main" id="{1AAE38A0-44B5-410D-B933-4749374D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10572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Self-hosted policy, budgets, secret controls,</a:t>
            </a:r>
          </a:p>
          <a:p xmlns:a="http://schemas.openxmlformats.org/drawingml/2006/main">
            <a:pPr>
              <a:defRPr sz="232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and metadata-only evidence for Codex and Claude Code.</a:t>
            </a:r>
          </a:p>
        </p:txBody>
      </p:sp>
      <p:sp>
        <p:nvSpPr>
          <p:cNvPr id="5" name="cover-boundary">
            <a:extLst xmlns:a="http://schemas.openxmlformats.org/drawingml/2006/main">
              <a:ext uri="{FF2B5EF4-FFF2-40B4-BE49-F238E27FC236}">
                <a16:creationId xmlns:a16="http://schemas.microsoft.com/office/drawing/2014/main" id="{501A57EB-1A2D-4F81-9F95-5E3A8F97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435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68E6D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8E6DD"/>
                </a:solidFill>
                <a:latin typeface="Arial"/>
                <a:ea typeface="Arial"/>
                <a:cs typeface="Arial"/>
              </a:rPr>
              <a:t>Apache-2.0 core  •  v1.0.0 source contracts</a:t>
            </a:r>
          </a:p>
        </p:txBody>
      </p:sp>
    </p:spTree>
    <p:extLst>
      <p:ext uri="{BB962C8B-B14F-4D97-AF65-F5344CB8AC3E}">
        <p14:creationId xmlns:p14="http://schemas.microsoft.com/office/powerpoint/2010/main" val="20086478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">
            <a:extLst xmlns:a="http://schemas.openxmlformats.org/drawingml/2006/main">
              <a:ext uri="{FF2B5EF4-FFF2-40B4-BE49-F238E27FC236}">
                <a16:creationId xmlns:a16="http://schemas.microsoft.com/office/drawing/2014/main" id="{015FA848-9B1D-4D2D-8B00-0F11D297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THE CONTROL POINT</a:t>
            </a:r>
          </a:p>
        </p:txBody>
      </p:sp>
      <p:sp>
        <p:nvSpPr>
          <p:cNvPr id="2" name="takeaway">
            <a:extLst xmlns:a="http://schemas.openxmlformats.org/drawingml/2006/main">
              <a:ext uri="{FF2B5EF4-FFF2-40B4-BE49-F238E27FC236}">
                <a16:creationId xmlns:a16="http://schemas.microsoft.com/office/drawing/2014/main" id="{B9B6AA33-07B0-4A7A-BA8B-8BE4F4CB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Put policy in the model-request path.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3D70E60-B6AC-47F2-B3BD-B1A734FA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070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HORMUZ  /  Mehrdad Zaker  /  30 Aug 2026                                      02 / 07</a:t>
            </a:r>
          </a:p>
        </p:txBody>
      </p:sp>
      <p:sp>
        <p:nvSpPr>
          <p:cNvPr id="4" name="arrow-one">
            <a:extLst xmlns:a="http://schemas.openxmlformats.org/drawingml/2006/main">
              <a:ext uri="{FF2B5EF4-FFF2-40B4-BE49-F238E27FC236}">
                <a16:creationId xmlns:a16="http://schemas.microsoft.com/office/drawing/2014/main" id="{1694C47F-15CD-4D78-8F26-8899CF17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62275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087F7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5" name="arrow-two">
            <a:extLst xmlns:a="http://schemas.openxmlformats.org/drawingml/2006/main">
              <a:ext uri="{FF2B5EF4-FFF2-40B4-BE49-F238E27FC236}">
                <a16:creationId xmlns:a16="http://schemas.microsoft.com/office/drawing/2014/main" id="{89D08514-555D-404F-822A-FD2DAA9C9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962275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087F7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6" name="EMPLOYEE CLIENT">
            <a:extLst xmlns:a="http://schemas.openxmlformats.org/drawingml/2006/main">
              <a:ext uri="{FF2B5EF4-FFF2-40B4-BE49-F238E27FC236}">
                <a16:creationId xmlns:a16="http://schemas.microsoft.com/office/drawing/2014/main" id="{83D6C773-F1AB-4B39-99AA-0CA5B2A7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2857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E1DF"/>
            </a:solidFill>
            <a:prstDash val="solid"/>
          </a:ln>
        </p:spPr>
      </p:sp>
      <p:sp>
        <p:nvSpPr>
          <p:cNvPr id="7" name="EMPLOYEE CLIENT-title">
            <a:extLst xmlns:a="http://schemas.openxmlformats.org/drawingml/2006/main">
              <a:ext uri="{FF2B5EF4-FFF2-40B4-BE49-F238E27FC236}">
                <a16:creationId xmlns:a16="http://schemas.microsoft.com/office/drawing/2014/main" id="{51D00504-71FC-45A2-8DF0-245B294B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EMPLOYEE CLIENT</a:t>
            </a:r>
          </a:p>
        </p:txBody>
      </p:sp>
      <p:sp>
        <p:nvSpPr>
          <p:cNvPr id="8" name="EMPLOYEE CLIENT-body">
            <a:extLst xmlns:a="http://schemas.openxmlformats.org/drawingml/2006/main">
              <a:ext uri="{FF2B5EF4-FFF2-40B4-BE49-F238E27FC236}">
                <a16:creationId xmlns:a16="http://schemas.microsoft.com/office/drawing/2014/main" id="{0F33EEE6-9C0C-4E01-9A0A-BE5CA6AAB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Codex / Claude Code</a:t>
            </a:r>
          </a:p>
          <a:p xmlns:a="http://schemas.openxmlformats.org/drawingml/2006/main">
            <a:pPr>
              <a:defRPr sz="18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Unique Hormuz identity</a:t>
            </a:r>
          </a:p>
        </p:txBody>
      </p:sp>
      <p:sp>
        <p:nvSpPr>
          <p:cNvPr id="9" name="HORMUZ">
            <a:extLst xmlns:a="http://schemas.openxmlformats.org/drawingml/2006/main">
              <a:ext uri="{FF2B5EF4-FFF2-40B4-BE49-F238E27FC236}">
                <a16:creationId xmlns:a16="http://schemas.microsoft.com/office/drawing/2014/main" id="{5858114E-6776-466D-94BA-6A3DB785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00325"/>
            <a:ext cx="3238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E1DF"/>
            </a:solidFill>
            <a:prstDash val="solid"/>
          </a:ln>
        </p:spPr>
      </p:sp>
      <p:sp>
        <p:nvSpPr>
          <p:cNvPr id="10" name="HORMUZ-title">
            <a:extLst xmlns:a="http://schemas.openxmlformats.org/drawingml/2006/main">
              <a:ext uri="{FF2B5EF4-FFF2-40B4-BE49-F238E27FC236}">
                <a16:creationId xmlns:a16="http://schemas.microsoft.com/office/drawing/2014/main" id="{C358235F-E85F-4E44-88CD-B525225D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194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HORMUZ</a:t>
            </a:r>
          </a:p>
        </p:txBody>
      </p:sp>
      <p:sp>
        <p:nvSpPr>
          <p:cNvPr id="11" name="HORMUZ-body">
            <a:extLst xmlns:a="http://schemas.openxmlformats.org/drawingml/2006/main">
              <a:ext uri="{FF2B5EF4-FFF2-40B4-BE49-F238E27FC236}">
                <a16:creationId xmlns:a16="http://schemas.microsoft.com/office/drawing/2014/main" id="{1378BE8B-C5B7-4332-8BA8-F9622113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Identity + policy + secrets</a:t>
            </a:r>
          </a:p>
          <a:p xmlns:a="http://schemas.openxmlformats.org/drawingml/2006/main">
            <a:pPr>
              <a:defRPr sz="18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Budget before egress</a:t>
            </a:r>
          </a:p>
        </p:txBody>
      </p:sp>
      <p:sp>
        <p:nvSpPr>
          <p:cNvPr id="12" name="MODEL PROVIDER">
            <a:extLst xmlns:a="http://schemas.openxmlformats.org/drawingml/2006/main">
              <a:ext uri="{FF2B5EF4-FFF2-40B4-BE49-F238E27FC236}">
                <a16:creationId xmlns:a16="http://schemas.microsoft.com/office/drawing/2014/main" id="{EAFAD07B-502F-46ED-B978-AE8557A1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00325"/>
            <a:ext cx="3086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E1DF"/>
            </a:solidFill>
            <a:prstDash val="solid"/>
          </a:ln>
        </p:spPr>
      </p:sp>
      <p:sp>
        <p:nvSpPr>
          <p:cNvPr id="13" name="MODEL PROVIDER-title">
            <a:extLst xmlns:a="http://schemas.openxmlformats.org/drawingml/2006/main">
              <a:ext uri="{FF2B5EF4-FFF2-40B4-BE49-F238E27FC236}">
                <a16:creationId xmlns:a16="http://schemas.microsoft.com/office/drawing/2014/main" id="{2AE22301-CEFD-4C1E-AA44-19E3985B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19400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MODEL PROVIDER</a:t>
            </a:r>
          </a:p>
        </p:txBody>
      </p:sp>
      <p:sp>
        <p:nvSpPr>
          <p:cNvPr id="14" name="MODEL PROVIDER-body">
            <a:extLst xmlns:a="http://schemas.openxmlformats.org/drawingml/2006/main">
              <a:ext uri="{FF2B5EF4-FFF2-40B4-BE49-F238E27FC236}">
                <a16:creationId xmlns:a16="http://schemas.microsoft.com/office/drawing/2014/main" id="{24CFD9FC-5EB7-40CE-9D06-825AD8A9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71850"/>
            <a:ext cx="270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Company account</a:t>
            </a:r>
          </a:p>
          <a:p xmlns:a="http://schemas.openxmlformats.org/drawingml/2006/main">
            <a:pPr>
              <a:defRPr sz="18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Server-side provider key</a:t>
            </a:r>
          </a:p>
        </p:txBody>
      </p:sp>
      <p:sp>
        <p:nvSpPr>
          <p:cNvPr id="15" name="metadata">
            <a:extLst xmlns:a="http://schemas.openxmlformats.org/drawingml/2006/main">
              <a:ext uri="{FF2B5EF4-FFF2-40B4-BE49-F238E27FC236}">
                <a16:creationId xmlns:a16="http://schemas.microsoft.com/office/drawing/2014/main" id="{9240B609-B85B-4D77-881B-34016770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Retain the control record, not the conversation.</a:t>
            </a:r>
          </a:p>
        </p:txBody>
      </p:sp>
      <p:sp>
        <p:nvSpPr>
          <p:cNvPr id="16" name="boundary">
            <a:extLst xmlns:a="http://schemas.openxmlformats.org/drawingml/2006/main">
              <a:ext uri="{FF2B5EF4-FFF2-40B4-BE49-F238E27FC236}">
                <a16:creationId xmlns:a16="http://schemas.microsoft.com/office/drawing/2014/main" id="{5450C886-9130-449C-A0A6-77CDDADB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070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Allowed content still reaches the provider. Bypassed requests and client-side shell, MCP, Git, or browser activity are outside Hormuz’s coverage.</a:t>
            </a:r>
          </a:p>
        </p:txBody>
      </p:sp>
    </p:spTree>
    <p:extLst>
      <p:ext uri="{BB962C8B-B14F-4D97-AF65-F5344CB8AC3E}">
        <p14:creationId xmlns:p14="http://schemas.microsoft.com/office/powerpoint/2010/main" val="21425163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7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ection">
            <a:extLst xmlns:a="http://schemas.openxmlformats.org/drawingml/2006/main">
              <a:ext uri="{FF2B5EF4-FFF2-40B4-BE49-F238E27FC236}">
                <a16:creationId xmlns:a16="http://schemas.microsoft.com/office/drawing/2014/main" id="{67E2E88D-1D98-4372-A481-3635D195A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68E6D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8E6DD"/>
                </a:solidFill>
                <a:latin typeface="Arial"/>
                <a:ea typeface="Arial"/>
                <a:cs typeface="Arial"/>
              </a:rPr>
              <a:t>INSPECT THE PROOF</a:t>
            </a:r>
          </a:p>
        </p:txBody>
      </p:sp>
      <p:sp>
        <p:nvSpPr>
          <p:cNvPr id="2" name="takeaway">
            <a:extLst xmlns:a="http://schemas.openxmlformats.org/drawingml/2006/main">
              <a:ext uri="{FF2B5EF4-FFF2-40B4-BE49-F238E27FC236}">
                <a16:creationId xmlns:a16="http://schemas.microsoft.com/office/drawing/2014/main" id="{DB8B4143-8FA4-46B7-BEB6-309BBA03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BFCF8"/>
                </a:solidFill>
                <a:latin typeface="Arial"/>
                <a:ea typeface="Arial"/>
                <a:cs typeface="Arial"/>
              </a:rPr>
              <a:t>A real demo. Synthetic inputs.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DFA6764-C907-411A-AC2B-C3F64586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9CCC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9CCC7"/>
                </a:solidFill>
                <a:latin typeface="Arial"/>
                <a:ea typeface="Arial"/>
                <a:cs typeface="Arial"/>
              </a:rPr>
              <a:t>HORMUZ  /  Mehrdad Zaker  /  30 Aug 2026                                      03 / 07</a:t>
            </a:r>
          </a:p>
        </p:txBody>
      </p:sp>
      <p:sp>
        <p:nvSpPr>
          <p:cNvPr id="4" name="zero">
            <a:extLst xmlns:a="http://schemas.openxmlformats.org/drawingml/2006/main">
              <a:ext uri="{FF2B5EF4-FFF2-40B4-BE49-F238E27FC236}">
                <a16:creationId xmlns:a16="http://schemas.microsoft.com/office/drawing/2014/main" id="{90CFE7DB-18D3-4038-8C44-C0BD470A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20955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0" b="1">
                <a:solidFill>
                  <a:srgbClr val="68E6DD"/>
                </a:solidFill>
                <a:latin typeface="Arial"/>
                <a:ea typeface="Arial"/>
                <a:cs typeface="Arial"/>
              </a:defRPr>
            </a:pPr>
            <a:r>
              <a:rPr sz="10500" b="1">
                <a:solidFill>
                  <a:srgbClr val="68E6DD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" name="zero-label">
            <a:extLst xmlns:a="http://schemas.openxmlformats.org/drawingml/2006/main">
              <a:ext uri="{FF2B5EF4-FFF2-40B4-BE49-F238E27FC236}">
                <a16:creationId xmlns:a16="http://schemas.microsoft.com/office/drawing/2014/main" id="{C6725418-8CCB-40C1-8068-76203ACE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BFCF8"/>
                </a:solidFill>
                <a:latin typeface="Arial"/>
                <a:ea typeface="Arial"/>
                <a:cs typeface="Arial"/>
              </a:rPr>
              <a:t>external provider calls</a:t>
            </a:r>
          </a:p>
        </p:txBody>
      </p:sp>
      <p:sp>
        <p:nvSpPr>
          <p:cNvPr id="6" name="checks">
            <a:extLst xmlns:a="http://schemas.openxmlformats.org/drawingml/2006/main">
              <a:ext uri="{FF2B5EF4-FFF2-40B4-BE49-F238E27FC236}">
                <a16:creationId xmlns:a16="http://schemas.microsoft.com/office/drawing/2014/main" id="{9944B5DD-5AF6-43F1-B2F3-C164B8F0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33650"/>
            <a:ext cx="67056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BFCF8"/>
                </a:solidFill>
                <a:latin typeface="Arial"/>
                <a:ea typeface="Arial"/>
                <a:cs typeface="Arial"/>
              </a:rPr>
              <a:t>Allow an approved request</a:t>
            </a:r>
          </a:p>
          <a:p xmlns:a="http://schemas.openxmlformats.org/drawingml/2006/main">
            <a:pPr>
              <a:defRPr sz="2325" b="0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BFCF8"/>
                </a:solidFill>
                <a:latin typeface="Arial"/>
                <a:ea typeface="Arial"/>
                <a:cs typeface="Arial"/>
              </a:rPr>
              <a:t>Reroute and cap an unapproved model</a:t>
            </a:r>
          </a:p>
          <a:p xmlns:a="http://schemas.openxmlformats.org/drawingml/2006/main">
            <a:pPr>
              <a:defRPr sz="2325" b="0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BFCF8"/>
                </a:solidFill>
                <a:latin typeface="Arial"/>
                <a:ea typeface="Arial"/>
                <a:cs typeface="Arial"/>
              </a:rPr>
              <a:t>Redact a detected secret before egress</a:t>
            </a:r>
          </a:p>
          <a:p xmlns:a="http://schemas.openxmlformats.org/drawingml/2006/main">
            <a:pPr>
              <a:defRPr sz="2325" b="0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BFCF8"/>
                </a:solidFill>
                <a:latin typeface="Arial"/>
                <a:ea typeface="Arial"/>
                <a:cs typeface="Arial"/>
              </a:rPr>
              <a:t>Deny without an upstream call</a:t>
            </a:r>
          </a:p>
        </p:txBody>
      </p:sp>
      <p:sp>
        <p:nvSpPr>
          <p:cNvPr id="7" name="proof-boundary">
            <a:extLst xmlns:a="http://schemas.openxmlformats.org/drawingml/2006/main">
              <a:ext uri="{FF2B5EF4-FFF2-40B4-BE49-F238E27FC236}">
                <a16:creationId xmlns:a16="http://schemas.microsoft.com/office/drawing/2014/main" id="{07AFF470-3E36-479E-A176-08478528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Four usage events + one secret-control event. Download the real recording and a schema-checked synthetic export. Not a benchmark, customer case study, or independent-user result.</a:t>
            </a:r>
          </a:p>
        </p:txBody>
      </p:sp>
    </p:spTree>
    <p:extLst>
      <p:ext uri="{BB962C8B-B14F-4D97-AF65-F5344CB8AC3E}">
        <p14:creationId xmlns:p14="http://schemas.microsoft.com/office/powerpoint/2010/main" val="10213791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82C5106D-71B5-4483-A94D-28BAEAD1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WHAT IS FREE. WHAT IS PAID.</a:t>
            </a:r>
          </a:p>
        </p:txBody>
      </p:sp>
      <p:sp>
        <p:nvSpPr>
          <p:cNvPr id="2" name="takeaway">
            <a:extLst xmlns:a="http://schemas.openxmlformats.org/drawingml/2006/main">
              <a:ext uri="{FF2B5EF4-FFF2-40B4-BE49-F238E27FC236}">
                <a16:creationId xmlns:a16="http://schemas.microsoft.com/office/drawing/2014/main" id="{AEB5BA57-F33C-480F-9D33-746D3F9E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Keep a useful core open source.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FC78FAA-0B20-46E6-9546-497475CA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070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HORMUZ  /  Mehrdad Zaker  /  30 Aug 2026                                      04 / 07</a:t>
            </a:r>
          </a:p>
        </p:txBody>
      </p:sp>
      <p:sp>
        <p:nvSpPr>
          <p:cNvPr id="4" name="oss-title">
            <a:extLst xmlns:a="http://schemas.openxmlformats.org/drawingml/2006/main">
              <a:ext uri="{FF2B5EF4-FFF2-40B4-BE49-F238E27FC236}">
                <a16:creationId xmlns:a16="http://schemas.microsoft.com/office/drawing/2014/main" id="{EFDB35CF-9384-41D5-8063-6F1D62EB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4895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Apache-2.0 product</a:t>
            </a:r>
          </a:p>
        </p:txBody>
      </p:sp>
      <p:sp>
        <p:nvSpPr>
          <p:cNvPr id="5" name="oss-body">
            <a:extLst xmlns:a="http://schemas.openxmlformats.org/drawingml/2006/main">
              <a:ext uri="{FF2B5EF4-FFF2-40B4-BE49-F238E27FC236}">
                <a16:creationId xmlns:a16="http://schemas.microsoft.com/office/drawing/2014/main" id="{7DA29F09-060D-4C3C-B075-6A1B1A0E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9149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Gateway and client paths</a:t>
            </a:r>
          </a:p>
          <a:p xmlns:a="http://schemas.openxmlformats.org/drawingml/2006/main">
            <a:pPr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OIDC JWT verification</a:t>
            </a:r>
          </a:p>
          <a:p xmlns:a="http://schemas.openxmlformats.org/drawingml/2006/main">
            <a:pPr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Policy overlays and budgets</a:t>
            </a:r>
          </a:p>
          <a:p xmlns:a="http://schemas.openxmlformats.org/drawingml/2006/main">
            <a:pPr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Deterministic secret controls</a:t>
            </a:r>
          </a:p>
          <a:p xmlns:a="http://schemas.openxmlformats.org/drawingml/2006/main">
            <a:pPr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Usage reports and evidence</a:t>
            </a:r>
          </a:p>
        </p:txBody>
      </p:sp>
      <p:sp>
        <p:nvSpPr>
          <p:cNvPr id="6" name="paid-title">
            <a:extLst xmlns:a="http://schemas.openxmlformats.org/drawingml/2006/main">
              <a:ext uri="{FF2B5EF4-FFF2-40B4-BE49-F238E27FC236}">
                <a16:creationId xmlns:a16="http://schemas.microsoft.com/office/drawing/2014/main" id="{559B92B2-96CD-4768-AB6E-63F28F86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52700"/>
            <a:ext cx="5067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Scoped engagement</a:t>
            </a:r>
          </a:p>
        </p:txBody>
      </p:sp>
      <p:sp>
        <p:nvSpPr>
          <p:cNvPr id="7" name="paid-body">
            <a:extLst xmlns:a="http://schemas.openxmlformats.org/drawingml/2006/main">
              <a:ext uri="{FF2B5EF4-FFF2-40B4-BE49-F238E27FC236}">
                <a16:creationId xmlns:a16="http://schemas.microsoft.com/office/drawing/2014/main" id="{C92D5713-09B1-4297-B7C3-8D615747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09925"/>
            <a:ext cx="50673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Workflow and control mapping</a:t>
            </a:r>
          </a:p>
          <a:p xmlns:a="http://schemas.openxmlformats.org/drawingml/2006/main">
            <a:pPr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Configuration and integration help</a:t>
            </a:r>
          </a:p>
          <a:p xmlns:a="http://schemas.openxmlformats.org/drawingml/2006/main">
            <a:pPr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Agreed non-production checks</a:t>
            </a:r>
          </a:p>
          <a:p xmlns:a="http://schemas.openxmlformats.org/drawingml/2006/main">
            <a:pPr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Evidence pack and gap review</a:t>
            </a:r>
          </a:p>
          <a:p xmlns:a="http://schemas.openxmlformats.org/drawingml/2006/main">
            <a:pPr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Operator handoff</a:t>
            </a:r>
          </a:p>
        </p:txBody>
      </p:sp>
      <p:sp>
        <p:nvSpPr>
          <p:cNvPr id="8" name="same-core">
            <a:extLst xmlns:a="http://schemas.openxmlformats.org/drawingml/2006/main">
              <a:ext uri="{FF2B5EF4-FFF2-40B4-BE49-F238E27FC236}">
                <a16:creationId xmlns:a16="http://schemas.microsoft.com/office/drawing/2014/main" id="{4CE26247-DDCF-407A-B812-AFC21B03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07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Same open core. Customer-operated infrastructure. Price, capacity, support hours, response targets, and terms agreed before work.</a:t>
            </a:r>
          </a:p>
        </p:txBody>
      </p:sp>
    </p:spTree>
    <p:extLst>
      <p:ext uri="{BB962C8B-B14F-4D97-AF65-F5344CB8AC3E}">
        <p14:creationId xmlns:p14="http://schemas.microsoft.com/office/powerpoint/2010/main" val="13642678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ection">
            <a:extLst xmlns:a="http://schemas.openxmlformats.org/drawingml/2006/main">
              <a:ext uri="{FF2B5EF4-FFF2-40B4-BE49-F238E27FC236}">
                <a16:creationId xmlns:a16="http://schemas.microsoft.com/office/drawing/2014/main" id="{5976D8C6-4219-44BF-BFF3-DDD1D31C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MATURITY AND RESPONSIBILITY</a:t>
            </a:r>
          </a:p>
        </p:txBody>
      </p:sp>
      <p:sp>
        <p:nvSpPr>
          <p:cNvPr id="2" name="takeaway">
            <a:extLst xmlns:a="http://schemas.openxmlformats.org/drawingml/2006/main">
              <a:ext uri="{FF2B5EF4-FFF2-40B4-BE49-F238E27FC236}">
                <a16:creationId xmlns:a16="http://schemas.microsoft.com/office/drawing/2014/main" id="{3A406360-4B36-4AC5-9D2D-F9D6E6A3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Stable contracts are not certification.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B1A20B6-1B37-42CD-9944-F0FFD7CF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070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HORMUZ  /  Mehrdad Zaker  /  30 Aug 2026                                      05 / 07</a:t>
            </a:r>
          </a:p>
        </p:txBody>
      </p:sp>
      <p:sp>
        <p:nvSpPr>
          <p:cNvPr id="4" name="release">
            <a:extLst xmlns:a="http://schemas.openxmlformats.org/drawingml/2006/main">
              <a:ext uri="{FF2B5EF4-FFF2-40B4-BE49-F238E27FC236}">
                <a16:creationId xmlns:a16="http://schemas.microsoft.com/office/drawing/2014/main" id="{DB07CB5D-2A6E-4942-BB17-6656F16A5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v1.0.0 source contracts</a:t>
            </a:r>
          </a:p>
        </p:txBody>
      </p:sp>
      <p:sp>
        <p:nvSpPr>
          <p:cNvPr id="5" name="oci">
            <a:extLst xmlns:a="http://schemas.openxmlformats.org/drawingml/2006/main">
              <a:ext uri="{FF2B5EF4-FFF2-40B4-BE49-F238E27FC236}">
                <a16:creationId xmlns:a16="http://schemas.microsoft.com/office/drawing/2014/main" id="{4CA3EA19-0333-4A60-B005-A8B581166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Signed OCI v0.1.3 linux/amd64 is a separate reference stream.</a:t>
            </a:r>
          </a:p>
        </p:txBody>
      </p:sp>
      <p:sp>
        <p:nvSpPr>
          <p:cNvPr id="6" name="operators">
            <a:extLst xmlns:a="http://schemas.openxmlformats.org/drawingml/2006/main">
              <a:ext uri="{FF2B5EF4-FFF2-40B4-BE49-F238E27FC236}">
                <a16:creationId xmlns:a16="http://schemas.microsoft.com/office/drawing/2014/main" id="{C8CE3457-C887-48FF-BF54-D0E8CAA9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You still qualify TLS, custody, retention, backups, recovery, availability, access controls, and independent security review in your environment.</a:t>
            </a:r>
          </a:p>
        </p:txBody>
      </p:sp>
      <p:sp>
        <p:nvSpPr>
          <p:cNvPr id="7" name="nonclaims">
            <a:extLst xmlns:a="http://schemas.openxmlformats.org/drawingml/2006/main">
              <a:ext uri="{FF2B5EF4-FFF2-40B4-BE49-F238E27FC236}">
                <a16:creationId xmlns:a16="http://schemas.microsoft.com/office/drawing/2014/main" id="{1EC00BBA-F812-48C4-8523-F9066475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070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Not claimed: native Hormuz login/refresh sessions, complete semantic DLP, per-inference human approval, reconciled provider invoices, managed SaaS, or a 24/7 SLA.</a:t>
            </a:r>
          </a:p>
        </p:txBody>
      </p:sp>
    </p:spTree>
    <p:extLst>
      <p:ext uri="{BB962C8B-B14F-4D97-AF65-F5344CB8AC3E}">
        <p14:creationId xmlns:p14="http://schemas.microsoft.com/office/powerpoint/2010/main" val="898841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A672D13B-2F22-47D8-B2B3-37324461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PROPOSED 90-DAY PILOT</a:t>
            </a:r>
          </a:p>
        </p:txBody>
      </p:sp>
      <p:sp>
        <p:nvSpPr>
          <p:cNvPr id="2" name="takeaway">
            <a:extLst xmlns:a="http://schemas.openxmlformats.org/drawingml/2006/main">
              <a:ext uri="{FF2B5EF4-FFF2-40B4-BE49-F238E27FC236}">
                <a16:creationId xmlns:a16="http://schemas.microsoft.com/office/drawing/2014/main" id="{376FEEF3-9B4C-4E6F-BBD7-ABF9E3A2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Prove one workflow before expanding.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B5285A5-2CF4-47FB-AB0A-475EC7D6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070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HORMUZ  /  Mehrdad Zaker  /  30 Aug 2026                                      06 / 07</a:t>
            </a:r>
          </a:p>
        </p:txBody>
      </p:sp>
      <p:sp>
        <p:nvSpPr>
          <p:cNvPr id="4" name="phase-01">
            <a:extLst xmlns:a="http://schemas.openxmlformats.org/drawingml/2006/main">
              <a:ext uri="{FF2B5EF4-FFF2-40B4-BE49-F238E27FC236}">
                <a16:creationId xmlns:a16="http://schemas.microsoft.com/office/drawing/2014/main" id="{24DB61EF-6823-44E7-83EA-801A22E5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phase-title-01">
            <a:extLst xmlns:a="http://schemas.openxmlformats.org/drawingml/2006/main">
              <a:ext uri="{FF2B5EF4-FFF2-40B4-BE49-F238E27FC236}">
                <a16:creationId xmlns:a16="http://schemas.microsoft.com/office/drawing/2014/main" id="{79DAC194-3B53-4E37-805E-0D5A9CC8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431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Days 1–15 / Map</a:t>
            </a:r>
          </a:p>
        </p:txBody>
      </p:sp>
      <p:sp>
        <p:nvSpPr>
          <p:cNvPr id="6" name="phase-body-01">
            <a:extLst xmlns:a="http://schemas.openxmlformats.org/drawingml/2006/main">
              <a:ext uri="{FF2B5EF4-FFF2-40B4-BE49-F238E27FC236}">
                <a16:creationId xmlns:a16="http://schemas.microsoft.com/office/drawing/2014/main" id="{7CF5F6F6-9A18-4229-B73E-72753F1F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0194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Control map, prerequisites, and agreed acceptance criteria.</a:t>
            </a:r>
          </a:p>
        </p:txBody>
      </p:sp>
      <p:sp>
        <p:nvSpPr>
          <p:cNvPr id="7" name="phase-02">
            <a:extLst xmlns:a="http://schemas.openxmlformats.org/drawingml/2006/main">
              <a:ext uri="{FF2B5EF4-FFF2-40B4-BE49-F238E27FC236}">
                <a16:creationId xmlns:a16="http://schemas.microsoft.com/office/drawing/2014/main" id="{84E85E8E-2DCF-4E55-A0AD-F3F9F35B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phase-title-02">
            <a:extLst xmlns:a="http://schemas.openxmlformats.org/drawingml/2006/main">
              <a:ext uri="{FF2B5EF4-FFF2-40B4-BE49-F238E27FC236}">
                <a16:creationId xmlns:a16="http://schemas.microsoft.com/office/drawing/2014/main" id="{D85ED308-3B8E-43C9-92A3-3D407D173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6099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Days 16–45 / Prove</a:t>
            </a:r>
          </a:p>
        </p:txBody>
      </p:sp>
      <p:sp>
        <p:nvSpPr>
          <p:cNvPr id="9" name="phase-body-02">
            <a:extLst xmlns:a="http://schemas.openxmlformats.org/drawingml/2006/main">
              <a:ext uri="{FF2B5EF4-FFF2-40B4-BE49-F238E27FC236}">
                <a16:creationId xmlns:a16="http://schemas.microsoft.com/office/drawing/2014/main" id="{D2A6368C-1BD2-4F5B-AE6B-6E9C7EBD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862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One non-production integration, evidence pack, and issue log.</a:t>
            </a:r>
          </a:p>
        </p:txBody>
      </p:sp>
      <p:sp>
        <p:nvSpPr>
          <p:cNvPr id="10" name="phase-03">
            <a:extLst xmlns:a="http://schemas.openxmlformats.org/drawingml/2006/main">
              <a:ext uri="{FF2B5EF4-FFF2-40B4-BE49-F238E27FC236}">
                <a16:creationId xmlns:a16="http://schemas.microsoft.com/office/drawing/2014/main" id="{00B7D47E-2A8E-4FC6-A009-36E57C9E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phase-title-03">
            <a:extLst xmlns:a="http://schemas.openxmlformats.org/drawingml/2006/main">
              <a:ext uri="{FF2B5EF4-FFF2-40B4-BE49-F238E27FC236}">
                <a16:creationId xmlns:a16="http://schemas.microsoft.com/office/drawing/2014/main" id="{219D47EA-9F6F-485B-BA86-FF800653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767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Days 46–90 / Decide</a:t>
            </a:r>
          </a:p>
        </p:txBody>
      </p:sp>
      <p:sp>
        <p:nvSpPr>
          <p:cNvPr id="12" name="phase-body-03">
            <a:extLst xmlns:a="http://schemas.openxmlformats.org/drawingml/2006/main">
              <a:ext uri="{FF2B5EF4-FFF2-40B4-BE49-F238E27FC236}">
                <a16:creationId xmlns:a16="http://schemas.microsoft.com/office/drawing/2014/main" id="{5BCE8CF9-E643-4887-B479-EF9EB9C4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530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Go/no-go decision, named gap owners, and operator handoff.</a:t>
            </a:r>
          </a:p>
        </p:txBody>
      </p:sp>
      <p:sp>
        <p:nvSpPr>
          <p:cNvPr id="13" name="pilot-boundary">
            <a:extLst xmlns:a="http://schemas.openxmlformats.org/drawingml/2006/main">
              <a:ext uri="{FF2B5EF4-FFF2-40B4-BE49-F238E27FC236}">
                <a16:creationId xmlns:a16="http://schemas.microsoft.com/office/drawing/2014/main" id="{2B06F01F-54CA-467E-9E82-50A647A7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0707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Start with fit and scope. A shorter evaluation may come first. No work is confirmed by an inquiry.</a:t>
            </a:r>
          </a:p>
        </p:txBody>
      </p:sp>
    </p:spTree>
    <p:extLst>
      <p:ext uri="{BB962C8B-B14F-4D97-AF65-F5344CB8AC3E}">
        <p14:creationId xmlns:p14="http://schemas.microsoft.com/office/powerpoint/2010/main" val="20214976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7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7A1EAE71-81FF-451D-AD7D-36E329C7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68E6D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8E6DD"/>
                </a:solidFill>
                <a:latin typeface="Arial"/>
                <a:ea typeface="Arial"/>
                <a:cs typeface="Arial"/>
              </a:rPr>
              <a:t>A BOUNDED NEXT STEP</a:t>
            </a:r>
          </a:p>
        </p:txBody>
      </p:sp>
      <p:sp>
        <p:nvSpPr>
          <p:cNvPr id="2" name="takeaway">
            <a:extLst xmlns:a="http://schemas.openxmlformats.org/drawingml/2006/main">
              <a:ext uri="{FF2B5EF4-FFF2-40B4-BE49-F238E27FC236}">
                <a16:creationId xmlns:a16="http://schemas.microsoft.com/office/drawing/2014/main" id="{FC081351-9A90-4EF8-8271-C9EEC41C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BFCF8"/>
                </a:solidFill>
                <a:latin typeface="Arial"/>
                <a:ea typeface="Arial"/>
                <a:cs typeface="Arial"/>
              </a:rPr>
              <a:t>Name one workflow worth governing.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0EAC2AF-6053-4AF8-AF72-67634E04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9CCC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9CCC7"/>
                </a:solidFill>
                <a:latin typeface="Arial"/>
                <a:ea typeface="Arial"/>
                <a:cs typeface="Arial"/>
              </a:rPr>
              <a:t>HORMUZ  /  Mehrdad Zaker  /  30 Aug 2026                                      07 / 07</a:t>
            </a:r>
          </a:p>
        </p:txBody>
      </p:sp>
      <p:sp>
        <p:nvSpPr>
          <p:cNvPr id="4" name="next-step">
            <a:extLst xmlns:a="http://schemas.openxmlformats.org/drawingml/2006/main">
              <a:ext uri="{FF2B5EF4-FFF2-40B4-BE49-F238E27FC236}">
                <a16:creationId xmlns:a16="http://schemas.microsoft.com/office/drawing/2014/main" id="{DA949742-C010-468E-B9BC-0AB7C04C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8585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BFCF8"/>
                </a:solidFill>
                <a:latin typeface="Arial"/>
                <a:ea typeface="Arial"/>
                <a:cs typeface="Arial"/>
              </a:rPr>
              <a:t>Which client? Which team?</a:t>
            </a:r>
          </a:p>
          <a:p xmlns:a="http://schemas.openxmlformats.org/drawingml/2006/main">
            <a:pPr>
              <a:defRPr sz="3300" b="0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BFCF8"/>
                </a:solidFill>
                <a:latin typeface="Arial"/>
                <a:ea typeface="Arial"/>
                <a:cs typeface="Arial"/>
              </a:rPr>
              <a:t>Which control is missing?</a:t>
            </a:r>
          </a:p>
          <a:p xmlns:a="http://schemas.openxmlformats.org/drawingml/2006/main">
            <a:pPr>
              <a:defRPr sz="3300" b="0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BFCF8"/>
                </a:solidFill>
                <a:latin typeface="Arial"/>
                <a:ea typeface="Arial"/>
                <a:cs typeface="Arial"/>
              </a:rPr>
              <a:t>Who operates the route?</a:t>
            </a:r>
          </a:p>
        </p:txBody>
      </p:sp>
      <p:sp>
        <p:nvSpPr>
          <p:cNvPr id="5" name="contact">
            <a:extLst xmlns:a="http://schemas.openxmlformats.org/drawingml/2006/main">
              <a:ext uri="{FF2B5EF4-FFF2-40B4-BE49-F238E27FC236}">
                <a16:creationId xmlns:a16="http://schemas.microsoft.com/office/drawing/2014/main" id="{226A77C1-1481-42AC-AFF0-5A72E13F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68E6D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68E6DD"/>
                </a:solidFill>
                <a:latin typeface="Arial"/>
                <a:ea typeface="Arial"/>
                <a:cs typeface="Arial"/>
              </a:rPr>
              <a:t>Mehrdad Zaker</a:t>
            </a:r>
          </a:p>
          <a:p xmlns:a="http://schemas.openxmlformats.org/drawingml/2006/main">
            <a:pPr>
              <a:defRPr sz="2325" b="1">
                <a:solidFill>
                  <a:srgbClr val="68E6D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68E6DD"/>
                </a:solidFill>
                <a:latin typeface="Arial"/>
                <a:ea typeface="Arial"/>
                <a:cs typeface="Arial"/>
              </a:rPr>
              <a:t>zaker.mehrdad@gmail.com</a:t>
            </a:r>
          </a:p>
        </p:txBody>
      </p:sp>
      <p:sp>
        <p:nvSpPr>
          <p:cNvPr id="6" name="website">
            <a:extLst xmlns:a="http://schemas.openxmlformats.org/drawingml/2006/main">
              <a:ext uri="{FF2B5EF4-FFF2-40B4-BE49-F238E27FC236}">
                <a16:creationId xmlns:a16="http://schemas.microsoft.com/office/drawing/2014/main" id="{43A110DE-D781-4D6D-AF92-78BAEC64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xpounder-com.github.io/hormuz</a:t>
            </a:r>
          </a:p>
        </p:txBody>
      </p:sp>
    </p:spTree>
    <p:extLst>
      <p:ext uri="{BB962C8B-B14F-4D97-AF65-F5344CB8AC3E}">
        <p14:creationId xmlns:p14="http://schemas.microsoft.com/office/powerpoint/2010/main" val="9837160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2026-08-30T18:32:10.0090000Z</dcterms:created>
  <dcterms:modified xsi:type="dcterms:W3CDTF">2026-08-30T18:32:10.0090000Z</dcterms:modified>
</coreProperties>
</file>