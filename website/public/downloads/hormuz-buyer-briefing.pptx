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44c779258a84d68" /><Relationship Type="http://schemas.openxmlformats.org/officeDocument/2006/relationships/extended-properties" Target="/docProps/app.xml" Id="R0dfe95c190a648f7" /><Relationship Type="http://schemas.openxmlformats.org/officeDocument/2006/relationships/officeDocument" Target="/ppt/presentation.xml" Id="Rd00c7ea5b8ec4b6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3aace7adbed4046"/>
  </p:sldMasterIdLst>
  <p:notesMasterIdLst>
    <p:notesMasterId xmlns:r="http://schemas.openxmlformats.org/officeDocument/2006/relationships" r:id="Rf340521d323d453e"/>
  </p:notesMasterIdLst>
  <p:sldIdLst>
    <p:sldId xmlns:r="http://schemas.openxmlformats.org/officeDocument/2006/relationships" id="256" r:id="R2af7859b638f4a90"/>
    <p:sldId xmlns:r="http://schemas.openxmlformats.org/officeDocument/2006/relationships" id="257" r:id="R3012093706e24e2e"/>
    <p:sldId xmlns:r="http://schemas.openxmlformats.org/officeDocument/2006/relationships" id="258" r:id="Rf985a675096e4343"/>
    <p:sldId xmlns:r="http://schemas.openxmlformats.org/officeDocument/2006/relationships" id="259" r:id="R11a8213a72b9418d"/>
    <p:sldId xmlns:r="http://schemas.openxmlformats.org/officeDocument/2006/relationships" id="260" r:id="R7378b605b8ed4834"/>
    <p:sldId xmlns:r="http://schemas.openxmlformats.org/officeDocument/2006/relationships" id="261" r:id="Rd9a738c819b843b5"/>
    <p:sldId xmlns:r="http://schemas.openxmlformats.org/officeDocument/2006/relationships" id="262" r:id="R2f31c2cb7e49486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5d0ff65cdfd4322" /><Relationship Type="http://schemas.openxmlformats.org/officeDocument/2006/relationships/slideMaster" Target="/ppt/slideMasters/slideMaster1.xml" Id="Ra3aace7adbed4046" /><Relationship Type="http://schemas.openxmlformats.org/officeDocument/2006/relationships/notesMaster" Target="/ppt/notesMasters/notesMaster1.xml" Id="Rf340521d323d453e" /><Relationship Type="http://schemas.openxmlformats.org/officeDocument/2006/relationships/presProps" Target="/ppt/presProps.xml" Id="Reabd511603054c29" /><Relationship Type="http://schemas.openxmlformats.org/officeDocument/2006/relationships/tableStyles" Target="/ppt/tableStyles.xml" Id="Rcf1ef1d9907b4256" /><Relationship Type="http://schemas.openxmlformats.org/officeDocument/2006/relationships/slide" Target="/ppt/slides/slide1.xml" Id="R2af7859b638f4a90" /><Relationship Type="http://schemas.openxmlformats.org/officeDocument/2006/relationships/slide" Target="/ppt/slides/slide2.xml" Id="R3012093706e24e2e" /><Relationship Type="http://schemas.openxmlformats.org/officeDocument/2006/relationships/slide" Target="/ppt/slides/slide3.xml" Id="Rf985a675096e4343" /><Relationship Type="http://schemas.openxmlformats.org/officeDocument/2006/relationships/slide" Target="/ppt/slides/slide4.xml" Id="R11a8213a72b9418d" /><Relationship Type="http://schemas.openxmlformats.org/officeDocument/2006/relationships/slide" Target="/ppt/slides/slide5.xml" Id="R7378b605b8ed4834" /><Relationship Type="http://schemas.openxmlformats.org/officeDocument/2006/relationships/slide" Target="/ppt/slides/slide6.xml" Id="Rd9a738c819b843b5" /><Relationship Type="http://schemas.openxmlformats.org/officeDocument/2006/relationships/slide" Target="/ppt/slides/slide7.xml" Id="R2f31c2cb7e49486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79eaa521d594ad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56bf314093d4aaf" /><Relationship Type="http://schemas.openxmlformats.org/officeDocument/2006/relationships/notesMaster" Target="/ppt/notesMasters/notesMaster1.xml" Id="R4b3024a0720640a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11c0bf589064f9e" /><Relationship Type="http://schemas.openxmlformats.org/officeDocument/2006/relationships/notesMaster" Target="/ppt/notesMasters/notesMaster1.xml" Id="R0a16655cf11c4ee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495b1386bab49ba" /><Relationship Type="http://schemas.openxmlformats.org/officeDocument/2006/relationships/notesMaster" Target="/ppt/notesMasters/notesMaster1.xml" Id="R9ad689c77983497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6c4c00077554231" /><Relationship Type="http://schemas.openxmlformats.org/officeDocument/2006/relationships/notesMaster" Target="/ppt/notesMasters/notesMaster1.xml" Id="R4e275aa96e334dd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0d9874ac5c64a17" /><Relationship Type="http://schemas.openxmlformats.org/officeDocument/2006/relationships/notesMaster" Target="/ppt/notesMasters/notesMaster1.xml" Id="Rcab4c51eb2294b5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390d6fd241e477b" /><Relationship Type="http://schemas.openxmlformats.org/officeDocument/2006/relationships/notesMaster" Target="/ppt/notesMasters/notesMaster1.xml" Id="Rc2043ed3700d4dd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bba031598134147" /><Relationship Type="http://schemas.openxmlformats.org/officeDocument/2006/relationships/notesMaster" Target="/ppt/notesMasters/notesMaster1.xml" Id="R3dfcb4c2d15c478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https://github.com/Xpounder-com/hormuz/blob/main/marketing/OFFER.md</a:t>
            </a:r>
          </a:p>
          <a:p xmlns:a="http://schemas.openxmlformats.org/drawingml/2006/main">
            <a:r>
              <a:t>https://github.com/Xpounder-com/hormuz/blob/main/LICENSE</a:t>
            </a:r>
          </a:p>
          <a:p xmlns:a="http://schemas.openxmlformats.org/drawingml/2006/main">
            <a:r>
              <a:t>https://github.com/Xpounder-com/hormuz/blob/main/docs/CLIENTS.md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Scope: public v1 source contracts and synthetic evidence. No customer outcome, certification, SLA, validated demand, or future software availability is implied.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https://github.com/Xpounder-com/hormuz/blob/main/docs/ARCHITECTURE.md</a:t>
            </a:r>
          </a:p>
          <a:p xmlns:a="http://schemas.openxmlformats.org/drawingml/2006/main">
            <a:r>
              <a:t>https://github.com/Xpounder-com/hormuz/blob/main/docs/CLIENTS.md</a:t>
            </a:r>
          </a:p>
          <a:p xmlns:a="http://schemas.openxmlformats.org/drawingml/2006/main">
            <a:r>
              <a:t>https://github.com/Xpounder-com/hormuz/blob/main/docs/AUDIT.md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Scope: public v1 source contracts and synthetic evidence. No customer outcome, certification, SLA, validated demand, or future software availability is implied.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https://usehormuz.github.io/demo/</a:t>
            </a:r>
          </a:p>
          <a:p xmlns:a="http://schemas.openxmlformats.org/drawingml/2006/main">
            <a:r>
              <a:t>https://github.com/Xpounder-com/hormuz/blob/main/hormuz/demo.py</a:t>
            </a:r>
          </a:p>
          <a:p xmlns:a="http://schemas.openxmlformats.org/drawingml/2006/main">
            <a:r>
              <a:t>https://github.com/Xpounder-com/hormuz/blob/main/website/public/demo/gateway.json</a:t>
            </a:r>
          </a:p>
          <a:p xmlns:a="http://schemas.openxmlformats.org/drawingml/2006/main">
            <a:r>
              <a:t>https://github.com/Xpounder-com/hormuz/blob/main/website/public/demo/synthetic-evidence.jsonl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Scope: public v1 source contracts and synthetic evidence. No customer outcome, certification, SLA, validated demand, or future software availability is implied.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https://github.com/Xpounder-com/hormuz/blob/main/LICENSE</a:t>
            </a:r>
          </a:p>
          <a:p xmlns:a="http://schemas.openxmlformats.org/drawingml/2006/main">
            <a:r>
              <a:t>https://github.com/Xpounder-com/hormuz/blob/main/marketing/OFFER.md</a:t>
            </a:r>
          </a:p>
          <a:p xmlns:a="http://schemas.openxmlformats.org/drawingml/2006/main">
            <a:r>
              <a:t>https://github.com/Xpounder-com/hormuz/blob/main/marketing/PILOT.md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Scope: public v1 source contracts and synthetic evidence. No customer outcome, certification, SLA, validated demand, or future software availability is implied.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https://github.com/Xpounder-com/hormuz/blob/main/SUPPORT.md</a:t>
            </a:r>
          </a:p>
          <a:p xmlns:a="http://schemas.openxmlformats.org/drawingml/2006/main">
            <a:r>
              <a:t>https://github.com/Xpounder-com/hormuz/blob/main/docs/OIDC.md</a:t>
            </a:r>
          </a:p>
          <a:p xmlns:a="http://schemas.openxmlformats.org/drawingml/2006/main">
            <a:r>
              <a:t>https://github.com/Xpounder-com/hormuz/blob/main/docs/SECRET_CONTROLS.md</a:t>
            </a:r>
          </a:p>
          <a:p xmlns:a="http://schemas.openxmlformats.org/drawingml/2006/main">
            <a:r>
              <a:t>https://github.com/Xpounder-com/hormuz/blob/main/docs/USAGE.md</a:t>
            </a:r>
          </a:p>
          <a:p xmlns:a="http://schemas.openxmlformats.org/drawingml/2006/main">
            <a:r>
              <a:t>https://github.com/Xpounder-com/hormuz/blob/main/marketing/TRUST.md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Scope: public v1 source contracts and synthetic evidence. No customer outcome, certification, SLA, validated demand, or future software availability is implied.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https://github.com/Xpounder-com/hormuz/blob/main/marketing/PILOT.md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Scope: public v1 source contracts and synthetic evidence. No customer outcome, certification, SLA, validated demand, or future software availability is implied.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https://usehormuz.github.io/</a:t>
            </a:r>
          </a:p>
          <a:p xmlns:a="http://schemas.openxmlformats.org/drawingml/2006/main">
            <a:r>
              <a:t>https://github.com/Xpounder-com/hormuz/blob/main/marketing/PILOT.md</a:t>
            </a:r>
          </a:p>
          <a:p xmlns:a="http://schemas.openxmlformats.org/drawingml/2006/main">
            <a:r>
              <a:t>https://github.com/Xpounder-com/hormuz/blob/main/marketing/TRUST.md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Scope: public v1 source contracts and synthetic evidence. No customer outcome, certification, SLA, validated demand, or future software availability is implied.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abc9deb8f7a4b5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6fc6c56cd1f4b73" /><Relationship Type="http://schemas.openxmlformats.org/officeDocument/2006/relationships/slideLayout" Target="/ppt/slideLayouts/slideLayout1.xml" Id="Rfdf999c7227c4ee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df999c7227c4ee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47023762234090" /><Relationship Type="http://schemas.openxmlformats.org/officeDocument/2006/relationships/image" Target="/ppt/media/image.png" Id="Rfe905ca50ebf469e" /><Relationship Type="http://schemas.openxmlformats.org/officeDocument/2006/relationships/image" Target="/ppt/media/image.svg" Id="Rade40133d7454587" /><Relationship Type="http://schemas.openxmlformats.org/officeDocument/2006/relationships/notesSlide" Target="/ppt/notesSlides/notesSlide1.xml" Id="Rb3e7f5a28d35416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1e8b3fa5e34e0f" /><Relationship Type="http://schemas.openxmlformats.org/officeDocument/2006/relationships/image" Target="/ppt/media/image2.png" Id="Rda2df477324c4688" /><Relationship Type="http://schemas.openxmlformats.org/officeDocument/2006/relationships/image" Target="/ppt/media/image2.svg" Id="R8ae4e69bb7ae4a0a" /><Relationship Type="http://schemas.openxmlformats.org/officeDocument/2006/relationships/notesSlide" Target="/ppt/notesSlides/notesSlide2.xml" Id="R2a2acb930c1c442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86bd1eb4624b82" /><Relationship Type="http://schemas.openxmlformats.org/officeDocument/2006/relationships/image" Target="/ppt/media/image3.png" Id="Rb54a670779b64bc0" /><Relationship Type="http://schemas.openxmlformats.org/officeDocument/2006/relationships/image" Target="/ppt/media/image3.svg" Id="Re88ab682a9414947" /><Relationship Type="http://schemas.openxmlformats.org/officeDocument/2006/relationships/notesSlide" Target="/ppt/notesSlides/notesSlide3.xml" Id="R32c3fba9d84e46b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7c0e747359403c" /><Relationship Type="http://schemas.openxmlformats.org/officeDocument/2006/relationships/image" Target="/ppt/media/image4.png" Id="R89f7239f82ca4ad4" /><Relationship Type="http://schemas.openxmlformats.org/officeDocument/2006/relationships/image" Target="/ppt/media/image4.svg" Id="Ra562799fe926472e" /><Relationship Type="http://schemas.openxmlformats.org/officeDocument/2006/relationships/notesSlide" Target="/ppt/notesSlides/notesSlide4.xml" Id="Rd0c849a46461427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23a5e1aafc4a40" /><Relationship Type="http://schemas.openxmlformats.org/officeDocument/2006/relationships/image" Target="/ppt/media/image5.png" Id="Re3cd6281265a4a59" /><Relationship Type="http://schemas.openxmlformats.org/officeDocument/2006/relationships/image" Target="/ppt/media/image5.svg" Id="R5c20ed34cbbc4d09" /><Relationship Type="http://schemas.openxmlformats.org/officeDocument/2006/relationships/notesSlide" Target="/ppt/notesSlides/notesSlide5.xml" Id="R36d59ded534b4cd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04ce6c4c074d0c" /><Relationship Type="http://schemas.openxmlformats.org/officeDocument/2006/relationships/image" Target="/ppt/media/image6.png" Id="R1bfd5982f2ef4904" /><Relationship Type="http://schemas.openxmlformats.org/officeDocument/2006/relationships/image" Target="/ppt/media/image6.svg" Id="R6417a8acd26143ea" /><Relationship Type="http://schemas.openxmlformats.org/officeDocument/2006/relationships/notesSlide" Target="/ppt/notesSlides/notesSlide6.xml" Id="R485db723887d427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4840caf7f5487a" /><Relationship Type="http://schemas.openxmlformats.org/officeDocument/2006/relationships/image" Target="/ppt/media/image7.png" Id="Rd5f40a9b142f4b09" /><Relationship Type="http://schemas.openxmlformats.org/officeDocument/2006/relationships/image" Target="/ppt/media/image7.svg" Id="R9a9fdb9879cf4c0e" /><Relationship Type="http://schemas.openxmlformats.org/officeDocument/2006/relationships/notesSlide" Target="/ppt/notesSlides/notesSlide7.xml" Id="R9f7dc765675d4af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24392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905ca50ebf469e">
            <a:extLst>
              <a:ext uri="{96DAC541-7B7A-43D3-8B79-37D633B846F1}">
                <asvg:svgBlip xmlns:asvg="http://schemas.microsoft.com/office/drawing/2016/SVG/main" r:embed="Rade40133d745458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201400" y="333375"/>
            <a:ext cx="381000" cy="381000"/>
          </a:xfrm>
          <a:prstGeom xmlns:a="http://schemas.openxmlformats.org/drawingml/2006/main" prst="rect">
            <a:avLst/>
          </a:prstGeom>
        </p:spPr>
      </p:pic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EEB06EC4-01F6-4F00-8F04-66689B69D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DCEDA6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DCEDA6"/>
                </a:solidFill>
                <a:latin typeface="Arial"/>
                <a:ea typeface="Arial"/>
                <a:cs typeface="Arial"/>
              </a:rPr>
              <a:t>OPEN SOURCE + SUPPORTED EVALUATION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27967F12-2463-4349-BD50-CCAD0B1F1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DCE6D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DCE6D5"/>
                </a:solidFill>
                <a:latin typeface="Arial"/>
                <a:ea typeface="Arial"/>
                <a:cs typeface="Arial"/>
              </a:rPr>
              <a:t>HORMUZ  /  A product of Neuralint  /  Mehrdad Zaker  /  September 2026</a:t>
            </a:r>
          </a:p>
        </p:txBody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20CCF5B-00AC-47CF-A216-F1998A8AD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400800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DCE6D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DCE6D5"/>
                </a:solidFill>
                <a:latin typeface="Arial"/>
                <a:ea typeface="Arial"/>
                <a:cs typeface="Arial"/>
              </a:rPr>
              <a:t>01 / 07</a:t>
            </a:r>
          </a:p>
        </p:txBody>
      </p:sp>
      <p:sp>
        <p:nvSpPr>
          <p:cNvPr id="5" name="cover-title">
            <a:extLst xmlns:a="http://schemas.openxmlformats.org/drawingml/2006/main">
              <a:ext uri="{FF2B5EF4-FFF2-40B4-BE49-F238E27FC236}">
                <a16:creationId xmlns:a16="http://schemas.microsoft.com/office/drawing/2014/main" id="{D7353088-14C0-45BF-9E23-ECD7F6042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0858500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5700" b="1">
                <a:solidFill>
                  <a:srgbClr val="FAFBF6"/>
                </a:solidFill>
                <a:latin typeface="Arial"/>
                <a:ea typeface="Arial"/>
                <a:cs typeface="Arial"/>
              </a:defRPr>
            </a:pPr>
            <a:r>
              <a:rPr sz="5700" b="1">
                <a:solidFill>
                  <a:srgbClr val="FAFBF6"/>
                </a:solidFill>
                <a:latin typeface="Arial"/>
                <a:ea typeface="Arial"/>
                <a:cs typeface="Arial"/>
              </a:rPr>
              <a:t>Give your team AI.</a:t>
            </a:r>
          </a:p>
          <a:p xmlns:a="http://schemas.openxmlformats.org/drawingml/2006/main">
            <a:pPr>
              <a:defRPr sz="5700" b="1">
                <a:solidFill>
                  <a:srgbClr val="FAFBF6"/>
                </a:solidFill>
                <a:latin typeface="Arial"/>
                <a:ea typeface="Arial"/>
                <a:cs typeface="Arial"/>
              </a:defRPr>
            </a:pPr>
            <a:r>
              <a:rPr sz="5700" b="1">
                <a:solidFill>
                  <a:srgbClr val="FAFBF6"/>
                </a:solidFill>
                <a:latin typeface="Arial"/>
                <a:ea typeface="Arial"/>
                <a:cs typeface="Arial"/>
              </a:rPr>
              <a:t>Keep control.</a:t>
            </a:r>
          </a:p>
        </p:txBody>
      </p:sp>
      <p:sp>
        <p:nvSpPr>
          <p:cNvPr id="6" name="cover-summary">
            <a:extLst xmlns:a="http://schemas.openxmlformats.org/drawingml/2006/main">
              <a:ext uri="{FF2B5EF4-FFF2-40B4-BE49-F238E27FC236}">
                <a16:creationId xmlns:a16="http://schemas.microsoft.com/office/drawing/2014/main" id="{BD907CB8-7FCF-4B6F-992C-7FAB8A08A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71950"/>
            <a:ext cx="105727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D9E1D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D9E1DF"/>
                </a:solidFill>
                <a:latin typeface="Arial"/>
                <a:ea typeface="Arial"/>
                <a:cs typeface="Arial"/>
              </a:rPr>
              <a:t>Self-hosted policy, budgets, secret controls,</a:t>
            </a:r>
          </a:p>
          <a:p xmlns:a="http://schemas.openxmlformats.org/drawingml/2006/main">
            <a:pPr>
              <a:defRPr sz="2325" b="0">
                <a:solidFill>
                  <a:srgbClr val="D9E1D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D9E1DF"/>
                </a:solidFill>
                <a:latin typeface="Arial"/>
                <a:ea typeface="Arial"/>
                <a:cs typeface="Arial"/>
              </a:rPr>
              <a:t>and metadata-only evidence for Codex and Claude Code.</a:t>
            </a:r>
          </a:p>
        </p:txBody>
      </p:sp>
      <p:sp>
        <p:nvSpPr>
          <p:cNvPr id="7" name="cover-boundary">
            <a:extLst xmlns:a="http://schemas.openxmlformats.org/drawingml/2006/main">
              <a:ext uri="{FF2B5EF4-FFF2-40B4-BE49-F238E27FC236}">
                <a16:creationId xmlns:a16="http://schemas.microsoft.com/office/drawing/2014/main" id="{1805D97F-95CA-41D4-B5A4-7CF1279A9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43550"/>
            <a:ext cx="1057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DCEDA6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DCEDA6"/>
                </a:solidFill>
                <a:latin typeface="Arial"/>
                <a:ea typeface="Arial"/>
                <a:cs typeface="Arial"/>
              </a:rPr>
              <a:t>Apache-2.0 core  •  v1.0.0 source contracts</a:t>
            </a:r>
          </a:p>
        </p:txBody>
      </p:sp>
    </p:spTree>
    <p:extLst>
      <p:ext uri="{BB962C8B-B14F-4D97-AF65-F5344CB8AC3E}">
        <p14:creationId xmlns:p14="http://schemas.microsoft.com/office/powerpoint/2010/main" val="150259860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2df477324c4688">
            <a:extLst>
              <a:ext uri="{96DAC541-7B7A-43D3-8B79-37D633B846F1}">
                <asvg:svgBlip xmlns:asvg="http://schemas.microsoft.com/office/drawing/2016/SVG/main" r:embed="R8ae4e69bb7ae4a0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201400" y="333375"/>
            <a:ext cx="381000" cy="381000"/>
          </a:xfrm>
          <a:prstGeom xmlns:a="http://schemas.openxmlformats.org/drawingml/2006/main" prst="rect">
            <a:avLst/>
          </a:prstGeom>
        </p:spPr>
      </p:pic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45EC06CD-DEA5-4038-A835-20FDD7071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1684B"/>
                </a:solidFill>
                <a:latin typeface="Arial"/>
                <a:ea typeface="Arial"/>
                <a:cs typeface="Arial"/>
              </a:rPr>
              <a:t>THE CONTROL POINT</a:t>
            </a:r>
          </a:p>
        </p:txBody>
      </p:sp>
      <p:sp>
        <p:nvSpPr>
          <p:cNvPr id="3" name="takeaway">
            <a:extLst xmlns:a="http://schemas.openxmlformats.org/drawingml/2006/main">
              <a:ext uri="{FF2B5EF4-FFF2-40B4-BE49-F238E27FC236}">
                <a16:creationId xmlns:a16="http://schemas.microsoft.com/office/drawing/2014/main" id="{B932E55F-D62C-4C64-91C7-1067C5891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9650"/>
            <a:ext cx="109728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202723"/>
                </a:solidFill>
                <a:latin typeface="Arial"/>
                <a:ea typeface="Arial"/>
                <a:cs typeface="Arial"/>
              </a:rPr>
              <a:t>Put policy in the model-request path.</a:t>
            </a:r>
          </a:p>
        </p:txBody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9BDEBCF3-FA80-4395-B8A3-DAF3FCE32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C675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C6758"/>
                </a:solidFill>
                <a:latin typeface="Arial"/>
                <a:ea typeface="Arial"/>
                <a:cs typeface="Arial"/>
              </a:rPr>
              <a:t>HORMUZ  /  A product of Neuralint  /  Mehrdad Zaker  /  September 2026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A01BDBB-007D-4258-BBD5-9B4C96E10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400800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C675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C6758"/>
                </a:solidFill>
                <a:latin typeface="Arial"/>
                <a:ea typeface="Arial"/>
                <a:cs typeface="Arial"/>
              </a:rPr>
              <a:t>02 / 07</a:t>
            </a:r>
          </a:p>
        </p:txBody>
      </p:sp>
      <p:sp>
        <p:nvSpPr>
          <p:cNvPr id="6" name="arrow-one">
            <a:extLst xmlns:a="http://schemas.openxmlformats.org/drawingml/2006/main">
              <a:ext uri="{FF2B5EF4-FFF2-40B4-BE49-F238E27FC236}">
                <a16:creationId xmlns:a16="http://schemas.microsoft.com/office/drawing/2014/main" id="{1F164A8F-7AD4-4E62-A381-C06A09C5E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962275"/>
            <a:ext cx="571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450" b="0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3450" b="0">
                <a:solidFill>
                  <a:srgbClr val="31684B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7" name="arrow-two">
            <a:extLst xmlns:a="http://schemas.openxmlformats.org/drawingml/2006/main">
              <a:ext uri="{FF2B5EF4-FFF2-40B4-BE49-F238E27FC236}">
                <a16:creationId xmlns:a16="http://schemas.microsoft.com/office/drawing/2014/main" id="{82D31BB1-46C7-40E1-B7E6-EB7CA77B6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2962275"/>
            <a:ext cx="571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450" b="0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3450" b="0">
                <a:solidFill>
                  <a:srgbClr val="31684B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8" name="EMPLOYEE CLIENT">
            <a:extLst xmlns:a="http://schemas.openxmlformats.org/drawingml/2006/main">
              <a:ext uri="{FF2B5EF4-FFF2-40B4-BE49-F238E27FC236}">
                <a16:creationId xmlns:a16="http://schemas.microsoft.com/office/drawing/2014/main" id="{26F4CEF6-B0C2-4EB0-8354-3EF359F77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0325"/>
            <a:ext cx="28575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6"/>
          </a:solidFill>
          <a:ln xmlns:a="http://schemas.openxmlformats.org/drawingml/2006/main" w="9525">
            <a:solidFill>
              <a:srgbClr val="D4DBCC"/>
            </a:solidFill>
            <a:prstDash val="solid"/>
          </a:ln>
        </p:spPr>
      </p:sp>
      <p:sp>
        <p:nvSpPr>
          <p:cNvPr id="9" name="EMPLOYEE CLIENT-title">
            <a:extLst xmlns:a="http://schemas.openxmlformats.org/drawingml/2006/main">
              <a:ext uri="{FF2B5EF4-FFF2-40B4-BE49-F238E27FC236}">
                <a16:creationId xmlns:a16="http://schemas.microsoft.com/office/drawing/2014/main" id="{24C5FE9A-D7A6-4418-90A4-3FE92E3DC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194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1684B"/>
                </a:solidFill>
                <a:latin typeface="Arial"/>
                <a:ea typeface="Arial"/>
                <a:cs typeface="Arial"/>
              </a:rPr>
              <a:t>EMPLOYEE CLIENT</a:t>
            </a:r>
          </a:p>
        </p:txBody>
      </p:sp>
      <p:sp>
        <p:nvSpPr>
          <p:cNvPr id="10" name="EMPLOYEE CLIENT-body">
            <a:extLst xmlns:a="http://schemas.openxmlformats.org/drawingml/2006/main">
              <a:ext uri="{FF2B5EF4-FFF2-40B4-BE49-F238E27FC236}">
                <a16:creationId xmlns:a16="http://schemas.microsoft.com/office/drawing/2014/main" id="{58CAB90E-461A-4036-9E9D-48C5A0CCB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71850"/>
            <a:ext cx="2476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Codex / Claude Code</a:t>
            </a:r>
          </a:p>
          <a:p xmlns:a="http://schemas.openxmlformats.org/drawingml/2006/main">
            <a:pPr>
              <a:defRPr sz="18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Unique Hormuz identity</a:t>
            </a:r>
          </a:p>
        </p:txBody>
      </p:sp>
      <p:sp>
        <p:nvSpPr>
          <p:cNvPr id="11" name="HORMUZ">
            <a:extLst xmlns:a="http://schemas.openxmlformats.org/drawingml/2006/main">
              <a:ext uri="{FF2B5EF4-FFF2-40B4-BE49-F238E27FC236}">
                <a16:creationId xmlns:a16="http://schemas.microsoft.com/office/drawing/2014/main" id="{828DBEAD-6D72-464C-B749-6E7DDB574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600325"/>
            <a:ext cx="32385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6"/>
          </a:solidFill>
          <a:ln xmlns:a="http://schemas.openxmlformats.org/drawingml/2006/main" w="9525">
            <a:solidFill>
              <a:srgbClr val="D4DBCC"/>
            </a:solidFill>
            <a:prstDash val="solid"/>
          </a:ln>
        </p:spPr>
      </p:sp>
      <p:sp>
        <p:nvSpPr>
          <p:cNvPr id="12" name="HORMUZ-title">
            <a:extLst xmlns:a="http://schemas.openxmlformats.org/drawingml/2006/main">
              <a:ext uri="{FF2B5EF4-FFF2-40B4-BE49-F238E27FC236}">
                <a16:creationId xmlns:a16="http://schemas.microsoft.com/office/drawing/2014/main" id="{D752113F-1B7D-4AAE-8471-6A53AC0DE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8194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1684B"/>
                </a:solidFill>
                <a:latin typeface="Arial"/>
                <a:ea typeface="Arial"/>
                <a:cs typeface="Arial"/>
              </a:rPr>
              <a:t>HORMUZ</a:t>
            </a:r>
          </a:p>
        </p:txBody>
      </p:sp>
      <p:sp>
        <p:nvSpPr>
          <p:cNvPr id="13" name="HORMUZ-body">
            <a:extLst xmlns:a="http://schemas.openxmlformats.org/drawingml/2006/main">
              <a:ext uri="{FF2B5EF4-FFF2-40B4-BE49-F238E27FC236}">
                <a16:creationId xmlns:a16="http://schemas.microsoft.com/office/drawing/2014/main" id="{C7AB1D7F-DF30-409B-AA78-09085E918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371850"/>
            <a:ext cx="285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Identity + policy + secrets</a:t>
            </a:r>
          </a:p>
          <a:p xmlns:a="http://schemas.openxmlformats.org/drawingml/2006/main">
            <a:pPr>
              <a:defRPr sz="18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Budget before egress</a:t>
            </a:r>
          </a:p>
        </p:txBody>
      </p:sp>
      <p:sp>
        <p:nvSpPr>
          <p:cNvPr id="14" name="MODEL PROVIDER">
            <a:extLst xmlns:a="http://schemas.openxmlformats.org/drawingml/2006/main">
              <a:ext uri="{FF2B5EF4-FFF2-40B4-BE49-F238E27FC236}">
                <a16:creationId xmlns:a16="http://schemas.microsoft.com/office/drawing/2014/main" id="{89EDE08D-1394-4A29-B4CD-3C4721DDA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600325"/>
            <a:ext cx="30861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6"/>
          </a:solidFill>
          <a:ln xmlns:a="http://schemas.openxmlformats.org/drawingml/2006/main" w="9525">
            <a:solidFill>
              <a:srgbClr val="D4DBCC"/>
            </a:solidFill>
            <a:prstDash val="solid"/>
          </a:ln>
        </p:spPr>
      </p:sp>
      <p:sp>
        <p:nvSpPr>
          <p:cNvPr id="15" name="MODEL PROVIDER-title">
            <a:extLst xmlns:a="http://schemas.openxmlformats.org/drawingml/2006/main">
              <a:ext uri="{FF2B5EF4-FFF2-40B4-BE49-F238E27FC236}">
                <a16:creationId xmlns:a16="http://schemas.microsoft.com/office/drawing/2014/main" id="{AE9710AE-AF92-4523-A8C1-19236DB58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819400"/>
            <a:ext cx="270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1684B"/>
                </a:solidFill>
                <a:latin typeface="Arial"/>
                <a:ea typeface="Arial"/>
                <a:cs typeface="Arial"/>
              </a:rPr>
              <a:t>MODEL PROVIDER</a:t>
            </a:r>
          </a:p>
        </p:txBody>
      </p:sp>
      <p:sp>
        <p:nvSpPr>
          <p:cNvPr id="16" name="MODEL PROVIDER-body">
            <a:extLst xmlns:a="http://schemas.openxmlformats.org/drawingml/2006/main">
              <a:ext uri="{FF2B5EF4-FFF2-40B4-BE49-F238E27FC236}">
                <a16:creationId xmlns:a16="http://schemas.microsoft.com/office/drawing/2014/main" id="{53360DC0-153C-41ED-B8C4-B6651A5C9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371850"/>
            <a:ext cx="27051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Company account</a:t>
            </a:r>
          </a:p>
          <a:p xmlns:a="http://schemas.openxmlformats.org/drawingml/2006/main">
            <a:pPr>
              <a:defRPr sz="18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Server-side provider key</a:t>
            </a:r>
          </a:p>
        </p:txBody>
      </p:sp>
      <p:sp>
        <p:nvSpPr>
          <p:cNvPr id="17" name="metadata">
            <a:extLst xmlns:a="http://schemas.openxmlformats.org/drawingml/2006/main">
              <a:ext uri="{FF2B5EF4-FFF2-40B4-BE49-F238E27FC236}">
                <a16:creationId xmlns:a16="http://schemas.microsoft.com/office/drawing/2014/main" id="{2F0B9E83-1F0C-4FD9-BCFE-F6B12C9FD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76800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02723"/>
                </a:solidFill>
                <a:latin typeface="Arial"/>
                <a:ea typeface="Arial"/>
                <a:cs typeface="Arial"/>
              </a:rPr>
              <a:t>Retain the control record, not the conversation.</a:t>
            </a:r>
          </a:p>
        </p:txBody>
      </p:sp>
      <p:sp>
        <p:nvSpPr>
          <p:cNvPr id="18" name="boundary">
            <a:extLst xmlns:a="http://schemas.openxmlformats.org/drawingml/2006/main">
              <a:ext uri="{FF2B5EF4-FFF2-40B4-BE49-F238E27FC236}">
                <a16:creationId xmlns:a16="http://schemas.microsoft.com/office/drawing/2014/main" id="{35616240-55FA-4CCA-85F3-3D57B2734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C675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C6758"/>
                </a:solidFill>
                <a:latin typeface="Arial"/>
                <a:ea typeface="Arial"/>
                <a:cs typeface="Arial"/>
              </a:rPr>
              <a:t>Allowed content still reaches the provider. Bypassed requests and client-side shell, MCP, Git, or browser activity are outside Hormuz’s coverage.</a:t>
            </a:r>
          </a:p>
        </p:txBody>
      </p:sp>
    </p:spTree>
    <p:extLst>
      <p:ext uri="{BB962C8B-B14F-4D97-AF65-F5344CB8AC3E}">
        <p14:creationId xmlns:p14="http://schemas.microsoft.com/office/powerpoint/2010/main" val="94135867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24392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4a670779b64bc0">
            <a:extLst>
              <a:ext uri="{96DAC541-7B7A-43D3-8B79-37D633B846F1}">
                <asvg:svgBlip xmlns:asvg="http://schemas.microsoft.com/office/drawing/2016/SVG/main" r:embed="Re88ab682a941494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201400" y="333375"/>
            <a:ext cx="381000" cy="381000"/>
          </a:xfrm>
          <a:prstGeom xmlns:a="http://schemas.openxmlformats.org/drawingml/2006/main" prst="rect">
            <a:avLst/>
          </a:prstGeom>
        </p:spPr>
      </p:pic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F8677E93-11AF-42C4-90D1-971C39B2F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DCEDA6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DCEDA6"/>
                </a:solidFill>
                <a:latin typeface="Arial"/>
                <a:ea typeface="Arial"/>
                <a:cs typeface="Arial"/>
              </a:rPr>
              <a:t>INSPECT THE PROOF</a:t>
            </a:r>
          </a:p>
        </p:txBody>
      </p:sp>
      <p:sp>
        <p:nvSpPr>
          <p:cNvPr id="3" name="takeaway">
            <a:extLst xmlns:a="http://schemas.openxmlformats.org/drawingml/2006/main">
              <a:ext uri="{FF2B5EF4-FFF2-40B4-BE49-F238E27FC236}">
                <a16:creationId xmlns:a16="http://schemas.microsoft.com/office/drawing/2014/main" id="{F81E9F06-59DB-4BEF-B113-2931BA5CA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9650"/>
            <a:ext cx="109728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FAFBF6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AFBF6"/>
                </a:solidFill>
                <a:latin typeface="Arial"/>
                <a:ea typeface="Arial"/>
                <a:cs typeface="Arial"/>
              </a:rPr>
              <a:t>A real demo. Synthetic inputs.</a:t>
            </a:r>
          </a:p>
        </p:txBody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E532B85B-2D71-4A92-99FB-30BEB78B8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DCE6D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DCE6D5"/>
                </a:solidFill>
                <a:latin typeface="Arial"/>
                <a:ea typeface="Arial"/>
                <a:cs typeface="Arial"/>
              </a:rPr>
              <a:t>HORMUZ  /  A product of Neuralint  /  Mehrdad Zaker  /  September 2026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7BD08B3-8BB0-424C-BAA6-D813C7ED8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400800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DCE6D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DCE6D5"/>
                </a:solidFill>
                <a:latin typeface="Arial"/>
                <a:ea typeface="Arial"/>
                <a:cs typeface="Arial"/>
              </a:rPr>
              <a:t>03 / 07</a:t>
            </a:r>
          </a:p>
        </p:txBody>
      </p:sp>
      <p:sp>
        <p:nvSpPr>
          <p:cNvPr id="6" name="zero">
            <a:extLst xmlns:a="http://schemas.openxmlformats.org/drawingml/2006/main">
              <a:ext uri="{FF2B5EF4-FFF2-40B4-BE49-F238E27FC236}">
                <a16:creationId xmlns:a16="http://schemas.microsoft.com/office/drawing/2014/main" id="{F0B8DDD3-6EB3-4280-AC64-C3DA35A7A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209550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0500" b="1">
                <a:solidFill>
                  <a:srgbClr val="DCEDA6"/>
                </a:solidFill>
                <a:latin typeface="Arial"/>
                <a:ea typeface="Arial"/>
                <a:cs typeface="Arial"/>
              </a:defRPr>
            </a:pPr>
            <a:r>
              <a:rPr sz="10500" b="1">
                <a:solidFill>
                  <a:srgbClr val="DCEDA6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7" name="zero-label">
            <a:extLst xmlns:a="http://schemas.openxmlformats.org/drawingml/2006/main">
              <a:ext uri="{FF2B5EF4-FFF2-40B4-BE49-F238E27FC236}">
                <a16:creationId xmlns:a16="http://schemas.microsoft.com/office/drawing/2014/main" id="{E70CA0E1-E38A-4397-88C3-507DF01FC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342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AFBF6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AFBF6"/>
                </a:solidFill>
                <a:latin typeface="Arial"/>
                <a:ea typeface="Arial"/>
                <a:cs typeface="Arial"/>
              </a:rPr>
              <a:t>external provider calls</a:t>
            </a:r>
          </a:p>
        </p:txBody>
      </p:sp>
      <p:sp>
        <p:nvSpPr>
          <p:cNvPr id="8" name="checks">
            <a:extLst xmlns:a="http://schemas.openxmlformats.org/drawingml/2006/main">
              <a:ext uri="{FF2B5EF4-FFF2-40B4-BE49-F238E27FC236}">
                <a16:creationId xmlns:a16="http://schemas.microsoft.com/office/drawing/2014/main" id="{0F7F5B02-6D21-4937-91B7-8D67061EE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533650"/>
            <a:ext cx="6705600" cy="240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FAFBF6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AFBF6"/>
                </a:solidFill>
                <a:latin typeface="Arial"/>
                <a:ea typeface="Arial"/>
                <a:cs typeface="Arial"/>
              </a:rPr>
              <a:t>Allow an approved request</a:t>
            </a:r>
          </a:p>
          <a:p xmlns:a="http://schemas.openxmlformats.org/drawingml/2006/main">
            <a:pPr>
              <a:defRPr sz="2325" b="0">
                <a:solidFill>
                  <a:srgbClr val="FAFBF6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AFBF6"/>
                </a:solidFill>
                <a:latin typeface="Arial"/>
                <a:ea typeface="Arial"/>
                <a:cs typeface="Arial"/>
              </a:rPr>
              <a:t>Reroute and cap an unapproved model</a:t>
            </a:r>
          </a:p>
          <a:p xmlns:a="http://schemas.openxmlformats.org/drawingml/2006/main">
            <a:pPr>
              <a:defRPr sz="2325" b="0">
                <a:solidFill>
                  <a:srgbClr val="FAFBF6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AFBF6"/>
                </a:solidFill>
                <a:latin typeface="Arial"/>
                <a:ea typeface="Arial"/>
                <a:cs typeface="Arial"/>
              </a:rPr>
              <a:t>Redact a detected secret before egress</a:t>
            </a:r>
          </a:p>
          <a:p xmlns:a="http://schemas.openxmlformats.org/drawingml/2006/main">
            <a:pPr>
              <a:defRPr sz="2325" b="0">
                <a:solidFill>
                  <a:srgbClr val="FAFBF6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AFBF6"/>
                </a:solidFill>
                <a:latin typeface="Arial"/>
                <a:ea typeface="Arial"/>
                <a:cs typeface="Arial"/>
              </a:rPr>
              <a:t>Deny without an upstream call</a:t>
            </a:r>
          </a:p>
        </p:txBody>
      </p:sp>
      <p:sp>
        <p:nvSpPr>
          <p:cNvPr id="9" name="proof-boundary">
            <a:extLst xmlns:a="http://schemas.openxmlformats.org/drawingml/2006/main">
              <a:ext uri="{FF2B5EF4-FFF2-40B4-BE49-F238E27FC236}">
                <a16:creationId xmlns:a16="http://schemas.microsoft.com/office/drawing/2014/main" id="{FA06732F-1C0D-4DF4-B92E-CA60D4B14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6732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D9E1D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D9E1DF"/>
                </a:solidFill>
                <a:latin typeface="Arial"/>
                <a:ea typeface="Arial"/>
                <a:cs typeface="Arial"/>
              </a:rPr>
              <a:t>Four usage events + one secret-control event. Download the real recording and a schema-checked synthetic export. Not a benchmark, customer case study, or independent-user result.</a:t>
            </a:r>
          </a:p>
        </p:txBody>
      </p:sp>
    </p:spTree>
    <p:extLst>
      <p:ext uri="{BB962C8B-B14F-4D97-AF65-F5344CB8AC3E}">
        <p14:creationId xmlns:p14="http://schemas.microsoft.com/office/powerpoint/2010/main" val="98843384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f7239f82ca4ad4">
            <a:extLst>
              <a:ext uri="{96DAC541-7B7A-43D3-8B79-37D633B846F1}">
                <asvg:svgBlip xmlns:asvg="http://schemas.microsoft.com/office/drawing/2016/SVG/main" r:embed="Ra562799fe926472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201400" y="333375"/>
            <a:ext cx="381000" cy="381000"/>
          </a:xfrm>
          <a:prstGeom xmlns:a="http://schemas.openxmlformats.org/drawingml/2006/main" prst="rect">
            <a:avLst/>
          </a:prstGeom>
        </p:spPr>
      </p:pic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28A3C433-A600-462C-9516-54E883ACF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1684B"/>
                </a:solidFill>
                <a:latin typeface="Arial"/>
                <a:ea typeface="Arial"/>
                <a:cs typeface="Arial"/>
              </a:rPr>
              <a:t>WHAT IS FREE. WHAT IS PAID.</a:t>
            </a:r>
          </a:p>
        </p:txBody>
      </p:sp>
      <p:sp>
        <p:nvSpPr>
          <p:cNvPr id="3" name="takeaway">
            <a:extLst xmlns:a="http://schemas.openxmlformats.org/drawingml/2006/main">
              <a:ext uri="{FF2B5EF4-FFF2-40B4-BE49-F238E27FC236}">
                <a16:creationId xmlns:a16="http://schemas.microsoft.com/office/drawing/2014/main" id="{0332C878-26E5-4503-BDF9-60DBC0F24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9650"/>
            <a:ext cx="109728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202723"/>
                </a:solidFill>
                <a:latin typeface="Arial"/>
                <a:ea typeface="Arial"/>
                <a:cs typeface="Arial"/>
              </a:rPr>
              <a:t>Keep a useful core open source.</a:t>
            </a:r>
          </a:p>
        </p:txBody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34A6678F-E2EA-4D6A-AA80-D46BE7DE3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C675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C6758"/>
                </a:solidFill>
                <a:latin typeface="Arial"/>
                <a:ea typeface="Arial"/>
                <a:cs typeface="Arial"/>
              </a:rPr>
              <a:t>HORMUZ  /  A product of Neuralint  /  Mehrdad Zaker  /  September 2026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C64FE29-EA6C-47A8-A19E-BE4D7ED73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400800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C675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C6758"/>
                </a:solidFill>
                <a:latin typeface="Arial"/>
                <a:ea typeface="Arial"/>
                <a:cs typeface="Arial"/>
              </a:rPr>
              <a:t>04 / 07</a:t>
            </a:r>
          </a:p>
        </p:txBody>
      </p:sp>
      <p:sp>
        <p:nvSpPr>
          <p:cNvPr id="6" name="oss-title">
            <a:extLst xmlns:a="http://schemas.openxmlformats.org/drawingml/2006/main">
              <a:ext uri="{FF2B5EF4-FFF2-40B4-BE49-F238E27FC236}">
                <a16:creationId xmlns:a16="http://schemas.microsoft.com/office/drawing/2014/main" id="{DEBC22E6-9FD1-4EA9-9324-4C19CDAB8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4895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31684B"/>
                </a:solidFill>
                <a:latin typeface="Arial"/>
                <a:ea typeface="Arial"/>
                <a:cs typeface="Arial"/>
              </a:rPr>
              <a:t>Apache-2.0 product</a:t>
            </a:r>
          </a:p>
        </p:txBody>
      </p:sp>
      <p:sp>
        <p:nvSpPr>
          <p:cNvPr id="7" name="oss-body">
            <a:extLst xmlns:a="http://schemas.openxmlformats.org/drawingml/2006/main">
              <a:ext uri="{FF2B5EF4-FFF2-40B4-BE49-F238E27FC236}">
                <a16:creationId xmlns:a16="http://schemas.microsoft.com/office/drawing/2014/main" id="{73380E0E-10C0-4E4D-B9E4-07EA2FC85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09925"/>
            <a:ext cx="4914900" cy="213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Gateway and client paths</a:t>
            </a:r>
          </a:p>
          <a:p xmlns:a="http://schemas.openxmlformats.org/drawingml/2006/main">
            <a:pPr>
              <a:defRPr sz="21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OIDC JWT verification</a:t>
            </a:r>
          </a:p>
          <a:p xmlns:a="http://schemas.openxmlformats.org/drawingml/2006/main">
            <a:pPr>
              <a:defRPr sz="21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Policy overlays and budgets</a:t>
            </a:r>
          </a:p>
          <a:p xmlns:a="http://schemas.openxmlformats.org/drawingml/2006/main">
            <a:pPr>
              <a:defRPr sz="21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Deterministic secret controls</a:t>
            </a:r>
          </a:p>
          <a:p xmlns:a="http://schemas.openxmlformats.org/drawingml/2006/main">
            <a:pPr>
              <a:defRPr sz="21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Usage reports and evidence</a:t>
            </a:r>
          </a:p>
        </p:txBody>
      </p:sp>
      <p:sp>
        <p:nvSpPr>
          <p:cNvPr id="8" name="paid-title">
            <a:extLst xmlns:a="http://schemas.openxmlformats.org/drawingml/2006/main">
              <a:ext uri="{FF2B5EF4-FFF2-40B4-BE49-F238E27FC236}">
                <a16:creationId xmlns:a16="http://schemas.microsoft.com/office/drawing/2014/main" id="{5A7C70DB-B076-4687-93A0-2C2654232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552700"/>
            <a:ext cx="5067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31684B"/>
                </a:solidFill>
                <a:latin typeface="Arial"/>
                <a:ea typeface="Arial"/>
                <a:cs typeface="Arial"/>
              </a:rPr>
              <a:t>90-day pilot · $15,000</a:t>
            </a:r>
          </a:p>
        </p:txBody>
      </p:sp>
      <p:sp>
        <p:nvSpPr>
          <p:cNvPr id="9" name="paid-body">
            <a:extLst xmlns:a="http://schemas.openxmlformats.org/drawingml/2006/main">
              <a:ext uri="{FF2B5EF4-FFF2-40B4-BE49-F238E27FC236}">
                <a16:creationId xmlns:a16="http://schemas.microsoft.com/office/drawing/2014/main" id="{46D5E578-194E-4779-AD67-B50F57181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209925"/>
            <a:ext cx="5067300" cy="213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Workflow and control mapping</a:t>
            </a:r>
          </a:p>
          <a:p xmlns:a="http://schemas.openxmlformats.org/drawingml/2006/main">
            <a:pPr>
              <a:defRPr sz="21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Configuration and integration help</a:t>
            </a:r>
          </a:p>
          <a:p xmlns:a="http://schemas.openxmlformats.org/drawingml/2006/main">
            <a:pPr>
              <a:defRPr sz="21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Agreed non-production checks</a:t>
            </a:r>
          </a:p>
          <a:p xmlns:a="http://schemas.openxmlformats.org/drawingml/2006/main">
            <a:pPr>
              <a:defRPr sz="21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Evidence pack and gap review</a:t>
            </a:r>
          </a:p>
          <a:p xmlns:a="http://schemas.openxmlformats.org/drawingml/2006/main">
            <a:pPr>
              <a:defRPr sz="21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Operator handoff</a:t>
            </a:r>
          </a:p>
        </p:txBody>
      </p:sp>
      <p:sp>
        <p:nvSpPr>
          <p:cNvPr id="10" name="same-core">
            <a:extLst xmlns:a="http://schemas.openxmlformats.org/drawingml/2006/main">
              <a:ext uri="{FF2B5EF4-FFF2-40B4-BE49-F238E27FC236}">
                <a16:creationId xmlns:a16="http://schemas.microsoft.com/office/drawing/2014/main" id="{0C699C64-37CF-407F-895E-160B284F7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0070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C6758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C6758"/>
                </a:solidFill>
                <a:latin typeface="Arial"/>
                <a:ea typeface="Arial"/>
                <a:cs typeface="Arial"/>
              </a:rPr>
              <a:t>USD · one team, one workflow. Optional support from $2,000/month. Provider usage, infrastructure, and applicable taxes are additional.</a:t>
            </a:r>
          </a:p>
        </p:txBody>
      </p:sp>
    </p:spTree>
    <p:extLst>
      <p:ext uri="{BB962C8B-B14F-4D97-AF65-F5344CB8AC3E}">
        <p14:creationId xmlns:p14="http://schemas.microsoft.com/office/powerpoint/2010/main" val="76556783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cd6281265a4a59">
            <a:extLst>
              <a:ext uri="{96DAC541-7B7A-43D3-8B79-37D633B846F1}">
                <asvg:svgBlip xmlns:asvg="http://schemas.microsoft.com/office/drawing/2016/SVG/main" r:embed="R5c20ed34cbbc4d0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201400" y="333375"/>
            <a:ext cx="381000" cy="381000"/>
          </a:xfrm>
          <a:prstGeom xmlns:a="http://schemas.openxmlformats.org/drawingml/2006/main" prst="rect">
            <a:avLst/>
          </a:prstGeom>
        </p:spPr>
      </p:pic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DDB3BF24-1935-4E13-BBD0-374D852A6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1684B"/>
                </a:solidFill>
                <a:latin typeface="Arial"/>
                <a:ea typeface="Arial"/>
                <a:cs typeface="Arial"/>
              </a:rPr>
              <a:t>MATURITY AND RESPONSIBILITY</a:t>
            </a:r>
          </a:p>
        </p:txBody>
      </p:sp>
      <p:sp>
        <p:nvSpPr>
          <p:cNvPr id="3" name="takeaway">
            <a:extLst xmlns:a="http://schemas.openxmlformats.org/drawingml/2006/main">
              <a:ext uri="{FF2B5EF4-FFF2-40B4-BE49-F238E27FC236}">
                <a16:creationId xmlns:a16="http://schemas.microsoft.com/office/drawing/2014/main" id="{8FA73E07-AE73-4FE8-B314-04CBBEBB8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9650"/>
            <a:ext cx="109728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202723"/>
                </a:solidFill>
                <a:latin typeface="Arial"/>
                <a:ea typeface="Arial"/>
                <a:cs typeface="Arial"/>
              </a:rPr>
              <a:t>Stable contracts are not certification.</a:t>
            </a:r>
          </a:p>
        </p:txBody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809CAB2F-47B7-463E-AAC3-A9BA2A0C5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C675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C6758"/>
                </a:solidFill>
                <a:latin typeface="Arial"/>
                <a:ea typeface="Arial"/>
                <a:cs typeface="Arial"/>
              </a:rPr>
              <a:t>HORMUZ  /  A product of Neuralint  /  Mehrdad Zaker  /  September 2026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93F1CF3-AA26-419D-B613-11F80EF80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400800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C675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C6758"/>
                </a:solidFill>
                <a:latin typeface="Arial"/>
                <a:ea typeface="Arial"/>
                <a:cs typeface="Arial"/>
              </a:rPr>
              <a:t>05 / 07</a:t>
            </a:r>
          </a:p>
        </p:txBody>
      </p:sp>
      <p:sp>
        <p:nvSpPr>
          <p:cNvPr id="6" name="release">
            <a:extLst xmlns:a="http://schemas.openxmlformats.org/drawingml/2006/main">
              <a:ext uri="{FF2B5EF4-FFF2-40B4-BE49-F238E27FC236}">
                <a16:creationId xmlns:a16="http://schemas.microsoft.com/office/drawing/2014/main" id="{D63E1231-E3F4-4FB5-8965-F987095A3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31684B"/>
                </a:solidFill>
                <a:latin typeface="Arial"/>
                <a:ea typeface="Arial"/>
                <a:cs typeface="Arial"/>
              </a:rPr>
              <a:t>v1.0.0 source contracts</a:t>
            </a:r>
          </a:p>
        </p:txBody>
      </p:sp>
      <p:sp>
        <p:nvSpPr>
          <p:cNvPr id="7" name="oci">
            <a:extLst xmlns:a="http://schemas.openxmlformats.org/drawingml/2006/main">
              <a:ext uri="{FF2B5EF4-FFF2-40B4-BE49-F238E27FC236}">
                <a16:creationId xmlns:a16="http://schemas.microsoft.com/office/drawing/2014/main" id="{9D7DF6A6-F27C-4E3D-9871-5D4937456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956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Signed OCI v0.1.3 linux/amd64 is a separate reference stream.</a:t>
            </a:r>
          </a:p>
        </p:txBody>
      </p:sp>
      <p:sp>
        <p:nvSpPr>
          <p:cNvPr id="8" name="operators">
            <a:extLst xmlns:a="http://schemas.openxmlformats.org/drawingml/2006/main">
              <a:ext uri="{FF2B5EF4-FFF2-40B4-BE49-F238E27FC236}">
                <a16:creationId xmlns:a16="http://schemas.microsoft.com/office/drawing/2014/main" id="{3C789051-5BF2-404E-A3A9-2C3521F83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109728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02723"/>
                </a:solidFill>
                <a:latin typeface="Arial"/>
                <a:ea typeface="Arial"/>
                <a:cs typeface="Arial"/>
              </a:rPr>
              <a:t>You still qualify TLS, custody, retention, backups, recovery, availability, access controls, and independent security review in your environment.</a:t>
            </a:r>
          </a:p>
        </p:txBody>
      </p:sp>
      <p:sp>
        <p:nvSpPr>
          <p:cNvPr id="9" name="nonclaims">
            <a:extLst xmlns:a="http://schemas.openxmlformats.org/drawingml/2006/main">
              <a:ext uri="{FF2B5EF4-FFF2-40B4-BE49-F238E27FC236}">
                <a16:creationId xmlns:a16="http://schemas.microsoft.com/office/drawing/2014/main" id="{5A28C66B-751A-4F47-BDBF-C55CDD6B1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9725"/>
            <a:ext cx="1097280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C675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C6758"/>
                </a:solidFill>
                <a:latin typeface="Arial"/>
                <a:ea typeface="Arial"/>
                <a:cs typeface="Arial"/>
              </a:rPr>
              <a:t>Not claimed: native Hormuz login/refresh sessions, complete semantic DLP, per-inference human approval, reconciled provider invoices, managed SaaS, or a 24/7 SLA.</a:t>
            </a:r>
          </a:p>
        </p:txBody>
      </p:sp>
    </p:spTree>
    <p:extLst>
      <p:ext uri="{BB962C8B-B14F-4D97-AF65-F5344CB8AC3E}">
        <p14:creationId xmlns:p14="http://schemas.microsoft.com/office/powerpoint/2010/main" val="122123257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fd5982f2ef4904">
            <a:extLst>
              <a:ext uri="{96DAC541-7B7A-43D3-8B79-37D633B846F1}">
                <asvg:svgBlip xmlns:asvg="http://schemas.microsoft.com/office/drawing/2016/SVG/main" r:embed="R6417a8acd26143e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201400" y="333375"/>
            <a:ext cx="381000" cy="381000"/>
          </a:xfrm>
          <a:prstGeom xmlns:a="http://schemas.openxmlformats.org/drawingml/2006/main" prst="rect">
            <a:avLst/>
          </a:prstGeom>
        </p:spPr>
      </p:pic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CA25D972-AAB3-4FF1-82CE-C04E2EF6F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1684B"/>
                </a:solidFill>
                <a:latin typeface="Arial"/>
                <a:ea typeface="Arial"/>
                <a:cs typeface="Arial"/>
              </a:rPr>
              <a:t>PROPOSED 90-DAY PILOT</a:t>
            </a:r>
          </a:p>
        </p:txBody>
      </p:sp>
      <p:sp>
        <p:nvSpPr>
          <p:cNvPr id="3" name="takeaway">
            <a:extLst xmlns:a="http://schemas.openxmlformats.org/drawingml/2006/main">
              <a:ext uri="{FF2B5EF4-FFF2-40B4-BE49-F238E27FC236}">
                <a16:creationId xmlns:a16="http://schemas.microsoft.com/office/drawing/2014/main" id="{E2E80C74-735F-4254-9CFA-0D26FC980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9650"/>
            <a:ext cx="109728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202723"/>
                </a:solidFill>
                <a:latin typeface="Arial"/>
                <a:ea typeface="Arial"/>
                <a:cs typeface="Arial"/>
              </a:rPr>
              <a:t>Prove one workflow before expanding.</a:t>
            </a:r>
          </a:p>
        </p:txBody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B17A0690-9760-465A-8070-CB47CE4EC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C675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C6758"/>
                </a:solidFill>
                <a:latin typeface="Arial"/>
                <a:ea typeface="Arial"/>
                <a:cs typeface="Arial"/>
              </a:rPr>
              <a:t>HORMUZ  /  A product of Neuralint  /  Mehrdad Zaker  /  September 2026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21A023B-3E44-4580-B64A-AAAAA3325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400800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C675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C6758"/>
                </a:solidFill>
                <a:latin typeface="Arial"/>
                <a:ea typeface="Arial"/>
                <a:cs typeface="Arial"/>
              </a:rPr>
              <a:t>06 / 07</a:t>
            </a:r>
          </a:p>
        </p:txBody>
      </p:sp>
      <p:sp>
        <p:nvSpPr>
          <p:cNvPr id="6" name="phase-01">
            <a:extLst xmlns:a="http://schemas.openxmlformats.org/drawingml/2006/main">
              <a:ext uri="{FF2B5EF4-FFF2-40B4-BE49-F238E27FC236}">
                <a16:creationId xmlns:a16="http://schemas.microsoft.com/office/drawing/2014/main" id="{D79D1F30-E5EF-40B4-9E3C-8A0E0FB36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43175"/>
            <a:ext cx="99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31684B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phase-title-01">
            <a:extLst xmlns:a="http://schemas.openxmlformats.org/drawingml/2006/main">
              <a:ext uri="{FF2B5EF4-FFF2-40B4-BE49-F238E27FC236}">
                <a16:creationId xmlns:a16="http://schemas.microsoft.com/office/drawing/2014/main" id="{B3B42111-1983-4069-911B-675583368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543175"/>
            <a:ext cx="9639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02723"/>
                </a:solidFill>
                <a:latin typeface="Arial"/>
                <a:ea typeface="Arial"/>
                <a:cs typeface="Arial"/>
              </a:rPr>
              <a:t>Days 1–15 / Map</a:t>
            </a:r>
          </a:p>
        </p:txBody>
      </p:sp>
      <p:sp>
        <p:nvSpPr>
          <p:cNvPr id="8" name="phase-body-01">
            <a:extLst xmlns:a="http://schemas.openxmlformats.org/drawingml/2006/main">
              <a:ext uri="{FF2B5EF4-FFF2-40B4-BE49-F238E27FC236}">
                <a16:creationId xmlns:a16="http://schemas.microsoft.com/office/drawing/2014/main" id="{A47D3804-4A1D-4F6A-B6E4-47D290120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3019425"/>
            <a:ext cx="96393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Control map, prerequisites, and agreed acceptance criteria.</a:t>
            </a:r>
          </a:p>
        </p:txBody>
      </p:sp>
      <p:sp>
        <p:nvSpPr>
          <p:cNvPr id="9" name="phase-02">
            <a:extLst xmlns:a="http://schemas.openxmlformats.org/drawingml/2006/main">
              <a:ext uri="{FF2B5EF4-FFF2-40B4-BE49-F238E27FC236}">
                <a16:creationId xmlns:a16="http://schemas.microsoft.com/office/drawing/2014/main" id="{FB9A25B2-A18A-4F40-B7BF-1EDCC4158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9975"/>
            <a:ext cx="99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31684B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0" name="phase-title-02">
            <a:extLst xmlns:a="http://schemas.openxmlformats.org/drawingml/2006/main">
              <a:ext uri="{FF2B5EF4-FFF2-40B4-BE49-F238E27FC236}">
                <a16:creationId xmlns:a16="http://schemas.microsoft.com/office/drawing/2014/main" id="{9AFC6487-F1DA-4507-A0EF-D17BD5782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3609975"/>
            <a:ext cx="9639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02723"/>
                </a:solidFill>
                <a:latin typeface="Arial"/>
                <a:ea typeface="Arial"/>
                <a:cs typeface="Arial"/>
              </a:rPr>
              <a:t>Days 16–45 / Prove</a:t>
            </a:r>
          </a:p>
        </p:txBody>
      </p:sp>
      <p:sp>
        <p:nvSpPr>
          <p:cNvPr id="11" name="phase-body-02">
            <a:extLst xmlns:a="http://schemas.openxmlformats.org/drawingml/2006/main">
              <a:ext uri="{FF2B5EF4-FFF2-40B4-BE49-F238E27FC236}">
                <a16:creationId xmlns:a16="http://schemas.microsoft.com/office/drawing/2014/main" id="{0C658C4D-3197-42D5-9C99-C89866EF6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086225"/>
            <a:ext cx="96393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One non-production integration, evidence pack, and issue log.</a:t>
            </a:r>
          </a:p>
        </p:txBody>
      </p:sp>
      <p:sp>
        <p:nvSpPr>
          <p:cNvPr id="12" name="phase-03">
            <a:extLst xmlns:a="http://schemas.openxmlformats.org/drawingml/2006/main">
              <a:ext uri="{FF2B5EF4-FFF2-40B4-BE49-F238E27FC236}">
                <a16:creationId xmlns:a16="http://schemas.microsoft.com/office/drawing/2014/main" id="{0062D162-C430-45F8-A72E-9B5A3F470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76775"/>
            <a:ext cx="99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31684B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31684B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3" name="phase-title-03">
            <a:extLst xmlns:a="http://schemas.openxmlformats.org/drawingml/2006/main">
              <a:ext uri="{FF2B5EF4-FFF2-40B4-BE49-F238E27FC236}">
                <a16:creationId xmlns:a16="http://schemas.microsoft.com/office/drawing/2014/main" id="{F2504E70-A106-4336-A677-EF1192427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676775"/>
            <a:ext cx="9639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02723"/>
                </a:solidFill>
                <a:latin typeface="Arial"/>
                <a:ea typeface="Arial"/>
                <a:cs typeface="Arial"/>
              </a:rPr>
              <a:t>Days 46–90 / Decide</a:t>
            </a:r>
          </a:p>
        </p:txBody>
      </p:sp>
      <p:sp>
        <p:nvSpPr>
          <p:cNvPr id="14" name="phase-body-03">
            <a:extLst xmlns:a="http://schemas.openxmlformats.org/drawingml/2006/main">
              <a:ext uri="{FF2B5EF4-FFF2-40B4-BE49-F238E27FC236}">
                <a16:creationId xmlns:a16="http://schemas.microsoft.com/office/drawing/2014/main" id="{1110FD3C-D302-418F-A254-62D8AE008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153025"/>
            <a:ext cx="96393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20272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02723"/>
                </a:solidFill>
                <a:latin typeface="Arial"/>
                <a:ea typeface="Arial"/>
                <a:cs typeface="Arial"/>
              </a:rPr>
              <a:t>Go/no-go decision, named gap owners, and operator handoff.</a:t>
            </a:r>
          </a:p>
        </p:txBody>
      </p:sp>
      <p:sp>
        <p:nvSpPr>
          <p:cNvPr id="15" name="pilot-boundary">
            <a:extLst xmlns:a="http://schemas.openxmlformats.org/drawingml/2006/main">
              <a:ext uri="{FF2B5EF4-FFF2-40B4-BE49-F238E27FC236}">
                <a16:creationId xmlns:a16="http://schemas.microsoft.com/office/drawing/2014/main" id="{63356C82-E1D3-4A1F-B74A-F48438660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C675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C6758"/>
                </a:solidFill>
                <a:latin typeface="Arial"/>
                <a:ea typeface="Arial"/>
                <a:cs typeface="Arial"/>
              </a:rPr>
              <a:t>Start with fit and scope. A shorter evaluation may come first. No work is confirmed by an inquiry.</a:t>
            </a:r>
          </a:p>
        </p:txBody>
      </p:sp>
    </p:spTree>
    <p:extLst>
      <p:ext uri="{BB962C8B-B14F-4D97-AF65-F5344CB8AC3E}">
        <p14:creationId xmlns:p14="http://schemas.microsoft.com/office/powerpoint/2010/main" val="178242460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24392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f40a9b142f4b09">
            <a:extLst>
              <a:ext uri="{96DAC541-7B7A-43D3-8B79-37D633B846F1}">
                <asvg:svgBlip xmlns:asvg="http://schemas.microsoft.com/office/drawing/2016/SVG/main" r:embed="R9a9fdb9879cf4c0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201400" y="333375"/>
            <a:ext cx="381000" cy="381000"/>
          </a:xfrm>
          <a:prstGeom xmlns:a="http://schemas.openxmlformats.org/drawingml/2006/main" prst="rect">
            <a:avLst/>
          </a:prstGeom>
        </p:spPr>
      </p:pic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0C6BDB77-89D7-4F8B-986D-6EA8D7C9A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DCEDA6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DCEDA6"/>
                </a:solidFill>
                <a:latin typeface="Arial"/>
                <a:ea typeface="Arial"/>
                <a:cs typeface="Arial"/>
              </a:rPr>
              <a:t>A BOUNDED NEXT STEP</a:t>
            </a:r>
          </a:p>
        </p:txBody>
      </p:sp>
      <p:sp>
        <p:nvSpPr>
          <p:cNvPr id="3" name="takeaway">
            <a:extLst xmlns:a="http://schemas.openxmlformats.org/drawingml/2006/main">
              <a:ext uri="{FF2B5EF4-FFF2-40B4-BE49-F238E27FC236}">
                <a16:creationId xmlns:a16="http://schemas.microsoft.com/office/drawing/2014/main" id="{0DE03F2D-D3C3-4F72-8B8E-1AFD840E1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9650"/>
            <a:ext cx="109728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FAFBF6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AFBF6"/>
                </a:solidFill>
                <a:latin typeface="Arial"/>
                <a:ea typeface="Arial"/>
                <a:cs typeface="Arial"/>
              </a:rPr>
              <a:t>Name one workflow worth governing.</a:t>
            </a:r>
          </a:p>
        </p:txBody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26102BAB-CDA1-4407-91CC-62B4AB07C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DCE6D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DCE6D5"/>
                </a:solidFill>
                <a:latin typeface="Arial"/>
                <a:ea typeface="Arial"/>
                <a:cs typeface="Arial"/>
              </a:rPr>
              <a:t>HORMUZ  /  A product of Neuralint  /  Mehrdad Zaker  /  September 2026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C7FDC17-85BC-433E-BC74-C6766101B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400800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DCE6D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DCE6D5"/>
                </a:solidFill>
                <a:latin typeface="Arial"/>
                <a:ea typeface="Arial"/>
                <a:cs typeface="Arial"/>
              </a:rPr>
              <a:t>07 / 07</a:t>
            </a:r>
          </a:p>
        </p:txBody>
      </p:sp>
      <p:sp>
        <p:nvSpPr>
          <p:cNvPr id="6" name="next-step">
            <a:extLst xmlns:a="http://schemas.openxmlformats.org/drawingml/2006/main">
              <a:ext uri="{FF2B5EF4-FFF2-40B4-BE49-F238E27FC236}">
                <a16:creationId xmlns:a16="http://schemas.microsoft.com/office/drawing/2014/main" id="{10909061-CA1A-4F63-9A1E-84CDDFC10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10858500" cy="1885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300" b="0">
                <a:solidFill>
                  <a:srgbClr val="FAFBF6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FAFBF6"/>
                </a:solidFill>
                <a:latin typeface="Arial"/>
                <a:ea typeface="Arial"/>
                <a:cs typeface="Arial"/>
              </a:rPr>
              <a:t>Which client? Which team?</a:t>
            </a:r>
          </a:p>
          <a:p xmlns:a="http://schemas.openxmlformats.org/drawingml/2006/main">
            <a:pPr>
              <a:defRPr sz="3300" b="0">
                <a:solidFill>
                  <a:srgbClr val="FAFBF6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FAFBF6"/>
                </a:solidFill>
                <a:latin typeface="Arial"/>
                <a:ea typeface="Arial"/>
                <a:cs typeface="Arial"/>
              </a:rPr>
              <a:t>Which control is missing?</a:t>
            </a:r>
          </a:p>
          <a:p xmlns:a="http://schemas.openxmlformats.org/drawingml/2006/main">
            <a:pPr>
              <a:defRPr sz="3300" b="0">
                <a:solidFill>
                  <a:srgbClr val="FAFBF6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FAFBF6"/>
                </a:solidFill>
                <a:latin typeface="Arial"/>
                <a:ea typeface="Arial"/>
                <a:cs typeface="Arial"/>
              </a:rPr>
              <a:t>Who operates the route?</a:t>
            </a:r>
          </a:p>
        </p:txBody>
      </p:sp>
      <p:sp>
        <p:nvSpPr>
          <p:cNvPr id="7" name="contact">
            <a:extLst xmlns:a="http://schemas.openxmlformats.org/drawingml/2006/main">
              <a:ext uri="{FF2B5EF4-FFF2-40B4-BE49-F238E27FC236}">
                <a16:creationId xmlns:a16="http://schemas.microsoft.com/office/drawing/2014/main" id="{384C3FA3-FA33-45C3-BF06-A135FF127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10858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DCEDA6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DCEDA6"/>
                </a:solidFill>
                <a:latin typeface="Arial"/>
                <a:ea typeface="Arial"/>
                <a:cs typeface="Arial"/>
              </a:rPr>
              <a:t>Mehrdad Zaker</a:t>
            </a:r>
          </a:p>
          <a:p xmlns:a="http://schemas.openxmlformats.org/drawingml/2006/main">
            <a:pPr>
              <a:defRPr sz="2325" b="1">
                <a:solidFill>
                  <a:srgbClr val="DCEDA6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DCEDA6"/>
                </a:solidFill>
                <a:latin typeface="Arial"/>
                <a:ea typeface="Arial"/>
                <a:cs typeface="Arial"/>
              </a:rPr>
              <a:t>mehrdadz@neuralint.io</a:t>
            </a:r>
          </a:p>
        </p:txBody>
      </p:sp>
      <p:sp>
        <p:nvSpPr>
          <p:cNvPr id="8" name="website">
            <a:extLst xmlns:a="http://schemas.openxmlformats.org/drawingml/2006/main">
              <a:ext uri="{FF2B5EF4-FFF2-40B4-BE49-F238E27FC236}">
                <a16:creationId xmlns:a16="http://schemas.microsoft.com/office/drawing/2014/main" id="{750F37F2-B9B4-44E6-A5F9-A2DE77888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38825"/>
            <a:ext cx="1085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D9E1D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D9E1DF"/>
                </a:solidFill>
                <a:latin typeface="Arial"/>
                <a:ea typeface="Arial"/>
                <a:cs typeface="Arial"/>
              </a:rPr>
              <a:t>usehormuz.github.io</a:t>
            </a:r>
          </a:p>
        </p:txBody>
      </p:sp>
    </p:spTree>
    <p:extLst>
      <p:ext uri="{BB962C8B-B14F-4D97-AF65-F5344CB8AC3E}">
        <p14:creationId xmlns:p14="http://schemas.microsoft.com/office/powerpoint/2010/main" val="115431188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2026-09-06T21:53:48.6070000Z</dcterms:created>
  <dcterms:modified xsi:type="dcterms:W3CDTF">2026-09-06T21:53:48.6070000Z</dcterms:modified>
</coreProperties>
</file>